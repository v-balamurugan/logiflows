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Opening: Logiflow is an intelligent, end-to-end logistics coordination and delivery management platform. One parcel identity, many partner companies, one connected customer experience.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Roadmap of the presentation — problem, solution, experience, intelligence, platform, value.</a:t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Set up the problem before showing the solution.</a:t>
            </a:r>
            <a:endParaRPr/>
          </a:p>
        </p:txBody>
      </p:sp>
      <p:sp>
        <p:nvSpPr>
          <p:cNvPr id="72" name="Google Shape;7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is the core problem statement carried over from the project document, stated in business terms.</a:t>
            </a:r>
            <a:endParaRPr/>
          </a:p>
        </p:txBody>
      </p:sp>
      <p:sp>
        <p:nvSpPr>
          <p:cNvPr id="83" name="Google Shape;8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Three lenses on the same problem: operations, customer, and the coordination gap between companies.</a:t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Key idea: shared parcel identity across independent companies. The customer sees one delivery, not three companies.</a:t>
            </a:r>
            <a:endParaRPr/>
          </a:p>
        </p:txBody>
      </p:sp>
      <p:sp>
        <p:nvSpPr>
          <p:cNvPr id="131" name="Google Shape;1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Seven stages, four things that happen at every handoff. This is the backbone of the data model.</a:t>
            </a:r>
            <a:endParaRPr/>
          </a:p>
        </p:txBody>
      </p:sp>
      <p:sp>
        <p:nvSpPr>
          <p:cNvPr id="164" name="Google Shape;16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customer never has to know which company holds the parcel — the timeline is continuous.</a:t>
            </a:r>
            <a:endParaRPr/>
          </a:p>
        </p:txBody>
      </p:sp>
      <p:sp>
        <p:nvSpPr>
          <p:cNvPr id="217" name="Google Shape;21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field app is deliberately simple: what to do next, where, and proof that it was done.</a:t>
            </a:r>
            <a:endParaRPr/>
          </a:p>
        </p:txBody>
      </p:sp>
      <p:sp>
        <p:nvSpPr>
          <p:cNvPr id="257" name="Google Shape;2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Important for partner adoption: joining the network does not mean giving up control of your own company data.</a:t>
            </a:r>
            <a:endParaRPr/>
          </a:p>
        </p:txBody>
      </p:sp>
      <p:sp>
        <p:nvSpPr>
          <p:cNvPr id="290" name="Google Shape;29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Stress that this is constraint-based planning, not a naive nearest-stop heuristic.</a:t>
            </a:r>
            <a:endParaRPr/>
          </a:p>
        </p:txBody>
      </p:sp>
      <p:sp>
        <p:nvSpPr>
          <p:cNvPr id="360" name="Google Shape;36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 explicit that the model advises. The admin decides and the decision is logged.</a:t>
            </a:r>
            <a:endParaRPr/>
          </a:p>
        </p:txBody>
      </p:sp>
      <p:sp>
        <p:nvSpPr>
          <p:cNvPr id="433" name="Google Shape;43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4" name="Google Shape;48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Every layer is replaceable. The routing provider and the email provider are integrations, not dependencies baked into the core.</a:t>
            </a:r>
            <a:endParaRPr/>
          </a:p>
        </p:txBody>
      </p:sp>
      <p:sp>
        <p:nvSpPr>
          <p:cNvPr id="496" name="Google Shape;49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1" name="Google Shape;531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4" name="Google Shape;55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7" name="Google Shape;60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phase is independently demonstrable, so progress is visible and risk stays low.</a:t>
            </a:r>
            <a:endParaRPr/>
          </a:p>
        </p:txBody>
      </p:sp>
      <p:sp>
        <p:nvSpPr>
          <p:cNvPr id="608" name="Google Shape;60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7" name="Google Shape;637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 the argument: valuable, complete, intelligent, network-ready, buildable and measurable.</a:t>
            </a:r>
            <a:endParaRPr/>
          </a:p>
        </p:txBody>
      </p:sp>
      <p:sp>
        <p:nvSpPr>
          <p:cNvPr id="658" name="Google Shape;658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2" name="Google Shape;692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Close, restate the single sentence value proposition, and open the floor.</a:t>
            </a:r>
            <a:endParaRPr/>
          </a:p>
        </p:txBody>
      </p:sp>
      <p:sp>
        <p:nvSpPr>
          <p:cNvPr id="693" name="Google Shape;693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31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/>
        </p:nvSpPr>
        <p:spPr>
          <a:xfrm>
            <a:off x="777240" y="105156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CLIENT SOLUTION PROPOSAL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731520" y="1463040"/>
            <a:ext cx="67665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Arial"/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LOGIFLOWS</a:t>
            </a:r>
            <a:endParaRPr b="0" i="0" sz="6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/>
        </p:nvSpPr>
        <p:spPr>
          <a:xfrm>
            <a:off x="777240" y="2542032"/>
            <a:ext cx="65836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Intelligent End-to-End Logistics Coordination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and Delivery Management System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 txBox="1"/>
          <p:nvPr/>
        </p:nvSpPr>
        <p:spPr>
          <a:xfrm>
            <a:off x="777240" y="3520440"/>
            <a:ext cx="6583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connected journey. Many logistics partners.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777240" y="4069080"/>
            <a:ext cx="63093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A unified web and Android platform for parcel booking, partner coordination, intelligent assignment, route optimization, delay-risk prediction, real-time tracking and automated communication.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503920" y="1371600"/>
            <a:ext cx="2834640" cy="475488"/>
          </a:xfrm>
          <a:prstGeom prst="roundRect">
            <a:avLst>
              <a:gd fmla="val 19231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/>
        </p:nvSpPr>
        <p:spPr>
          <a:xfrm>
            <a:off x="8503920" y="1371600"/>
            <a:ext cx="2834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3"/>
          <p:cNvCxnSpPr/>
          <p:nvPr/>
        </p:nvCxnSpPr>
        <p:spPr>
          <a:xfrm>
            <a:off x="9921240" y="1901952"/>
            <a:ext cx="0" cy="512064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3"/>
          <p:cNvSpPr/>
          <p:nvPr/>
        </p:nvSpPr>
        <p:spPr>
          <a:xfrm>
            <a:off x="8503920" y="2468880"/>
            <a:ext cx="2834640" cy="658368"/>
          </a:xfrm>
          <a:prstGeom prst="roundRect">
            <a:avLst>
              <a:gd fmla="val 13889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 txBox="1"/>
          <p:nvPr/>
        </p:nvSpPr>
        <p:spPr>
          <a:xfrm>
            <a:off x="8503920" y="2468880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LOGIFLOW  ORCHESTRATION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9921240" y="3182112"/>
            <a:ext cx="0" cy="512064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3"/>
          <p:cNvSpPr/>
          <p:nvPr/>
        </p:nvSpPr>
        <p:spPr>
          <a:xfrm>
            <a:off x="8503920" y="3749040"/>
            <a:ext cx="2834640" cy="475488"/>
          </a:xfrm>
          <a:prstGeom prst="roundRect">
            <a:avLst>
              <a:gd fmla="val 19231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 txBox="1"/>
          <p:nvPr/>
        </p:nvSpPr>
        <p:spPr>
          <a:xfrm>
            <a:off x="8503920" y="3749040"/>
            <a:ext cx="2834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Partner network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3"/>
          <p:cNvCxnSpPr/>
          <p:nvPr/>
        </p:nvCxnSpPr>
        <p:spPr>
          <a:xfrm>
            <a:off x="9921240" y="4279392"/>
            <a:ext cx="0" cy="512064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3"/>
          <p:cNvSpPr/>
          <p:nvPr/>
        </p:nvSpPr>
        <p:spPr>
          <a:xfrm>
            <a:off x="8503920" y="4846320"/>
            <a:ext cx="2834640" cy="475488"/>
          </a:xfrm>
          <a:prstGeom prst="roundRect">
            <a:avLst>
              <a:gd fmla="val 19231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 txBox="1"/>
          <p:nvPr/>
        </p:nvSpPr>
        <p:spPr>
          <a:xfrm>
            <a:off x="8503920" y="4846320"/>
            <a:ext cx="2834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Receiver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LOGIFLOW</a:t>
            </a:r>
            <a:r>
              <a:rPr lang="en-US" sz="900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1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31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we'll cover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From the operational problem to the platform, the intelligence and the business case.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48640" y="1572768"/>
            <a:ext cx="5394960" cy="1298448"/>
          </a:xfrm>
          <a:prstGeom prst="roundRect">
            <a:avLst>
              <a:gd fmla="val 4930" name="adj"/>
            </a:avLst>
          </a:prstGeom>
          <a:solidFill>
            <a:srgbClr val="112A40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 txBox="1"/>
          <p:nvPr/>
        </p:nvSpPr>
        <p:spPr>
          <a:xfrm>
            <a:off x="841248" y="181051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 txBox="1"/>
          <p:nvPr/>
        </p:nvSpPr>
        <p:spPr>
          <a:xfrm>
            <a:off x="1536192" y="1792224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 txBox="1"/>
          <p:nvPr/>
        </p:nvSpPr>
        <p:spPr>
          <a:xfrm>
            <a:off x="1536192" y="219456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Where parcel operations break down today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6245352" y="1572768"/>
            <a:ext cx="5394960" cy="1298448"/>
          </a:xfrm>
          <a:prstGeom prst="roundRect">
            <a:avLst>
              <a:gd fmla="val 4930" name="adj"/>
            </a:avLst>
          </a:prstGeom>
          <a:solidFill>
            <a:srgbClr val="112A40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 txBox="1"/>
          <p:nvPr/>
        </p:nvSpPr>
        <p:spPr>
          <a:xfrm>
            <a:off x="6537960" y="1810512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 txBox="1"/>
          <p:nvPr/>
        </p:nvSpPr>
        <p:spPr>
          <a:xfrm>
            <a:off x="7232904" y="1792224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 txBox="1"/>
          <p:nvPr/>
        </p:nvSpPr>
        <p:spPr>
          <a:xfrm>
            <a:off x="7232904" y="219456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A unified multi-partner orchestration layer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3108960"/>
            <a:ext cx="5394960" cy="1298448"/>
          </a:xfrm>
          <a:prstGeom prst="roundRect">
            <a:avLst>
              <a:gd fmla="val 4930" name="adj"/>
            </a:avLst>
          </a:prstGeom>
          <a:solidFill>
            <a:srgbClr val="112A40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841248" y="334670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1536192" y="332841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experience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1536192" y="3730752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Customer, employee and admin journeys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245352" y="3108960"/>
            <a:ext cx="5394960" cy="1298448"/>
          </a:xfrm>
          <a:prstGeom prst="roundRect">
            <a:avLst>
              <a:gd fmla="val 4930" name="adj"/>
            </a:avLst>
          </a:prstGeom>
          <a:solidFill>
            <a:srgbClr val="112A40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6537960" y="3346704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232904" y="3328416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intelligence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232904" y="3730752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Routing, prioritization and delay-risk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48640" y="4645152"/>
            <a:ext cx="5394960" cy="1298448"/>
          </a:xfrm>
          <a:prstGeom prst="roundRect">
            <a:avLst>
              <a:gd fmla="val 4930" name="adj"/>
            </a:avLst>
          </a:prstGeom>
          <a:solidFill>
            <a:srgbClr val="112A40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 txBox="1"/>
          <p:nvPr/>
        </p:nvSpPr>
        <p:spPr>
          <a:xfrm>
            <a:off x="841248" y="488289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1536192" y="48646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platform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1536192" y="5266944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Architecture, security and governance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6245352" y="4645152"/>
            <a:ext cx="5394960" cy="1298448"/>
          </a:xfrm>
          <a:prstGeom prst="roundRect">
            <a:avLst>
              <a:gd fmla="val 4930" name="adj"/>
            </a:avLst>
          </a:prstGeom>
          <a:solidFill>
            <a:srgbClr val="112A40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4"/>
          <p:cNvSpPr txBox="1"/>
          <p:nvPr/>
        </p:nvSpPr>
        <p:spPr>
          <a:xfrm>
            <a:off x="6537960" y="4882896"/>
            <a:ext cx="6400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232904" y="4864608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value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232904" y="5266944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Impact, roadmap and success measures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LOGIFLOW</a:t>
            </a:r>
            <a:r>
              <a:rPr lang="en-US" sz="900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2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31F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 txBox="1"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64F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16364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777240" y="2697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THE CHALLENGE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731520" y="3054096"/>
            <a:ext cx="10058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Fragmented operations,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broken visibility.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 txBox="1"/>
          <p:nvPr/>
        </p:nvSpPr>
        <p:spPr>
          <a:xfrm>
            <a:off x="777240" y="457200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A parcel crosses many hands, many systems and often many companies — but no single platform holds the whole journey together.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LOGIFLOW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3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31F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Why the current parcel delivery process needs an integrated platform.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 txBox="1"/>
          <p:nvPr/>
        </p:nvSpPr>
        <p:spPr>
          <a:xfrm>
            <a:off x="548640" y="1600200"/>
            <a:ext cx="585216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In the current postal and courier delivery process, a parcel passes through multiple stages — booking, pickup, branch transfer, employee assignment and final delivery. Managing these activities efficiently becomes difficult when there are multiple parcels, branches and delivery assignments.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 txBox="1"/>
          <p:nvPr/>
        </p:nvSpPr>
        <p:spPr>
          <a:xfrm>
            <a:off x="548640" y="3017520"/>
            <a:ext cx="58521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Manual employee assignment, route selection, parcel prioritization, branch coordination and the lack of timely notifications lead to inefficient resource usage and delays in delivery.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48640" y="4069080"/>
            <a:ext cx="5852160" cy="1783080"/>
          </a:xfrm>
          <a:prstGeom prst="roundRect">
            <a:avLst>
              <a:gd fmla="val 3590" name="adj"/>
            </a:avLst>
          </a:prstGeom>
          <a:solidFill>
            <a:srgbClr val="0C2135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 txBox="1"/>
          <p:nvPr/>
        </p:nvSpPr>
        <p:spPr>
          <a:xfrm>
            <a:off x="841248" y="4279392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The need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841248" y="4590288"/>
            <a:ext cx="5303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smart and integrated parcel delivery management system that manages the complete delivery process on a single platform — intelligent employee assignment, route optimization, parcel prioritization, delay-risk prediction, real-time tracking, branch management and automated notifications.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oblem_art.jpg"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49440" y="1600200"/>
            <a:ext cx="4480560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6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4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The problem we are solving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Fragmented logistics operations create friction across the entire parcel journey.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548640" y="1536192"/>
            <a:ext cx="3429000" cy="388620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 txBox="1"/>
          <p:nvPr/>
        </p:nvSpPr>
        <p:spPr>
          <a:xfrm>
            <a:off x="822960" y="1810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Today's challenges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 txBox="1"/>
          <p:nvPr/>
        </p:nvSpPr>
        <p:spPr>
          <a:xfrm>
            <a:off x="822960" y="2286000"/>
            <a:ext cx="28803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Multiple branches, employees and vehicles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9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Manual assignment and coordination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9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Different courier partners use different workflows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9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Limited visibility across handoffs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9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Route and capacity decisions are hard at scale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4379976" y="1536192"/>
            <a:ext cx="3429000" cy="388620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 txBox="1"/>
          <p:nvPr/>
        </p:nvSpPr>
        <p:spPr>
          <a:xfrm>
            <a:off x="4654296" y="1810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Customer pain points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 txBox="1"/>
          <p:nvPr/>
        </p:nvSpPr>
        <p:spPr>
          <a:xfrm>
            <a:off x="4654296" y="2286000"/>
            <a:ext cx="28803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Unclear parcel status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9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Too many disconnected updates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9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Delayed notifications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9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Difficult tracking across partners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9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No single view of the journey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8211312" y="1536192"/>
            <a:ext cx="3429000" cy="388620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 txBox="1"/>
          <p:nvPr/>
        </p:nvSpPr>
        <p:spPr>
          <a:xfrm>
            <a:off x="8485632" y="1810512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Operational gap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 txBox="1"/>
          <p:nvPr/>
        </p:nvSpPr>
        <p:spPr>
          <a:xfrm>
            <a:off x="8485632" y="2286000"/>
            <a:ext cx="288036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No shared parcel identity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9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Partner-to-partner handoffs are fragmented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9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Manual intervention for exceptions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9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Data is not coordinated in one platform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9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Optimization opportunities are missed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5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31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"/>
          <p:cNvSpPr txBox="1"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64F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16364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 txBox="1"/>
          <p:nvPr/>
        </p:nvSpPr>
        <p:spPr>
          <a:xfrm>
            <a:off x="777240" y="2697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THE SOLUTION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 txBox="1"/>
          <p:nvPr/>
        </p:nvSpPr>
        <p:spPr>
          <a:xfrm>
            <a:off x="731520" y="3054096"/>
            <a:ext cx="10058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orchestration layer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 many partners.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 txBox="1"/>
          <p:nvPr/>
        </p:nvSpPr>
        <p:spPr>
          <a:xfrm>
            <a:off x="777240" y="457200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Independent courier companies keep their own operations — Logiflow connects them into a single parcel lifecycle with one tracking identity.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6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9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Our proposed solution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 multi-tenant logistics orchestration layer connecting independent courier partners.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548640" y="1572768"/>
            <a:ext cx="5212080" cy="3977640"/>
          </a:xfrm>
          <a:prstGeom prst="roundRect">
            <a:avLst>
              <a:gd fmla="val 1609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9"/>
          <p:cNvSpPr txBox="1"/>
          <p:nvPr/>
        </p:nvSpPr>
        <p:spPr>
          <a:xfrm>
            <a:off x="841248" y="184708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LOGIFLOWS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 txBox="1"/>
          <p:nvPr/>
        </p:nvSpPr>
        <p:spPr>
          <a:xfrm>
            <a:off x="841248" y="2212848"/>
            <a:ext cx="461772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Different companies can handle different legs of a parcel journey — while the customer experiences one connected delivery.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841248" y="3767328"/>
            <a:ext cx="461772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One parcel, one identity, one timeline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50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Partners retain their own branches, staff and vehicles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50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Handoffs are recorded, not re-keyed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50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Every event is shared with the right role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6263640" y="1874520"/>
            <a:ext cx="1691640" cy="457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"/>
          <p:cNvSpPr txBox="1"/>
          <p:nvPr/>
        </p:nvSpPr>
        <p:spPr>
          <a:xfrm>
            <a:off x="6263640" y="187452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6263640" y="4526280"/>
            <a:ext cx="1691640" cy="457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9"/>
          <p:cNvSpPr txBox="1"/>
          <p:nvPr/>
        </p:nvSpPr>
        <p:spPr>
          <a:xfrm>
            <a:off x="6263640" y="4526280"/>
            <a:ext cx="1691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Receiver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8275320" y="2971800"/>
            <a:ext cx="1828800" cy="914400"/>
          </a:xfrm>
          <a:prstGeom prst="roundRect">
            <a:avLst>
              <a:gd fmla="val 10000" name="adj"/>
            </a:avLst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/>
        </p:nvSpPr>
        <p:spPr>
          <a:xfrm>
            <a:off x="8275320" y="29718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LOGIFLOWS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UNIFIED PARCEL 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/>
          <p:nvPr/>
        </p:nvSpPr>
        <p:spPr>
          <a:xfrm>
            <a:off x="10424160" y="1874520"/>
            <a:ext cx="1600200" cy="457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"/>
          <p:cNvSpPr txBox="1"/>
          <p:nvPr/>
        </p:nvSpPr>
        <p:spPr>
          <a:xfrm>
            <a:off x="10424160" y="1874520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Partner 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/>
          <p:nvPr/>
        </p:nvSpPr>
        <p:spPr>
          <a:xfrm>
            <a:off x="10424160" y="3081528"/>
            <a:ext cx="1600200" cy="457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"/>
          <p:cNvSpPr txBox="1"/>
          <p:nvPr/>
        </p:nvSpPr>
        <p:spPr>
          <a:xfrm>
            <a:off x="10424160" y="3081528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Partner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10424160" y="4288536"/>
            <a:ext cx="1600200" cy="457200"/>
          </a:xfrm>
          <a:prstGeom prst="roundRect">
            <a:avLst>
              <a:gd fmla="val 20000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"/>
          <p:cNvSpPr txBox="1"/>
          <p:nvPr/>
        </p:nvSpPr>
        <p:spPr>
          <a:xfrm>
            <a:off x="10424160" y="4288536"/>
            <a:ext cx="160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Partner 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3" name="Google Shape;153;p9"/>
          <p:cNvCxnSpPr/>
          <p:nvPr/>
        </p:nvCxnSpPr>
        <p:spPr>
          <a:xfrm>
            <a:off x="7955280" y="210312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9"/>
          <p:cNvCxnSpPr/>
          <p:nvPr/>
        </p:nvCxnSpPr>
        <p:spPr>
          <a:xfrm>
            <a:off x="7955280" y="475488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9"/>
          <p:cNvCxnSpPr/>
          <p:nvPr/>
        </p:nvCxnSpPr>
        <p:spPr>
          <a:xfrm>
            <a:off x="8275320" y="2103120"/>
            <a:ext cx="0" cy="86868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9"/>
          <p:cNvCxnSpPr/>
          <p:nvPr/>
        </p:nvCxnSpPr>
        <p:spPr>
          <a:xfrm>
            <a:off x="8275320" y="3886200"/>
            <a:ext cx="0" cy="86868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9"/>
          <p:cNvCxnSpPr/>
          <p:nvPr/>
        </p:nvCxnSpPr>
        <p:spPr>
          <a:xfrm>
            <a:off x="10104120" y="3429000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9"/>
          <p:cNvCxnSpPr/>
          <p:nvPr/>
        </p:nvCxnSpPr>
        <p:spPr>
          <a:xfrm>
            <a:off x="10424160" y="2103120"/>
            <a:ext cx="0" cy="260604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9" name="Google Shape;159;p9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7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0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0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End-to-end parcel journey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One lifecycle from booking to proof of delivery.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548640" y="1691640"/>
            <a:ext cx="146304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548640" y="1691640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10"/>
          <p:cNvCxnSpPr/>
          <p:nvPr/>
        </p:nvCxnSpPr>
        <p:spPr>
          <a:xfrm>
            <a:off x="2029968" y="2020824"/>
            <a:ext cx="100584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10"/>
          <p:cNvSpPr/>
          <p:nvPr/>
        </p:nvSpPr>
        <p:spPr>
          <a:xfrm>
            <a:off x="2135124" y="1691640"/>
            <a:ext cx="146304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"/>
          <p:cNvSpPr txBox="1"/>
          <p:nvPr/>
        </p:nvSpPr>
        <p:spPr>
          <a:xfrm>
            <a:off x="2135124" y="1691640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PICKUP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5" name="Google Shape;175;p10"/>
          <p:cNvCxnSpPr/>
          <p:nvPr/>
        </p:nvCxnSpPr>
        <p:spPr>
          <a:xfrm>
            <a:off x="3616452" y="2020824"/>
            <a:ext cx="100584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" name="Google Shape;176;p10"/>
          <p:cNvSpPr/>
          <p:nvPr/>
        </p:nvSpPr>
        <p:spPr>
          <a:xfrm>
            <a:off x="3721608" y="1691640"/>
            <a:ext cx="146304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3721608" y="1691640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ORIGIN HUB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0"/>
          <p:cNvCxnSpPr/>
          <p:nvPr/>
        </p:nvCxnSpPr>
        <p:spPr>
          <a:xfrm>
            <a:off x="5202936" y="2020824"/>
            <a:ext cx="100584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10"/>
          <p:cNvSpPr/>
          <p:nvPr/>
        </p:nvSpPr>
        <p:spPr>
          <a:xfrm>
            <a:off x="5308092" y="1691640"/>
            <a:ext cx="146304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 txBox="1"/>
          <p:nvPr/>
        </p:nvSpPr>
        <p:spPr>
          <a:xfrm>
            <a:off x="5308092" y="1691640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VEHICLE + ROUTE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1" name="Google Shape;181;p10"/>
          <p:cNvCxnSpPr/>
          <p:nvPr/>
        </p:nvCxnSpPr>
        <p:spPr>
          <a:xfrm>
            <a:off x="6789420" y="2020824"/>
            <a:ext cx="100584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10"/>
          <p:cNvSpPr/>
          <p:nvPr/>
        </p:nvSpPr>
        <p:spPr>
          <a:xfrm>
            <a:off x="6894576" y="1691640"/>
            <a:ext cx="146304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0"/>
          <p:cNvSpPr txBox="1"/>
          <p:nvPr/>
        </p:nvSpPr>
        <p:spPr>
          <a:xfrm>
            <a:off x="6894576" y="1691640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DESTINATION HUB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4" name="Google Shape;184;p10"/>
          <p:cNvCxnSpPr/>
          <p:nvPr/>
        </p:nvCxnSpPr>
        <p:spPr>
          <a:xfrm>
            <a:off x="8375904" y="2020824"/>
            <a:ext cx="100584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" name="Google Shape;185;p10"/>
          <p:cNvSpPr/>
          <p:nvPr/>
        </p:nvSpPr>
        <p:spPr>
          <a:xfrm>
            <a:off x="8481060" y="1691640"/>
            <a:ext cx="1463040" cy="658368"/>
          </a:xfrm>
          <a:prstGeom prst="roundRect">
            <a:avLst>
              <a:gd fmla="val 13889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 txBox="1"/>
          <p:nvPr/>
        </p:nvSpPr>
        <p:spPr>
          <a:xfrm>
            <a:off x="8481060" y="1691640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LAST MILE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7" name="Google Shape;187;p10"/>
          <p:cNvCxnSpPr/>
          <p:nvPr/>
        </p:nvCxnSpPr>
        <p:spPr>
          <a:xfrm>
            <a:off x="9962388" y="2020824"/>
            <a:ext cx="100584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8" name="Google Shape;188;p10"/>
          <p:cNvSpPr/>
          <p:nvPr/>
        </p:nvSpPr>
        <p:spPr>
          <a:xfrm>
            <a:off x="10067544" y="1691640"/>
            <a:ext cx="1463040" cy="658368"/>
          </a:xfrm>
          <a:prstGeom prst="roundRect">
            <a:avLst>
              <a:gd fmla="val 13889" name="adj"/>
            </a:avLst>
          </a:prstGeom>
          <a:solidFill>
            <a:srgbClr val="EAF4F3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10067544" y="1691640"/>
            <a:ext cx="14630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DELIVERED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548640" y="27889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At every handoff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 txBox="1"/>
          <p:nvPr/>
        </p:nvSpPr>
        <p:spPr>
          <a:xfrm>
            <a:off x="548640" y="309067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Recorded centrally and shared with the right role.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548640" y="3611880"/>
            <a:ext cx="2532888" cy="1965960"/>
          </a:xfrm>
          <a:prstGeom prst="roundRect">
            <a:avLst>
              <a:gd fmla="val 325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804672" y="3858768"/>
            <a:ext cx="365760" cy="365760"/>
          </a:xfrm>
          <a:prstGeom prst="roundRect">
            <a:avLst>
              <a:gd fmla="val 22500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0"/>
          <p:cNvSpPr txBox="1"/>
          <p:nvPr/>
        </p:nvSpPr>
        <p:spPr>
          <a:xfrm>
            <a:off x="804672" y="38587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804672" y="43708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Status update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804672" y="470916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Every stage change is written once and visible everywhere.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/>
          <p:nvPr/>
        </p:nvSpPr>
        <p:spPr>
          <a:xfrm>
            <a:off x="3401568" y="3611880"/>
            <a:ext cx="2532888" cy="1965960"/>
          </a:xfrm>
          <a:prstGeom prst="roundRect">
            <a:avLst>
              <a:gd fmla="val 325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3657600" y="3858768"/>
            <a:ext cx="365760" cy="365760"/>
          </a:xfrm>
          <a:prstGeom prst="roundRect">
            <a:avLst>
              <a:gd fmla="val 22500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0"/>
          <p:cNvSpPr txBox="1"/>
          <p:nvPr/>
        </p:nvSpPr>
        <p:spPr>
          <a:xfrm>
            <a:off x="3657600" y="38587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/>
          <p:nvPr/>
        </p:nvSpPr>
        <p:spPr>
          <a:xfrm>
            <a:off x="3657600" y="43708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Tracking event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 txBox="1"/>
          <p:nvPr/>
        </p:nvSpPr>
        <p:spPr>
          <a:xfrm>
            <a:off x="3657600" y="470916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Location and milestone captured against the parcel ID.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6254496" y="3611880"/>
            <a:ext cx="2532888" cy="1965960"/>
          </a:xfrm>
          <a:prstGeom prst="roundRect">
            <a:avLst>
              <a:gd fmla="val 325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6510528" y="3858768"/>
            <a:ext cx="365760" cy="365760"/>
          </a:xfrm>
          <a:prstGeom prst="roundRect">
            <a:avLst>
              <a:gd fmla="val 22500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 txBox="1"/>
          <p:nvPr/>
        </p:nvSpPr>
        <p:spPr>
          <a:xfrm>
            <a:off x="6510528" y="38587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6510528" y="43708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 txBox="1"/>
          <p:nvPr/>
        </p:nvSpPr>
        <p:spPr>
          <a:xfrm>
            <a:off x="6510528" y="470916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The next employee, branch or partner is allocated.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9107424" y="3611880"/>
            <a:ext cx="2532888" cy="1965960"/>
          </a:xfrm>
          <a:prstGeom prst="roundRect">
            <a:avLst>
              <a:gd fmla="val 325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9363456" y="3858768"/>
            <a:ext cx="365760" cy="365760"/>
          </a:xfrm>
          <a:prstGeom prst="roundRect">
            <a:avLst>
              <a:gd fmla="val 22500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9363456" y="385876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 txBox="1"/>
          <p:nvPr/>
        </p:nvSpPr>
        <p:spPr>
          <a:xfrm>
            <a:off x="9363456" y="437083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Notification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 txBox="1"/>
          <p:nvPr/>
        </p:nvSpPr>
        <p:spPr>
          <a:xfrm>
            <a:off x="9363456" y="470916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The right person is informed — no broadcast noise.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8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Customer experience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One booking. One tracking identity. Clear milestones.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548640" y="1572768"/>
            <a:ext cx="4663440" cy="4251960"/>
          </a:xfrm>
          <a:prstGeom prst="roundRect">
            <a:avLst>
              <a:gd fmla="val 1505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 txBox="1"/>
          <p:nvPr/>
        </p:nvSpPr>
        <p:spPr>
          <a:xfrm>
            <a:off x="822960" y="184708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The customer can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 txBox="1"/>
          <p:nvPr/>
        </p:nvSpPr>
        <p:spPr>
          <a:xfrm>
            <a:off x="822960" y="2359152"/>
            <a:ext cx="41148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Book a parcel in a few steps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10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View booking and receiver details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10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Track the parcel in real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10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View status and delivery progress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10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Receive only the important notifications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10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Access digital delivery confirmation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5577840" y="1572768"/>
            <a:ext cx="6062472" cy="4251960"/>
          </a:xfrm>
          <a:prstGeom prst="roundRect">
            <a:avLst>
              <a:gd fmla="val 1505" name="adj"/>
            </a:avLst>
          </a:prstGeom>
          <a:solidFill>
            <a:srgbClr val="EAF4F3"/>
          </a:solidFill>
          <a:ln cap="flat" cmpd="sng" w="12700">
            <a:solidFill>
              <a:srgbClr val="CBE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 txBox="1"/>
          <p:nvPr/>
        </p:nvSpPr>
        <p:spPr>
          <a:xfrm>
            <a:off x="5897880" y="18288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TRACKING TIMELINE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5989320" y="2350008"/>
            <a:ext cx="182880" cy="182880"/>
          </a:xfrm>
          <a:prstGeom prst="ellipse">
            <a:avLst/>
          </a:prstGeom>
          <a:solidFill>
            <a:srgbClr val="0E9384"/>
          </a:solidFill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9" name="Google Shape;229;p11"/>
          <p:cNvCxnSpPr/>
          <p:nvPr/>
        </p:nvCxnSpPr>
        <p:spPr>
          <a:xfrm>
            <a:off x="6080760" y="2532888"/>
            <a:ext cx="0" cy="246888"/>
          </a:xfrm>
          <a:prstGeom prst="straightConnector1">
            <a:avLst/>
          </a:prstGeom>
          <a:noFill/>
          <a:ln cap="flat" cmpd="sng" w="15225">
            <a:solidFill>
              <a:srgbClr val="A9C6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0" name="Google Shape;230;p11"/>
          <p:cNvSpPr txBox="1"/>
          <p:nvPr/>
        </p:nvSpPr>
        <p:spPr>
          <a:xfrm>
            <a:off x="6355080" y="2286000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293F"/>
                </a:solidFill>
                <a:latin typeface="Calibri"/>
                <a:ea typeface="Calibri"/>
                <a:cs typeface="Calibri"/>
                <a:sym typeface="Calibri"/>
              </a:rPr>
              <a:t>Booking confirmed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5989320" y="2779776"/>
            <a:ext cx="182880" cy="182880"/>
          </a:xfrm>
          <a:prstGeom prst="ellipse">
            <a:avLst/>
          </a:prstGeom>
          <a:solidFill>
            <a:srgbClr val="0E9384"/>
          </a:solidFill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2" name="Google Shape;232;p11"/>
          <p:cNvCxnSpPr/>
          <p:nvPr/>
        </p:nvCxnSpPr>
        <p:spPr>
          <a:xfrm>
            <a:off x="6080760" y="2962656"/>
            <a:ext cx="0" cy="246888"/>
          </a:xfrm>
          <a:prstGeom prst="straightConnector1">
            <a:avLst/>
          </a:prstGeom>
          <a:noFill/>
          <a:ln cap="flat" cmpd="sng" w="15225">
            <a:solidFill>
              <a:srgbClr val="A9C6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11"/>
          <p:cNvSpPr txBox="1"/>
          <p:nvPr/>
        </p:nvSpPr>
        <p:spPr>
          <a:xfrm>
            <a:off x="6355080" y="2715768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293F"/>
                </a:solidFill>
                <a:latin typeface="Calibri"/>
                <a:ea typeface="Calibri"/>
                <a:cs typeface="Calibri"/>
                <a:sym typeface="Calibri"/>
              </a:rPr>
              <a:t>Pickup assigned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5989320" y="3209544"/>
            <a:ext cx="182880" cy="182880"/>
          </a:xfrm>
          <a:prstGeom prst="ellipse">
            <a:avLst/>
          </a:prstGeom>
          <a:solidFill>
            <a:srgbClr val="0E9384"/>
          </a:solidFill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5" name="Google Shape;235;p11"/>
          <p:cNvCxnSpPr/>
          <p:nvPr/>
        </p:nvCxnSpPr>
        <p:spPr>
          <a:xfrm>
            <a:off x="6080760" y="3392424"/>
            <a:ext cx="0" cy="246888"/>
          </a:xfrm>
          <a:prstGeom prst="straightConnector1">
            <a:avLst/>
          </a:prstGeom>
          <a:noFill/>
          <a:ln cap="flat" cmpd="sng" w="15225">
            <a:solidFill>
              <a:srgbClr val="A9C6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6" name="Google Shape;236;p11"/>
          <p:cNvSpPr txBox="1"/>
          <p:nvPr/>
        </p:nvSpPr>
        <p:spPr>
          <a:xfrm>
            <a:off x="6355080" y="3145536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293F"/>
                </a:solidFill>
                <a:latin typeface="Calibri"/>
                <a:ea typeface="Calibri"/>
                <a:cs typeface="Calibri"/>
                <a:sym typeface="Calibri"/>
              </a:rPr>
              <a:t>Picked up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5989320" y="3639312"/>
            <a:ext cx="182880" cy="182880"/>
          </a:xfrm>
          <a:prstGeom prst="ellipse">
            <a:avLst/>
          </a:prstGeom>
          <a:solidFill>
            <a:srgbClr val="0E9384"/>
          </a:solidFill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8" name="Google Shape;238;p11"/>
          <p:cNvCxnSpPr/>
          <p:nvPr/>
        </p:nvCxnSpPr>
        <p:spPr>
          <a:xfrm>
            <a:off x="6080760" y="3822192"/>
            <a:ext cx="0" cy="246888"/>
          </a:xfrm>
          <a:prstGeom prst="straightConnector1">
            <a:avLst/>
          </a:prstGeom>
          <a:noFill/>
          <a:ln cap="flat" cmpd="sng" w="15225">
            <a:solidFill>
              <a:srgbClr val="A9C6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1"/>
          <p:cNvSpPr txBox="1"/>
          <p:nvPr/>
        </p:nvSpPr>
        <p:spPr>
          <a:xfrm>
            <a:off x="6355080" y="3575304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293F"/>
                </a:solidFill>
                <a:latin typeface="Calibri"/>
                <a:ea typeface="Calibri"/>
                <a:cs typeface="Calibri"/>
                <a:sym typeface="Calibri"/>
              </a:rPr>
              <a:t>Origin hub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/>
          <p:nvPr/>
        </p:nvSpPr>
        <p:spPr>
          <a:xfrm>
            <a:off x="5989320" y="4069080"/>
            <a:ext cx="182880" cy="182880"/>
          </a:xfrm>
          <a:prstGeom prst="ellipse">
            <a:avLst/>
          </a:prstGeom>
          <a:solidFill>
            <a:srgbClr val="0E9384"/>
          </a:solidFill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1" name="Google Shape;241;p11"/>
          <p:cNvCxnSpPr/>
          <p:nvPr/>
        </p:nvCxnSpPr>
        <p:spPr>
          <a:xfrm>
            <a:off x="6080760" y="4251960"/>
            <a:ext cx="0" cy="246888"/>
          </a:xfrm>
          <a:prstGeom prst="straightConnector1">
            <a:avLst/>
          </a:prstGeom>
          <a:noFill/>
          <a:ln cap="flat" cmpd="sng" w="15225">
            <a:solidFill>
              <a:srgbClr val="A9C6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1"/>
          <p:cNvSpPr txBox="1"/>
          <p:nvPr/>
        </p:nvSpPr>
        <p:spPr>
          <a:xfrm>
            <a:off x="6355080" y="4005072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0293F"/>
                </a:solidFill>
                <a:latin typeface="Calibri"/>
                <a:ea typeface="Calibri"/>
                <a:cs typeface="Calibri"/>
                <a:sym typeface="Calibri"/>
              </a:rPr>
              <a:t>In transit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1"/>
          <p:cNvSpPr/>
          <p:nvPr/>
        </p:nvSpPr>
        <p:spPr>
          <a:xfrm>
            <a:off x="5989320" y="4498848"/>
            <a:ext cx="182880" cy="1828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A9C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4" name="Google Shape;244;p11"/>
          <p:cNvCxnSpPr/>
          <p:nvPr/>
        </p:nvCxnSpPr>
        <p:spPr>
          <a:xfrm>
            <a:off x="6080760" y="4681728"/>
            <a:ext cx="0" cy="246888"/>
          </a:xfrm>
          <a:prstGeom prst="straightConnector1">
            <a:avLst/>
          </a:prstGeom>
          <a:noFill/>
          <a:ln cap="flat" cmpd="sng" w="15225">
            <a:solidFill>
              <a:srgbClr val="A9C6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11"/>
          <p:cNvSpPr txBox="1"/>
          <p:nvPr/>
        </p:nvSpPr>
        <p:spPr>
          <a:xfrm>
            <a:off x="6355080" y="4434840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Destination hub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5989320" y="4928616"/>
            <a:ext cx="182880" cy="1828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A9C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7" name="Google Shape;247;p11"/>
          <p:cNvCxnSpPr/>
          <p:nvPr/>
        </p:nvCxnSpPr>
        <p:spPr>
          <a:xfrm>
            <a:off x="6080760" y="5111496"/>
            <a:ext cx="0" cy="246888"/>
          </a:xfrm>
          <a:prstGeom prst="straightConnector1">
            <a:avLst/>
          </a:prstGeom>
          <a:noFill/>
          <a:ln cap="flat" cmpd="sng" w="15225">
            <a:solidFill>
              <a:srgbClr val="A9C6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8" name="Google Shape;248;p11"/>
          <p:cNvSpPr txBox="1"/>
          <p:nvPr/>
        </p:nvSpPr>
        <p:spPr>
          <a:xfrm>
            <a:off x="6355080" y="4864608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Out for delivery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1"/>
          <p:cNvSpPr/>
          <p:nvPr/>
        </p:nvSpPr>
        <p:spPr>
          <a:xfrm>
            <a:off x="5989320" y="5358384"/>
            <a:ext cx="182880" cy="18288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A9C6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"/>
          <p:cNvSpPr txBox="1"/>
          <p:nvPr/>
        </p:nvSpPr>
        <p:spPr>
          <a:xfrm>
            <a:off x="6355080" y="5294376"/>
            <a:ext cx="29260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Delivered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1"/>
          <p:cNvSpPr txBox="1"/>
          <p:nvPr/>
        </p:nvSpPr>
        <p:spPr>
          <a:xfrm>
            <a:off x="9418320" y="2331720"/>
            <a:ext cx="196596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Each milestone is written against a single parcel ID, so the story stays the same no matter which partner company is handling that leg.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1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9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2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Pickup &amp; delivery employee app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Assignments are pushed to the right person with clear next actions.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2"/>
          <p:cNvSpPr/>
          <p:nvPr/>
        </p:nvSpPr>
        <p:spPr>
          <a:xfrm>
            <a:off x="548640" y="1691640"/>
            <a:ext cx="210312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2"/>
          <p:cNvSpPr txBox="1"/>
          <p:nvPr/>
        </p:nvSpPr>
        <p:spPr>
          <a:xfrm>
            <a:off x="548640" y="16916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12"/>
          <p:cNvCxnSpPr/>
          <p:nvPr/>
        </p:nvCxnSpPr>
        <p:spPr>
          <a:xfrm>
            <a:off x="2670048" y="2011680"/>
            <a:ext cx="118872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6" name="Google Shape;266;p12"/>
          <p:cNvSpPr/>
          <p:nvPr/>
        </p:nvSpPr>
        <p:spPr>
          <a:xfrm>
            <a:off x="2807208" y="1691640"/>
            <a:ext cx="210312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"/>
          <p:cNvSpPr txBox="1"/>
          <p:nvPr/>
        </p:nvSpPr>
        <p:spPr>
          <a:xfrm>
            <a:off x="2807208" y="16916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Accept / Reject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8" name="Google Shape;268;p12"/>
          <p:cNvCxnSpPr/>
          <p:nvPr/>
        </p:nvCxnSpPr>
        <p:spPr>
          <a:xfrm>
            <a:off x="4928616" y="2011680"/>
            <a:ext cx="118872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12"/>
          <p:cNvSpPr/>
          <p:nvPr/>
        </p:nvSpPr>
        <p:spPr>
          <a:xfrm>
            <a:off x="5065776" y="1691640"/>
            <a:ext cx="210312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"/>
          <p:cNvSpPr txBox="1"/>
          <p:nvPr/>
        </p:nvSpPr>
        <p:spPr>
          <a:xfrm>
            <a:off x="5065776" y="16916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Route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12"/>
          <p:cNvCxnSpPr/>
          <p:nvPr/>
        </p:nvCxnSpPr>
        <p:spPr>
          <a:xfrm>
            <a:off x="7187184" y="2011680"/>
            <a:ext cx="118872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2" name="Google Shape;272;p12"/>
          <p:cNvSpPr/>
          <p:nvPr/>
        </p:nvSpPr>
        <p:spPr>
          <a:xfrm>
            <a:off x="7324344" y="1691640"/>
            <a:ext cx="210312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7324344" y="16916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Pickup / Deliver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12"/>
          <p:cNvCxnSpPr/>
          <p:nvPr/>
        </p:nvCxnSpPr>
        <p:spPr>
          <a:xfrm>
            <a:off x="9445752" y="2011680"/>
            <a:ext cx="118872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5" name="Google Shape;275;p12"/>
          <p:cNvSpPr/>
          <p:nvPr/>
        </p:nvSpPr>
        <p:spPr>
          <a:xfrm>
            <a:off x="9582912" y="1691640"/>
            <a:ext cx="2103120" cy="640080"/>
          </a:xfrm>
          <a:prstGeom prst="roundRect">
            <a:avLst>
              <a:gd fmla="val 1428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"/>
          <p:cNvSpPr txBox="1"/>
          <p:nvPr/>
        </p:nvSpPr>
        <p:spPr>
          <a:xfrm>
            <a:off x="9582912" y="1691640"/>
            <a:ext cx="2103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Proof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548640" y="2697480"/>
            <a:ext cx="5394960" cy="3108960"/>
          </a:xfrm>
          <a:prstGeom prst="roundRect">
            <a:avLst>
              <a:gd fmla="val 2059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"/>
          <p:cNvSpPr/>
          <p:nvPr/>
        </p:nvSpPr>
        <p:spPr>
          <a:xfrm>
            <a:off x="841248" y="2962656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2"/>
          <p:cNvSpPr txBox="1"/>
          <p:nvPr/>
        </p:nvSpPr>
        <p:spPr>
          <a:xfrm>
            <a:off x="1325880" y="296265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The employee gets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868680" y="3566160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Parcel details and receiver information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Exact pickup / delivery location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Priority, deadline and route sequence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Map-based navigation on Android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Digital proof of delivery capture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2"/>
          <p:cNvSpPr/>
          <p:nvPr/>
        </p:nvSpPr>
        <p:spPr>
          <a:xfrm>
            <a:off x="6245352" y="2697480"/>
            <a:ext cx="5394960" cy="3108960"/>
          </a:xfrm>
          <a:prstGeom prst="roundRect">
            <a:avLst>
              <a:gd fmla="val 2059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"/>
          <p:cNvSpPr/>
          <p:nvPr/>
        </p:nvSpPr>
        <p:spPr>
          <a:xfrm>
            <a:off x="6537960" y="2962656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F5A524"/>
          </a:solidFill>
          <a:ln cap="flat" cmpd="sng" w="12700">
            <a:solidFill>
              <a:srgbClr val="F5A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2"/>
          <p:cNvSpPr txBox="1"/>
          <p:nvPr/>
        </p:nvSpPr>
        <p:spPr>
          <a:xfrm>
            <a:off x="7022592" y="2962656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If an assignment is rejected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6565392" y="3566160"/>
            <a:ext cx="4754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Rejection reason is captured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Reassignment is triggered automatically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The relevant admin is notified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An auditable history is preserved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The parcel never loses its timeline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2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10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3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3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Company &amp; branch operations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Each connected courier company keeps full control of its own operations.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548640" y="1554480"/>
            <a:ext cx="3429000" cy="356616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3"/>
          <p:cNvSpPr txBox="1"/>
          <p:nvPr/>
        </p:nvSpPr>
        <p:spPr>
          <a:xfrm>
            <a:off x="822960" y="18105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Company 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3035808" y="1792224"/>
            <a:ext cx="685800" cy="310896"/>
          </a:xfrm>
          <a:prstGeom prst="roundRect">
            <a:avLst>
              <a:gd fmla="val 23529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"/>
          <p:cNvSpPr txBox="1"/>
          <p:nvPr/>
        </p:nvSpPr>
        <p:spPr>
          <a:xfrm>
            <a:off x="3035808" y="1792224"/>
            <a:ext cx="685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822960" y="2377440"/>
            <a:ext cx="28346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Branches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Vehicles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Parcels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Manual override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4379976" y="1554480"/>
            <a:ext cx="3429000" cy="356616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3"/>
          <p:cNvSpPr txBox="1"/>
          <p:nvPr/>
        </p:nvSpPr>
        <p:spPr>
          <a:xfrm>
            <a:off x="4654296" y="18105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Company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6867144" y="1792224"/>
            <a:ext cx="685800" cy="310896"/>
          </a:xfrm>
          <a:prstGeom prst="roundRect">
            <a:avLst>
              <a:gd fmla="val 23529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6867144" y="1792224"/>
            <a:ext cx="685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4654296" y="2377440"/>
            <a:ext cx="28346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Branches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Vehicles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Parcels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Manual override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3"/>
          <p:cNvSpPr/>
          <p:nvPr/>
        </p:nvSpPr>
        <p:spPr>
          <a:xfrm>
            <a:off x="8211312" y="1554480"/>
            <a:ext cx="3429000" cy="356616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3"/>
          <p:cNvSpPr txBox="1"/>
          <p:nvPr/>
        </p:nvSpPr>
        <p:spPr>
          <a:xfrm>
            <a:off x="8485632" y="18105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Company C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/>
          <p:nvPr/>
        </p:nvSpPr>
        <p:spPr>
          <a:xfrm>
            <a:off x="10698480" y="1792224"/>
            <a:ext cx="685800" cy="310896"/>
          </a:xfrm>
          <a:prstGeom prst="roundRect">
            <a:avLst>
              <a:gd fmla="val 23529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"/>
          <p:cNvSpPr txBox="1"/>
          <p:nvPr/>
        </p:nvSpPr>
        <p:spPr>
          <a:xfrm>
            <a:off x="10698480" y="1792224"/>
            <a:ext cx="6858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ADMIN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 txBox="1"/>
          <p:nvPr/>
        </p:nvSpPr>
        <p:spPr>
          <a:xfrm>
            <a:off x="8485632" y="2377440"/>
            <a:ext cx="2834640" cy="2651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Branches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Employees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Vehicles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Parcels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Manual override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/>
          <p:nvPr/>
        </p:nvSpPr>
        <p:spPr>
          <a:xfrm>
            <a:off x="548640" y="5321808"/>
            <a:ext cx="11091672" cy="566928"/>
          </a:xfrm>
          <a:prstGeom prst="roundRect">
            <a:avLst>
              <a:gd fmla="val 11290" name="adj"/>
            </a:avLst>
          </a:prstGeom>
          <a:solidFill>
            <a:srgbClr val="EAF4F3"/>
          </a:solidFill>
          <a:ln cap="flat" cmpd="sng" w="12700">
            <a:solidFill>
              <a:srgbClr val="CBE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3"/>
          <p:cNvSpPr txBox="1"/>
          <p:nvPr/>
        </p:nvSpPr>
        <p:spPr>
          <a:xfrm>
            <a:off x="868680" y="5321808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Multi-tenant design:  a shared platform with isolated company data, scoped permissions and separate operational control for every partner.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11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31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4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unified network across partner companies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The platform orchestrates the handoffs while each company retains operational control.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48640" y="2148840"/>
            <a:ext cx="2002536" cy="1051560"/>
          </a:xfrm>
          <a:prstGeom prst="roundRect">
            <a:avLst>
              <a:gd fmla="val 8696" name="adj"/>
            </a:avLst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4"/>
          <p:cNvSpPr txBox="1"/>
          <p:nvPr/>
        </p:nvSpPr>
        <p:spPr>
          <a:xfrm>
            <a:off x="548640" y="2148840"/>
            <a:ext cx="200253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6" name="Google Shape;326;p14"/>
          <p:cNvCxnSpPr/>
          <p:nvPr/>
        </p:nvCxnSpPr>
        <p:spPr>
          <a:xfrm>
            <a:off x="2569464" y="2679192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7" name="Google Shape;327;p14"/>
          <p:cNvSpPr/>
          <p:nvPr/>
        </p:nvSpPr>
        <p:spPr>
          <a:xfrm>
            <a:off x="2825496" y="2148840"/>
            <a:ext cx="2002536" cy="1051560"/>
          </a:xfrm>
          <a:prstGeom prst="roundRect">
            <a:avLst>
              <a:gd fmla="val 869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"/>
          <p:cNvSpPr txBox="1"/>
          <p:nvPr/>
        </p:nvSpPr>
        <p:spPr>
          <a:xfrm>
            <a:off x="2825496" y="2304288"/>
            <a:ext cx="2002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Partner 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4"/>
          <p:cNvSpPr txBox="1"/>
          <p:nvPr/>
        </p:nvSpPr>
        <p:spPr>
          <a:xfrm>
            <a:off x="2825496" y="2670048"/>
            <a:ext cx="20025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Pickup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0" name="Google Shape;330;p14"/>
          <p:cNvCxnSpPr/>
          <p:nvPr/>
        </p:nvCxnSpPr>
        <p:spPr>
          <a:xfrm>
            <a:off x="4846320" y="2679192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14"/>
          <p:cNvSpPr/>
          <p:nvPr/>
        </p:nvSpPr>
        <p:spPr>
          <a:xfrm>
            <a:off x="5102352" y="2148840"/>
            <a:ext cx="2002536" cy="1051560"/>
          </a:xfrm>
          <a:prstGeom prst="roundRect">
            <a:avLst>
              <a:gd fmla="val 869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4"/>
          <p:cNvSpPr txBox="1"/>
          <p:nvPr/>
        </p:nvSpPr>
        <p:spPr>
          <a:xfrm>
            <a:off x="5102352" y="2304288"/>
            <a:ext cx="2002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Partner B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4"/>
          <p:cNvSpPr txBox="1"/>
          <p:nvPr/>
        </p:nvSpPr>
        <p:spPr>
          <a:xfrm>
            <a:off x="5102352" y="2670048"/>
            <a:ext cx="20025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4" name="Google Shape;334;p14"/>
          <p:cNvCxnSpPr/>
          <p:nvPr/>
        </p:nvCxnSpPr>
        <p:spPr>
          <a:xfrm>
            <a:off x="7123176" y="2679192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14"/>
          <p:cNvSpPr/>
          <p:nvPr/>
        </p:nvSpPr>
        <p:spPr>
          <a:xfrm>
            <a:off x="7379208" y="2148840"/>
            <a:ext cx="2002536" cy="1051560"/>
          </a:xfrm>
          <a:prstGeom prst="roundRect">
            <a:avLst>
              <a:gd fmla="val 869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4"/>
          <p:cNvSpPr txBox="1"/>
          <p:nvPr/>
        </p:nvSpPr>
        <p:spPr>
          <a:xfrm>
            <a:off x="7379208" y="2304288"/>
            <a:ext cx="20025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Partner 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4"/>
          <p:cNvSpPr txBox="1"/>
          <p:nvPr/>
        </p:nvSpPr>
        <p:spPr>
          <a:xfrm>
            <a:off x="7379208" y="2670048"/>
            <a:ext cx="2002536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Destination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14"/>
          <p:cNvCxnSpPr/>
          <p:nvPr/>
        </p:nvCxnSpPr>
        <p:spPr>
          <a:xfrm>
            <a:off x="9400032" y="2679192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4"/>
          <p:cNvSpPr/>
          <p:nvPr/>
        </p:nvSpPr>
        <p:spPr>
          <a:xfrm>
            <a:off x="9656064" y="2148840"/>
            <a:ext cx="2002536" cy="1051560"/>
          </a:xfrm>
          <a:prstGeom prst="roundRect">
            <a:avLst>
              <a:gd fmla="val 8696" name="adj"/>
            </a:avLst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4"/>
          <p:cNvSpPr txBox="1"/>
          <p:nvPr/>
        </p:nvSpPr>
        <p:spPr>
          <a:xfrm>
            <a:off x="9656064" y="2148840"/>
            <a:ext cx="2002536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Receiver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4"/>
          <p:cNvSpPr/>
          <p:nvPr/>
        </p:nvSpPr>
        <p:spPr>
          <a:xfrm>
            <a:off x="1920240" y="3886200"/>
            <a:ext cx="8348472" cy="841248"/>
          </a:xfrm>
          <a:prstGeom prst="roundRect">
            <a:avLst>
              <a:gd fmla="val 7609" name="adj"/>
            </a:avLst>
          </a:prstGeom>
          <a:solidFill>
            <a:srgbClr val="0C2135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4"/>
          <p:cNvSpPr txBox="1"/>
          <p:nvPr/>
        </p:nvSpPr>
        <p:spPr>
          <a:xfrm>
            <a:off x="1920240" y="3886200"/>
            <a:ext cx="8348472" cy="8412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ONE TRACKING ID     •     ONE CUSTOMER VIEW     •     MULTIPLE PARTNER HANDOFFS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4"/>
          <p:cNvSpPr txBox="1"/>
          <p:nvPr/>
        </p:nvSpPr>
        <p:spPr>
          <a:xfrm>
            <a:off x="1920240" y="4937760"/>
            <a:ext cx="834847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Handoff records replace phone calls and spreadsheets. Every transfer of custody is a timestamped event against the same parcel identity, visible to the partner that needs it and to the customer.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LOGIFLOW</a:t>
            </a:r>
            <a:r>
              <a:rPr lang="en-US" sz="900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4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12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31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 txBox="1"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64F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16364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 txBox="1"/>
          <p:nvPr/>
        </p:nvSpPr>
        <p:spPr>
          <a:xfrm>
            <a:off x="777240" y="2697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THE INTELLIGENCE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 txBox="1"/>
          <p:nvPr/>
        </p:nvSpPr>
        <p:spPr>
          <a:xfrm>
            <a:off x="731520" y="3054096"/>
            <a:ext cx="10058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Decisions the system makes,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so people do not have to.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 txBox="1"/>
          <p:nvPr/>
        </p:nvSpPr>
        <p:spPr>
          <a:xfrm>
            <a:off x="777240" y="457200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Assignment, sequencing, prioritization and risk flagging are computed from live operational data — with human override always available.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5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13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6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6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Intelligent vehicle &amp; route optimization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The system plans the whole trip, not just the next parcel.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6"/>
          <p:cNvSpPr txBox="1"/>
          <p:nvPr/>
        </p:nvSpPr>
        <p:spPr>
          <a:xfrm>
            <a:off x="548640" y="1627632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What the optimizer reads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548640" y="2057400"/>
            <a:ext cx="237744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"/>
          <p:cNvSpPr txBox="1"/>
          <p:nvPr/>
        </p:nvSpPr>
        <p:spPr>
          <a:xfrm>
            <a:off x="548640" y="2057400"/>
            <a:ext cx="2377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Destinations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3154680" y="2057400"/>
            <a:ext cx="237744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"/>
          <p:cNvSpPr txBox="1"/>
          <p:nvPr/>
        </p:nvSpPr>
        <p:spPr>
          <a:xfrm>
            <a:off x="3154680" y="2057400"/>
            <a:ext cx="2377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Vehicle capacity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/>
          <p:nvPr/>
        </p:nvSpPr>
        <p:spPr>
          <a:xfrm>
            <a:off x="548640" y="2971800"/>
            <a:ext cx="237744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6"/>
          <p:cNvSpPr txBox="1"/>
          <p:nvPr/>
        </p:nvSpPr>
        <p:spPr>
          <a:xfrm>
            <a:off x="548640" y="2971800"/>
            <a:ext cx="2377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Parcel priority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3154680" y="2971800"/>
            <a:ext cx="237744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 txBox="1"/>
          <p:nvPr/>
        </p:nvSpPr>
        <p:spPr>
          <a:xfrm>
            <a:off x="3154680" y="2971800"/>
            <a:ext cx="2377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Delivery deadlines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548640" y="3886200"/>
            <a:ext cx="237744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6"/>
          <p:cNvSpPr txBox="1"/>
          <p:nvPr/>
        </p:nvSpPr>
        <p:spPr>
          <a:xfrm>
            <a:off x="548640" y="3886200"/>
            <a:ext cx="2377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Current location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3154680" y="3886200"/>
            <a:ext cx="2377440" cy="713232"/>
          </a:xfrm>
          <a:prstGeom prst="roundRect">
            <a:avLst>
              <a:gd fmla="val 12821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6"/>
          <p:cNvSpPr txBox="1"/>
          <p:nvPr/>
        </p:nvSpPr>
        <p:spPr>
          <a:xfrm>
            <a:off x="3154680" y="3886200"/>
            <a:ext cx="23774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Travel time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5669280" y="3017520"/>
            <a:ext cx="502920" cy="4572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D2DE"/>
          </a:solidFill>
          <a:ln cap="flat" cmpd="sng" w="12700">
            <a:solidFill>
              <a:srgbClr val="C3D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6"/>
          <p:cNvSpPr/>
          <p:nvPr/>
        </p:nvSpPr>
        <p:spPr>
          <a:xfrm>
            <a:off x="6400800" y="2057400"/>
            <a:ext cx="5239512" cy="1371600"/>
          </a:xfrm>
          <a:prstGeom prst="roundRect">
            <a:avLst>
              <a:gd fmla="val 4667" name="adj"/>
            </a:avLst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6400800" y="2240280"/>
            <a:ext cx="52395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ROUTE OPTIMIZER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6"/>
          <p:cNvSpPr txBox="1"/>
          <p:nvPr/>
        </p:nvSpPr>
        <p:spPr>
          <a:xfrm>
            <a:off x="6400800" y="2651760"/>
            <a:ext cx="5239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D9F5F1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D9F5F1"/>
                </a:solidFill>
                <a:latin typeface="Calibri"/>
                <a:ea typeface="Calibri"/>
                <a:cs typeface="Calibri"/>
                <a:sym typeface="Calibri"/>
              </a:rPr>
              <a:t>Feasible route  +  parcel sequence  +  vehicle load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6"/>
          <p:cNvSpPr/>
          <p:nvPr/>
        </p:nvSpPr>
        <p:spPr>
          <a:xfrm>
            <a:off x="8778240" y="3520440"/>
            <a:ext cx="457200" cy="4114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3D2DE"/>
          </a:solidFill>
          <a:ln cap="flat" cmpd="sng" w="12700">
            <a:solidFill>
              <a:srgbClr val="C3D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6"/>
          <p:cNvSpPr/>
          <p:nvPr/>
        </p:nvSpPr>
        <p:spPr>
          <a:xfrm>
            <a:off x="6400800" y="4023360"/>
            <a:ext cx="5239512" cy="1207008"/>
          </a:xfrm>
          <a:prstGeom prst="roundRect">
            <a:avLst>
              <a:gd fmla="val 5303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6400800" y="4187952"/>
            <a:ext cx="52395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DISPATCH PLAN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6"/>
          <p:cNvSpPr txBox="1"/>
          <p:nvPr/>
        </p:nvSpPr>
        <p:spPr>
          <a:xfrm>
            <a:off x="6400800" y="4553712"/>
            <a:ext cx="52395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Which vehicle, which parcels, in which order, by when.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548640" y="5440680"/>
            <a:ext cx="11091672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The routing engine can use OpenStreetMap-based road data and a routing service; the optimization layer applies your business constraints on top of it.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6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</a:t>
            </a:r>
            <a:r>
              <a:rPr lang="en-US" sz="900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6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14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9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7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7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7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How a single vehicle handles many destinations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Example: one van, many parcels, different priorities and deadlines.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/>
          <p:nvPr/>
        </p:nvSpPr>
        <p:spPr>
          <a:xfrm>
            <a:off x="548640" y="1691640"/>
            <a:ext cx="200253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7"/>
          <p:cNvSpPr txBox="1"/>
          <p:nvPr/>
        </p:nvSpPr>
        <p:spPr>
          <a:xfrm>
            <a:off x="548640" y="1691640"/>
            <a:ext cx="20025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Aruppukottai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1" name="Google Shape;401;p17"/>
          <p:cNvCxnSpPr/>
          <p:nvPr/>
        </p:nvCxnSpPr>
        <p:spPr>
          <a:xfrm>
            <a:off x="2569464" y="2002536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2" name="Google Shape;402;p17"/>
          <p:cNvSpPr/>
          <p:nvPr/>
        </p:nvSpPr>
        <p:spPr>
          <a:xfrm>
            <a:off x="2825496" y="1691640"/>
            <a:ext cx="200253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7"/>
          <p:cNvSpPr txBox="1"/>
          <p:nvPr/>
        </p:nvSpPr>
        <p:spPr>
          <a:xfrm>
            <a:off x="2825496" y="1691640"/>
            <a:ext cx="20025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Madurai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4" name="Google Shape;404;p17"/>
          <p:cNvCxnSpPr/>
          <p:nvPr/>
        </p:nvCxnSpPr>
        <p:spPr>
          <a:xfrm>
            <a:off x="4846320" y="2002536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5" name="Google Shape;405;p17"/>
          <p:cNvSpPr/>
          <p:nvPr/>
        </p:nvSpPr>
        <p:spPr>
          <a:xfrm>
            <a:off x="5102352" y="1691640"/>
            <a:ext cx="200253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7"/>
          <p:cNvSpPr txBox="1"/>
          <p:nvPr/>
        </p:nvSpPr>
        <p:spPr>
          <a:xfrm>
            <a:off x="5102352" y="1691640"/>
            <a:ext cx="20025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Vellore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7" name="Google Shape;407;p17"/>
          <p:cNvCxnSpPr/>
          <p:nvPr/>
        </p:nvCxnSpPr>
        <p:spPr>
          <a:xfrm>
            <a:off x="7123176" y="2002536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17"/>
          <p:cNvSpPr/>
          <p:nvPr/>
        </p:nvSpPr>
        <p:spPr>
          <a:xfrm>
            <a:off x="7379208" y="1691640"/>
            <a:ext cx="200253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7"/>
          <p:cNvSpPr txBox="1"/>
          <p:nvPr/>
        </p:nvSpPr>
        <p:spPr>
          <a:xfrm>
            <a:off x="7379208" y="1691640"/>
            <a:ext cx="20025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Chennai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0" name="Google Shape;410;p17"/>
          <p:cNvCxnSpPr/>
          <p:nvPr/>
        </p:nvCxnSpPr>
        <p:spPr>
          <a:xfrm>
            <a:off x="9400032" y="2002536"/>
            <a:ext cx="237744" cy="0"/>
          </a:xfrm>
          <a:prstGeom prst="straightConnector1">
            <a:avLst/>
          </a:prstGeom>
          <a:noFill/>
          <a:ln cap="flat" cmpd="sng" w="19050">
            <a:solidFill>
              <a:srgbClr val="B6C6D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1" name="Google Shape;411;p17"/>
          <p:cNvSpPr/>
          <p:nvPr/>
        </p:nvSpPr>
        <p:spPr>
          <a:xfrm>
            <a:off x="9656064" y="1691640"/>
            <a:ext cx="2002536" cy="621792"/>
          </a:xfrm>
          <a:prstGeom prst="roundRect">
            <a:avLst>
              <a:gd fmla="val 14706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7"/>
          <p:cNvSpPr txBox="1"/>
          <p:nvPr/>
        </p:nvSpPr>
        <p:spPr>
          <a:xfrm>
            <a:off x="9656064" y="1691640"/>
            <a:ext cx="200253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Chengalpattu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548640" y="2743200"/>
            <a:ext cx="6675120" cy="3063240"/>
          </a:xfrm>
          <a:prstGeom prst="roundRect">
            <a:avLst>
              <a:gd fmla="val 2090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7"/>
          <p:cNvSpPr txBox="1"/>
          <p:nvPr/>
        </p:nvSpPr>
        <p:spPr>
          <a:xfrm>
            <a:off x="841248" y="30175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Example logic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868680" y="3547872"/>
            <a:ext cx="329184" cy="329184"/>
          </a:xfrm>
          <a:prstGeom prst="ellipse">
            <a:avLst/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7"/>
          <p:cNvSpPr txBox="1"/>
          <p:nvPr/>
        </p:nvSpPr>
        <p:spPr>
          <a:xfrm>
            <a:off x="868680" y="3547872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7"/>
          <p:cNvSpPr txBox="1"/>
          <p:nvPr/>
        </p:nvSpPr>
        <p:spPr>
          <a:xfrm>
            <a:off x="1371600" y="3520440"/>
            <a:ext cx="5577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Group parcels by compatible destination or transport corridor.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7"/>
          <p:cNvSpPr/>
          <p:nvPr/>
        </p:nvSpPr>
        <p:spPr>
          <a:xfrm>
            <a:off x="868680" y="4306824"/>
            <a:ext cx="329184" cy="329184"/>
          </a:xfrm>
          <a:prstGeom prst="ellipse">
            <a:avLst/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7"/>
          <p:cNvSpPr txBox="1"/>
          <p:nvPr/>
        </p:nvSpPr>
        <p:spPr>
          <a:xfrm>
            <a:off x="868680" y="4306824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7"/>
          <p:cNvSpPr txBox="1"/>
          <p:nvPr/>
        </p:nvSpPr>
        <p:spPr>
          <a:xfrm>
            <a:off x="1371600" y="4279392"/>
            <a:ext cx="5577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Check vehicle capacity, delivery deadlines and parcel priority.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7"/>
          <p:cNvSpPr/>
          <p:nvPr/>
        </p:nvSpPr>
        <p:spPr>
          <a:xfrm>
            <a:off x="868680" y="5065776"/>
            <a:ext cx="329184" cy="329184"/>
          </a:xfrm>
          <a:prstGeom prst="ellipse">
            <a:avLst/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7"/>
          <p:cNvSpPr txBox="1"/>
          <p:nvPr/>
        </p:nvSpPr>
        <p:spPr>
          <a:xfrm>
            <a:off x="868680" y="5065776"/>
            <a:ext cx="329184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7"/>
          <p:cNvSpPr txBox="1"/>
          <p:nvPr/>
        </p:nvSpPr>
        <p:spPr>
          <a:xfrm>
            <a:off x="1371600" y="5038344"/>
            <a:ext cx="55778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Generate a feasible stop sequence using real road travel time.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7"/>
          <p:cNvSpPr/>
          <p:nvPr/>
        </p:nvSpPr>
        <p:spPr>
          <a:xfrm>
            <a:off x="7543800" y="2743200"/>
            <a:ext cx="4096512" cy="3063240"/>
          </a:xfrm>
          <a:prstGeom prst="roundRect">
            <a:avLst>
              <a:gd fmla="val 2090" name="adj"/>
            </a:avLst>
          </a:prstGeom>
          <a:solidFill>
            <a:srgbClr val="FFF6E6"/>
          </a:solidFill>
          <a:ln cap="flat" cmpd="sng" w="12700">
            <a:solidFill>
              <a:srgbClr val="F2DC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7"/>
          <p:cNvSpPr/>
          <p:nvPr/>
        </p:nvSpPr>
        <p:spPr>
          <a:xfrm>
            <a:off x="7836408" y="3017520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F5A524"/>
          </a:solidFill>
          <a:ln cap="flat" cmpd="sng" w="12700">
            <a:solidFill>
              <a:srgbClr val="F5A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7"/>
          <p:cNvSpPr txBox="1"/>
          <p:nvPr/>
        </p:nvSpPr>
        <p:spPr>
          <a:xfrm>
            <a:off x="8302752" y="30175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Express parcel rule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7"/>
          <p:cNvSpPr txBox="1"/>
          <p:nvPr/>
        </p:nvSpPr>
        <p:spPr>
          <a:xfrm>
            <a:off x="7836408" y="3611880"/>
            <a:ext cx="35204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An express parcel is treated as a hard constraint, not a preference. Any candidate route that misses its required delivery window is rejected or flagged for an admin decision — so a high-priority shipment can never be quietly absorbed into a slower sequence.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7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7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15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6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0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8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8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Delay-risk prediction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Prediction supports operations; it does not replace human decisions.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548640" y="1600200"/>
            <a:ext cx="3383280" cy="4206240"/>
          </a:xfrm>
          <a:prstGeom prst="roundRect">
            <a:avLst>
              <a:gd fmla="val 1892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8"/>
          <p:cNvSpPr txBox="1"/>
          <p:nvPr/>
        </p:nvSpPr>
        <p:spPr>
          <a:xfrm>
            <a:off x="822960" y="18745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MODEL INPUTS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 txBox="1"/>
          <p:nvPr/>
        </p:nvSpPr>
        <p:spPr>
          <a:xfrm>
            <a:off x="822960" y="2395728"/>
            <a:ext cx="28346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Distance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Historical duration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Service type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Employee workload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Route distance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Previous performance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4114800" y="3474720"/>
            <a:ext cx="411480" cy="38404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D2DE"/>
          </a:solidFill>
          <a:ln cap="flat" cmpd="sng" w="12700">
            <a:solidFill>
              <a:srgbClr val="C3D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8"/>
          <p:cNvSpPr/>
          <p:nvPr/>
        </p:nvSpPr>
        <p:spPr>
          <a:xfrm>
            <a:off x="4709160" y="1600200"/>
            <a:ext cx="2743200" cy="4206240"/>
          </a:xfrm>
          <a:prstGeom prst="roundRect">
            <a:avLst>
              <a:gd fmla="val 2333" name="adj"/>
            </a:avLst>
          </a:prstGeom>
          <a:solidFill>
            <a:srgbClr val="EAF4F3"/>
          </a:solidFill>
          <a:ln cap="flat" cmpd="sng" w="12700">
            <a:solidFill>
              <a:srgbClr val="CBE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8"/>
          <p:cNvSpPr txBox="1"/>
          <p:nvPr/>
        </p:nvSpPr>
        <p:spPr>
          <a:xfrm>
            <a:off x="4709160" y="18745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RISK MODEL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5029200" y="2514600"/>
            <a:ext cx="2103120" cy="749808"/>
          </a:xfrm>
          <a:prstGeom prst="roundRect">
            <a:avLst>
              <a:gd fmla="val 12195" name="adj"/>
            </a:avLst>
          </a:prstGeom>
          <a:solidFill>
            <a:srgbClr val="E06B5A"/>
          </a:solidFill>
          <a:ln cap="flat" cmpd="sng" w="12700">
            <a:solidFill>
              <a:srgbClr val="E06B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8"/>
          <p:cNvSpPr txBox="1"/>
          <p:nvPr/>
        </p:nvSpPr>
        <p:spPr>
          <a:xfrm>
            <a:off x="5029200" y="2514600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5029200" y="3538728"/>
            <a:ext cx="2103120" cy="749808"/>
          </a:xfrm>
          <a:prstGeom prst="roundRect">
            <a:avLst>
              <a:gd fmla="val 12195" name="adj"/>
            </a:avLst>
          </a:prstGeom>
          <a:solidFill>
            <a:srgbClr val="F5A524"/>
          </a:solidFill>
          <a:ln cap="flat" cmpd="sng" w="12700">
            <a:solidFill>
              <a:srgbClr val="F5A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8"/>
          <p:cNvSpPr txBox="1"/>
          <p:nvPr/>
        </p:nvSpPr>
        <p:spPr>
          <a:xfrm>
            <a:off x="5029200" y="3538728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MEDIUM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5029200" y="4562856"/>
            <a:ext cx="2103120" cy="749808"/>
          </a:xfrm>
          <a:prstGeom prst="roundRect">
            <a:avLst>
              <a:gd fmla="val 12195" name="adj"/>
            </a:avLst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8"/>
          <p:cNvSpPr txBox="1"/>
          <p:nvPr/>
        </p:nvSpPr>
        <p:spPr>
          <a:xfrm>
            <a:off x="5029200" y="4562856"/>
            <a:ext cx="21031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7635240" y="3474720"/>
            <a:ext cx="411480" cy="384048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D2DE"/>
          </a:solidFill>
          <a:ln cap="flat" cmpd="sng" w="12700">
            <a:solidFill>
              <a:srgbClr val="C3D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8"/>
          <p:cNvSpPr/>
          <p:nvPr/>
        </p:nvSpPr>
        <p:spPr>
          <a:xfrm>
            <a:off x="8229600" y="1600200"/>
            <a:ext cx="3410712" cy="4206240"/>
          </a:xfrm>
          <a:prstGeom prst="roundRect">
            <a:avLst>
              <a:gd fmla="val 187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8"/>
          <p:cNvSpPr txBox="1"/>
          <p:nvPr/>
        </p:nvSpPr>
        <p:spPr>
          <a:xfrm>
            <a:off x="8503920" y="18745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Operational response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 txBox="1"/>
          <p:nvPr/>
        </p:nvSpPr>
        <p:spPr>
          <a:xfrm>
            <a:off x="8503920" y="2395728"/>
            <a:ext cx="288036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Flag high-risk parcels early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Review the route or the assignment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Prioritize time-sensitive shipments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Notify the relevant admin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Keep a record of every decision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16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9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9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9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Notifications without notification overload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9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The right message reaches the right person at the right event.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9"/>
          <p:cNvSpPr/>
          <p:nvPr/>
        </p:nvSpPr>
        <p:spPr>
          <a:xfrm>
            <a:off x="548640" y="1572768"/>
            <a:ext cx="3429000" cy="370332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9"/>
          <p:cNvSpPr/>
          <p:nvPr/>
        </p:nvSpPr>
        <p:spPr>
          <a:xfrm>
            <a:off x="822960" y="1828800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9"/>
          <p:cNvSpPr txBox="1"/>
          <p:nvPr/>
        </p:nvSpPr>
        <p:spPr>
          <a:xfrm>
            <a:off x="1280160" y="1828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App / Dashboard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9"/>
          <p:cNvSpPr txBox="1"/>
          <p:nvPr/>
        </p:nvSpPr>
        <p:spPr>
          <a:xfrm>
            <a:off x="822960" y="2450592"/>
            <a:ext cx="28803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Assignment updates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Branch arrival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Vehicle dispatch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Route updates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Out for delivery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Live tracking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9"/>
          <p:cNvSpPr/>
          <p:nvPr/>
        </p:nvSpPr>
        <p:spPr>
          <a:xfrm>
            <a:off x="4379976" y="1572768"/>
            <a:ext cx="3429000" cy="370332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9"/>
          <p:cNvSpPr/>
          <p:nvPr/>
        </p:nvSpPr>
        <p:spPr>
          <a:xfrm>
            <a:off x="4654296" y="1828800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9"/>
          <p:cNvSpPr txBox="1"/>
          <p:nvPr/>
        </p:nvSpPr>
        <p:spPr>
          <a:xfrm>
            <a:off x="5111496" y="1828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Email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9"/>
          <p:cNvSpPr txBox="1"/>
          <p:nvPr/>
        </p:nvSpPr>
        <p:spPr>
          <a:xfrm>
            <a:off x="4654296" y="2450592"/>
            <a:ext cx="28803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Booking confirmation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Pickup confirmation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Important handoff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Destination arrival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Delivery confirmation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Critical exception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9"/>
          <p:cNvSpPr/>
          <p:nvPr/>
        </p:nvSpPr>
        <p:spPr>
          <a:xfrm>
            <a:off x="8211312" y="1572768"/>
            <a:ext cx="3429000" cy="370332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8485632" y="1828800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9"/>
          <p:cNvSpPr txBox="1"/>
          <p:nvPr/>
        </p:nvSpPr>
        <p:spPr>
          <a:xfrm>
            <a:off x="8942832" y="1828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Tracking link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 txBox="1"/>
          <p:nvPr/>
        </p:nvSpPr>
        <p:spPr>
          <a:xfrm>
            <a:off x="8485632" y="2450592"/>
            <a:ext cx="28803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One parcel ID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Status timeline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Map view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Latest location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Delivery progress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4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Proof of delivery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548640" y="5440680"/>
            <a:ext cx="11091672" cy="548640"/>
          </a:xfrm>
          <a:prstGeom prst="roundRect">
            <a:avLst>
              <a:gd fmla="val 11667" name="adj"/>
            </a:avLst>
          </a:prstGeom>
          <a:solidFill>
            <a:srgbClr val="EAF4F3"/>
          </a:solidFill>
          <a:ln cap="flat" cmpd="sng" w="12700">
            <a:solidFill>
              <a:srgbClr val="CBE3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9"/>
          <p:cNvSpPr txBox="1"/>
          <p:nvPr/>
        </p:nvSpPr>
        <p:spPr>
          <a:xfrm>
            <a:off x="868680" y="5440680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Event-driven and role-aware: people receive what they must act on — not every status change in the network.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9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9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17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31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20"/>
          <p:cNvSpPr txBox="1"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364F"/>
              </a:buClr>
              <a:buSzPts val="9600"/>
              <a:buFont typeface="Arial"/>
              <a:buNone/>
            </a:pPr>
            <a:r>
              <a:rPr b="1" i="0" lang="en-US" sz="9600" u="none" cap="none" strike="noStrike">
                <a:solidFill>
                  <a:srgbClr val="16364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9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0"/>
          <p:cNvSpPr txBox="1"/>
          <p:nvPr/>
        </p:nvSpPr>
        <p:spPr>
          <a:xfrm>
            <a:off x="777240" y="2697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PLATFORM &amp; VALUE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0"/>
          <p:cNvSpPr txBox="1"/>
          <p:nvPr/>
        </p:nvSpPr>
        <p:spPr>
          <a:xfrm>
            <a:off x="731520" y="3054096"/>
            <a:ext cx="100584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Built to be implemented,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secured and measured.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20"/>
          <p:cNvSpPr txBox="1"/>
          <p:nvPr/>
        </p:nvSpPr>
        <p:spPr>
          <a:xfrm>
            <a:off x="777240" y="457200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A modular architecture, tenant-isolated data, a phased delivery plan and success criteria agreed before a line of code is written.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20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0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18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1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21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1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Implementation architecture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21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 modular architecture keeps the platform scalable, testable and easy to extend.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21"/>
          <p:cNvSpPr/>
          <p:nvPr/>
        </p:nvSpPr>
        <p:spPr>
          <a:xfrm>
            <a:off x="548640" y="1645920"/>
            <a:ext cx="11091672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21"/>
          <p:cNvSpPr/>
          <p:nvPr/>
        </p:nvSpPr>
        <p:spPr>
          <a:xfrm>
            <a:off x="548640" y="1645920"/>
            <a:ext cx="128016" cy="749808"/>
          </a:xfrm>
          <a:prstGeom prst="roundRect">
            <a:avLst>
              <a:gd fmla="val 4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21"/>
          <p:cNvSpPr/>
          <p:nvPr/>
        </p:nvSpPr>
        <p:spPr>
          <a:xfrm>
            <a:off x="841248" y="1892808"/>
            <a:ext cx="256032" cy="256032"/>
          </a:xfrm>
          <a:prstGeom prst="ellipse">
            <a:avLst/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21"/>
          <p:cNvSpPr txBox="1"/>
          <p:nvPr/>
        </p:nvSpPr>
        <p:spPr>
          <a:xfrm>
            <a:off x="1280160" y="1645920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Web + Android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21"/>
          <p:cNvSpPr txBox="1"/>
          <p:nvPr/>
        </p:nvSpPr>
        <p:spPr>
          <a:xfrm>
            <a:off x="4023360" y="1645920"/>
            <a:ext cx="7406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React / TypeScript  •  Responsive admin web  •  Android field workflows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21"/>
          <p:cNvSpPr/>
          <p:nvPr/>
        </p:nvSpPr>
        <p:spPr>
          <a:xfrm>
            <a:off x="548640" y="2505456"/>
            <a:ext cx="11091672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21"/>
          <p:cNvSpPr/>
          <p:nvPr/>
        </p:nvSpPr>
        <p:spPr>
          <a:xfrm>
            <a:off x="548640" y="2505456"/>
            <a:ext cx="128016" cy="749808"/>
          </a:xfrm>
          <a:prstGeom prst="roundRect">
            <a:avLst>
              <a:gd fmla="val 4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1"/>
          <p:cNvSpPr/>
          <p:nvPr/>
        </p:nvSpPr>
        <p:spPr>
          <a:xfrm>
            <a:off x="841248" y="2752344"/>
            <a:ext cx="256032" cy="256032"/>
          </a:xfrm>
          <a:prstGeom prst="ellipse">
            <a:avLst/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1"/>
          <p:cNvSpPr txBox="1"/>
          <p:nvPr/>
        </p:nvSpPr>
        <p:spPr>
          <a:xfrm>
            <a:off x="1280160" y="2505456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API &amp; Services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21"/>
          <p:cNvSpPr txBox="1"/>
          <p:nvPr/>
        </p:nvSpPr>
        <p:spPr>
          <a:xfrm>
            <a:off x="4023360" y="2505456"/>
            <a:ext cx="7406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FastAPI  •  Auth  •  Parcel  •  Assignment  •  Branch  •  Vehicle  •  Tracking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21"/>
          <p:cNvSpPr/>
          <p:nvPr/>
        </p:nvSpPr>
        <p:spPr>
          <a:xfrm>
            <a:off x="548640" y="3364992"/>
            <a:ext cx="11091672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21"/>
          <p:cNvSpPr/>
          <p:nvPr/>
        </p:nvSpPr>
        <p:spPr>
          <a:xfrm>
            <a:off x="548640" y="3364992"/>
            <a:ext cx="128016" cy="749808"/>
          </a:xfrm>
          <a:prstGeom prst="roundRect">
            <a:avLst>
              <a:gd fmla="val 4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21"/>
          <p:cNvSpPr/>
          <p:nvPr/>
        </p:nvSpPr>
        <p:spPr>
          <a:xfrm>
            <a:off x="841248" y="3611880"/>
            <a:ext cx="256032" cy="256032"/>
          </a:xfrm>
          <a:prstGeom prst="ellipse">
            <a:avLst/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21"/>
          <p:cNvSpPr txBox="1"/>
          <p:nvPr/>
        </p:nvSpPr>
        <p:spPr>
          <a:xfrm>
            <a:off x="1280160" y="3364992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1"/>
          <p:cNvSpPr txBox="1"/>
          <p:nvPr/>
        </p:nvSpPr>
        <p:spPr>
          <a:xfrm>
            <a:off x="4023360" y="3364992"/>
            <a:ext cx="7406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Route optimization engine  •  Delay-risk model  •  Prioritization rules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21"/>
          <p:cNvSpPr/>
          <p:nvPr/>
        </p:nvSpPr>
        <p:spPr>
          <a:xfrm>
            <a:off x="548640" y="4224528"/>
            <a:ext cx="11091672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1"/>
          <p:cNvSpPr/>
          <p:nvPr/>
        </p:nvSpPr>
        <p:spPr>
          <a:xfrm>
            <a:off x="548640" y="4224528"/>
            <a:ext cx="128016" cy="749808"/>
          </a:xfrm>
          <a:prstGeom prst="roundRect">
            <a:avLst>
              <a:gd fmla="val 4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21"/>
          <p:cNvSpPr/>
          <p:nvPr/>
        </p:nvSpPr>
        <p:spPr>
          <a:xfrm>
            <a:off x="841248" y="4471416"/>
            <a:ext cx="256032" cy="256032"/>
          </a:xfrm>
          <a:prstGeom prst="ellipse">
            <a:avLst/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21"/>
          <p:cNvSpPr txBox="1"/>
          <p:nvPr/>
        </p:nvSpPr>
        <p:spPr>
          <a:xfrm>
            <a:off x="1280160" y="4224528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21"/>
          <p:cNvSpPr txBox="1"/>
          <p:nvPr/>
        </p:nvSpPr>
        <p:spPr>
          <a:xfrm>
            <a:off x="4023360" y="4224528"/>
            <a:ext cx="7406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PostgreSQL  •  Tracking events  •  Audit log  •  Tenant-scoped schemas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21"/>
          <p:cNvSpPr/>
          <p:nvPr/>
        </p:nvSpPr>
        <p:spPr>
          <a:xfrm>
            <a:off x="548640" y="5084064"/>
            <a:ext cx="11091672" cy="749808"/>
          </a:xfrm>
          <a:prstGeom prst="roundRect">
            <a:avLst>
              <a:gd fmla="val 853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21"/>
          <p:cNvSpPr/>
          <p:nvPr/>
        </p:nvSpPr>
        <p:spPr>
          <a:xfrm>
            <a:off x="548640" y="5084064"/>
            <a:ext cx="128016" cy="749808"/>
          </a:xfrm>
          <a:prstGeom prst="roundRect">
            <a:avLst>
              <a:gd fmla="val 42857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21"/>
          <p:cNvSpPr/>
          <p:nvPr/>
        </p:nvSpPr>
        <p:spPr>
          <a:xfrm>
            <a:off x="841248" y="5330952"/>
            <a:ext cx="256032" cy="256032"/>
          </a:xfrm>
          <a:prstGeom prst="ellipse">
            <a:avLst/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21"/>
          <p:cNvSpPr txBox="1"/>
          <p:nvPr/>
        </p:nvSpPr>
        <p:spPr>
          <a:xfrm>
            <a:off x="1280160" y="5084064"/>
            <a:ext cx="265176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Integrations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21"/>
          <p:cNvSpPr txBox="1"/>
          <p:nvPr/>
        </p:nvSpPr>
        <p:spPr>
          <a:xfrm>
            <a:off x="4023360" y="5084064"/>
            <a:ext cx="740664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Routing provider (OpenStreetMap-based)  •  Email service  •  Maps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1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1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19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2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2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22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Security &amp; governance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22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 multi-tenant platform must protect both customer data and partner data.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22"/>
          <p:cNvSpPr/>
          <p:nvPr/>
        </p:nvSpPr>
        <p:spPr>
          <a:xfrm>
            <a:off x="548640" y="1572768"/>
            <a:ext cx="3429000" cy="379476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22"/>
          <p:cNvSpPr/>
          <p:nvPr/>
        </p:nvSpPr>
        <p:spPr>
          <a:xfrm>
            <a:off x="822960" y="1828800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22"/>
          <p:cNvSpPr txBox="1"/>
          <p:nvPr/>
        </p:nvSpPr>
        <p:spPr>
          <a:xfrm>
            <a:off x="1280160" y="1828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Identity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22"/>
          <p:cNvSpPr txBox="1"/>
          <p:nvPr/>
        </p:nvSpPr>
        <p:spPr>
          <a:xfrm>
            <a:off x="822960" y="2468880"/>
            <a:ext cx="2880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JWT authentication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Role-based access control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Company / tenant isolation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Secure password hashing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Session and token expiry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22"/>
          <p:cNvSpPr/>
          <p:nvPr/>
        </p:nvSpPr>
        <p:spPr>
          <a:xfrm>
            <a:off x="4379976" y="1572768"/>
            <a:ext cx="3429000" cy="379476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22"/>
          <p:cNvSpPr/>
          <p:nvPr/>
        </p:nvSpPr>
        <p:spPr>
          <a:xfrm>
            <a:off x="4654296" y="1828800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22"/>
          <p:cNvSpPr txBox="1"/>
          <p:nvPr/>
        </p:nvSpPr>
        <p:spPr>
          <a:xfrm>
            <a:off x="5111496" y="1828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22"/>
          <p:cNvSpPr txBox="1"/>
          <p:nvPr/>
        </p:nvSpPr>
        <p:spPr>
          <a:xfrm>
            <a:off x="4654296" y="2468880"/>
            <a:ext cx="2880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Encrypted transport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Controlled cross-partner sharing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Minimal exposure between partners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Tenant-scoped queries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Retention of tracking history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22"/>
          <p:cNvSpPr/>
          <p:nvPr/>
        </p:nvSpPr>
        <p:spPr>
          <a:xfrm>
            <a:off x="8211312" y="1572768"/>
            <a:ext cx="3429000" cy="379476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22"/>
          <p:cNvSpPr/>
          <p:nvPr/>
        </p:nvSpPr>
        <p:spPr>
          <a:xfrm>
            <a:off x="8485632" y="1828800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EAF4F3"/>
          </a:solidFill>
          <a:ln cap="flat" cmpd="sng" w="12700">
            <a:solidFill>
              <a:srgbClr val="EAF4F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22"/>
          <p:cNvSpPr txBox="1"/>
          <p:nvPr/>
        </p:nvSpPr>
        <p:spPr>
          <a:xfrm>
            <a:off x="8942832" y="18288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Operations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22"/>
          <p:cNvSpPr txBox="1"/>
          <p:nvPr/>
        </p:nvSpPr>
        <p:spPr>
          <a:xfrm>
            <a:off x="8485632" y="2468880"/>
            <a:ext cx="2880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Full audit logs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Assignment and override history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Structured exception handling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Proof-of-delivery records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Manual override with attribution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22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22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20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23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23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23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Business value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23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Why a customer, a partner company and an employee would each adopt the platform.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23"/>
          <p:cNvSpPr/>
          <p:nvPr/>
        </p:nvSpPr>
        <p:spPr>
          <a:xfrm>
            <a:off x="548640" y="1600200"/>
            <a:ext cx="5394960" cy="2011680"/>
          </a:xfrm>
          <a:prstGeom prst="roundRect">
            <a:avLst>
              <a:gd fmla="val 3182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23"/>
          <p:cNvSpPr/>
          <p:nvPr/>
        </p:nvSpPr>
        <p:spPr>
          <a:xfrm>
            <a:off x="841248" y="1856232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3"/>
          <p:cNvSpPr txBox="1"/>
          <p:nvPr/>
        </p:nvSpPr>
        <p:spPr>
          <a:xfrm>
            <a:off x="1307592" y="185623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For customers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23"/>
          <p:cNvSpPr txBox="1"/>
          <p:nvPr/>
        </p:nvSpPr>
        <p:spPr>
          <a:xfrm>
            <a:off x="868680" y="2404872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One tracking experience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Better visibility at every stage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Timely, relevant updates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23"/>
          <p:cNvSpPr/>
          <p:nvPr/>
        </p:nvSpPr>
        <p:spPr>
          <a:xfrm>
            <a:off x="6245352" y="1600200"/>
            <a:ext cx="5394960" cy="2011680"/>
          </a:xfrm>
          <a:prstGeom prst="roundRect">
            <a:avLst>
              <a:gd fmla="val 3182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23"/>
          <p:cNvSpPr/>
          <p:nvPr/>
        </p:nvSpPr>
        <p:spPr>
          <a:xfrm>
            <a:off x="6537960" y="1856232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0E9384"/>
          </a:solidFill>
          <a:ln cap="flat" cmpd="sng" w="1270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23"/>
          <p:cNvSpPr txBox="1"/>
          <p:nvPr/>
        </p:nvSpPr>
        <p:spPr>
          <a:xfrm>
            <a:off x="7004304" y="1856232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For courier partners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23"/>
          <p:cNvSpPr txBox="1"/>
          <p:nvPr/>
        </p:nvSpPr>
        <p:spPr>
          <a:xfrm>
            <a:off x="6565392" y="2404872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Wider network reach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Automated operations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Better resource utilization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23"/>
          <p:cNvSpPr/>
          <p:nvPr/>
        </p:nvSpPr>
        <p:spPr>
          <a:xfrm>
            <a:off x="548640" y="3776472"/>
            <a:ext cx="5394960" cy="2011680"/>
          </a:xfrm>
          <a:prstGeom prst="roundRect">
            <a:avLst>
              <a:gd fmla="val 3182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23"/>
          <p:cNvSpPr/>
          <p:nvPr/>
        </p:nvSpPr>
        <p:spPr>
          <a:xfrm>
            <a:off x="841248" y="4032504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F5A524"/>
          </a:solidFill>
          <a:ln cap="flat" cmpd="sng" w="12700">
            <a:solidFill>
              <a:srgbClr val="F5A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23"/>
          <p:cNvSpPr txBox="1"/>
          <p:nvPr/>
        </p:nvSpPr>
        <p:spPr>
          <a:xfrm>
            <a:off x="1307592" y="403250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For employees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23"/>
          <p:cNvSpPr txBox="1"/>
          <p:nvPr/>
        </p:nvSpPr>
        <p:spPr>
          <a:xfrm>
            <a:off x="868680" y="4581144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Clear, unambiguous assignments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Map-based routes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Digital proof of delivery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23"/>
          <p:cNvSpPr/>
          <p:nvPr/>
        </p:nvSpPr>
        <p:spPr>
          <a:xfrm>
            <a:off x="6245352" y="3776472"/>
            <a:ext cx="5394960" cy="2011680"/>
          </a:xfrm>
          <a:prstGeom prst="roundRect">
            <a:avLst>
              <a:gd fmla="val 3182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23"/>
          <p:cNvSpPr/>
          <p:nvPr/>
        </p:nvSpPr>
        <p:spPr>
          <a:xfrm>
            <a:off x="6537960" y="4032504"/>
            <a:ext cx="310896" cy="310896"/>
          </a:xfrm>
          <a:prstGeom prst="roundRect">
            <a:avLst>
              <a:gd fmla="val 23529" name="adj"/>
            </a:avLst>
          </a:prstGeom>
          <a:solidFill>
            <a:srgbClr val="F5A524"/>
          </a:solidFill>
          <a:ln cap="flat" cmpd="sng" w="12700">
            <a:solidFill>
              <a:srgbClr val="F5A5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23"/>
          <p:cNvSpPr txBox="1"/>
          <p:nvPr/>
        </p:nvSpPr>
        <p:spPr>
          <a:xfrm>
            <a:off x="7004304" y="4032504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50"/>
              <a:buFont typeface="Arial"/>
              <a:buNone/>
            </a:pPr>
            <a:r>
              <a:rPr b="1" i="0" lang="en-US" sz="145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For Logiflow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23"/>
          <p:cNvSpPr txBox="1"/>
          <p:nvPr/>
        </p:nvSpPr>
        <p:spPr>
          <a:xfrm>
            <a:off x="6565392" y="4581144"/>
            <a:ext cx="47548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Platform service fees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Partner network effects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7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Operational data insights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23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</a:t>
            </a:r>
            <a:r>
              <a:rPr lang="en-US" sz="900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23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21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31F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24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24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24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makes the proposed approach distinctive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24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The value is in the integrated orchestration layer — not in any single isolated feature.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24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INTEGRATION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24"/>
          <p:cNvSpPr txBox="1"/>
          <p:nvPr/>
        </p:nvSpPr>
        <p:spPr>
          <a:xfrm>
            <a:off x="548640" y="2084832"/>
            <a:ext cx="5486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Multi-company parcel lifecycle + unified tracking + intelligent operational decision support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4"/>
          <p:cNvSpPr txBox="1"/>
          <p:nvPr/>
        </p:nvSpPr>
        <p:spPr>
          <a:xfrm>
            <a:off x="548640" y="420624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Existing logistics products already cover many of these capabilities individually. Our project focuses on a coherent, implementable architecture that lets independent regional partners operate as one network.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4"/>
          <p:cNvSpPr/>
          <p:nvPr/>
        </p:nvSpPr>
        <p:spPr>
          <a:xfrm>
            <a:off x="6583680" y="1783080"/>
            <a:ext cx="2377440" cy="1051560"/>
          </a:xfrm>
          <a:prstGeom prst="roundRect">
            <a:avLst>
              <a:gd fmla="val 869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4"/>
          <p:cNvSpPr txBox="1"/>
          <p:nvPr/>
        </p:nvSpPr>
        <p:spPr>
          <a:xfrm>
            <a:off x="6583680" y="1783080"/>
            <a:ext cx="2377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Assignment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24"/>
          <p:cNvSpPr/>
          <p:nvPr/>
        </p:nvSpPr>
        <p:spPr>
          <a:xfrm>
            <a:off x="9189720" y="1783080"/>
            <a:ext cx="2377440" cy="1051560"/>
          </a:xfrm>
          <a:prstGeom prst="roundRect">
            <a:avLst>
              <a:gd fmla="val 869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4"/>
          <p:cNvSpPr txBox="1"/>
          <p:nvPr/>
        </p:nvSpPr>
        <p:spPr>
          <a:xfrm>
            <a:off x="9189720" y="1783080"/>
            <a:ext cx="2377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4"/>
          <p:cNvSpPr/>
          <p:nvPr/>
        </p:nvSpPr>
        <p:spPr>
          <a:xfrm>
            <a:off x="6583680" y="3154680"/>
            <a:ext cx="2377440" cy="1051560"/>
          </a:xfrm>
          <a:prstGeom prst="roundRect">
            <a:avLst>
              <a:gd fmla="val 869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24"/>
          <p:cNvSpPr txBox="1"/>
          <p:nvPr/>
        </p:nvSpPr>
        <p:spPr>
          <a:xfrm>
            <a:off x="6583680" y="3154680"/>
            <a:ext cx="2377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Delay risk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4"/>
          <p:cNvSpPr/>
          <p:nvPr/>
        </p:nvSpPr>
        <p:spPr>
          <a:xfrm>
            <a:off x="9189720" y="3154680"/>
            <a:ext cx="2377440" cy="1051560"/>
          </a:xfrm>
          <a:prstGeom prst="roundRect">
            <a:avLst>
              <a:gd fmla="val 869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4"/>
          <p:cNvSpPr txBox="1"/>
          <p:nvPr/>
        </p:nvSpPr>
        <p:spPr>
          <a:xfrm>
            <a:off x="9189720" y="3154680"/>
            <a:ext cx="2377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4"/>
          <p:cNvSpPr/>
          <p:nvPr/>
        </p:nvSpPr>
        <p:spPr>
          <a:xfrm>
            <a:off x="6583680" y="4526280"/>
            <a:ext cx="2377440" cy="1051560"/>
          </a:xfrm>
          <a:prstGeom prst="roundRect">
            <a:avLst>
              <a:gd fmla="val 869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4"/>
          <p:cNvSpPr txBox="1"/>
          <p:nvPr/>
        </p:nvSpPr>
        <p:spPr>
          <a:xfrm>
            <a:off x="6583680" y="4526280"/>
            <a:ext cx="2377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Notifications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4"/>
          <p:cNvSpPr/>
          <p:nvPr/>
        </p:nvSpPr>
        <p:spPr>
          <a:xfrm>
            <a:off x="9189720" y="4526280"/>
            <a:ext cx="2377440" cy="1051560"/>
          </a:xfrm>
          <a:prstGeom prst="roundRect">
            <a:avLst>
              <a:gd fmla="val 869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4"/>
          <p:cNvSpPr txBox="1"/>
          <p:nvPr/>
        </p:nvSpPr>
        <p:spPr>
          <a:xfrm>
            <a:off x="9189720" y="4526280"/>
            <a:ext cx="237744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Partner network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4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4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22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25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5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25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Implementation roadmap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5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 phased delivery plan — each phase produces something demonstrable.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5"/>
          <p:cNvSpPr/>
          <p:nvPr/>
        </p:nvSpPr>
        <p:spPr>
          <a:xfrm>
            <a:off x="548640" y="1691640"/>
            <a:ext cx="2569464" cy="3566160"/>
          </a:xfrm>
          <a:prstGeom prst="roundRect">
            <a:avLst>
              <a:gd fmla="val 2491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25"/>
          <p:cNvSpPr txBox="1"/>
          <p:nvPr/>
        </p:nvSpPr>
        <p:spPr>
          <a:xfrm>
            <a:off x="804672" y="19385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PHASE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5"/>
          <p:cNvSpPr txBox="1"/>
          <p:nvPr/>
        </p:nvSpPr>
        <p:spPr>
          <a:xfrm>
            <a:off x="804672" y="22677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Foundation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25"/>
          <p:cNvSpPr txBox="1"/>
          <p:nvPr/>
        </p:nvSpPr>
        <p:spPr>
          <a:xfrm>
            <a:off x="804672" y="2834640"/>
            <a:ext cx="208483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Multi-tenant setup, auth and roles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Company, branch, employee, vehicle masters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Parcel booking and unified parcel 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5"/>
          <p:cNvSpPr/>
          <p:nvPr/>
        </p:nvSpPr>
        <p:spPr>
          <a:xfrm>
            <a:off x="3163824" y="3346704"/>
            <a:ext cx="18288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D2DE"/>
          </a:solidFill>
          <a:ln cap="flat" cmpd="sng" w="12700">
            <a:solidFill>
              <a:srgbClr val="C3D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5"/>
          <p:cNvSpPr/>
          <p:nvPr/>
        </p:nvSpPr>
        <p:spPr>
          <a:xfrm>
            <a:off x="3392424" y="1691640"/>
            <a:ext cx="2569464" cy="3566160"/>
          </a:xfrm>
          <a:prstGeom prst="roundRect">
            <a:avLst>
              <a:gd fmla="val 2491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25"/>
          <p:cNvSpPr txBox="1"/>
          <p:nvPr/>
        </p:nvSpPr>
        <p:spPr>
          <a:xfrm>
            <a:off x="3648456" y="19385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PHASE 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25"/>
          <p:cNvSpPr txBox="1"/>
          <p:nvPr/>
        </p:nvSpPr>
        <p:spPr>
          <a:xfrm>
            <a:off x="3648456" y="22677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Core operations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5"/>
          <p:cNvSpPr txBox="1"/>
          <p:nvPr/>
        </p:nvSpPr>
        <p:spPr>
          <a:xfrm>
            <a:off x="3648456" y="2834640"/>
            <a:ext cx="208483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Assignment and reassignment workflow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Android app with proof of delivery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Tracking events and status timeline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5"/>
          <p:cNvSpPr/>
          <p:nvPr/>
        </p:nvSpPr>
        <p:spPr>
          <a:xfrm>
            <a:off x="6007608" y="3346704"/>
            <a:ext cx="18288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D2DE"/>
          </a:solidFill>
          <a:ln cap="flat" cmpd="sng" w="12700">
            <a:solidFill>
              <a:srgbClr val="C3D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25"/>
          <p:cNvSpPr/>
          <p:nvPr/>
        </p:nvSpPr>
        <p:spPr>
          <a:xfrm>
            <a:off x="6236208" y="1691640"/>
            <a:ext cx="2569464" cy="3566160"/>
          </a:xfrm>
          <a:prstGeom prst="roundRect">
            <a:avLst>
              <a:gd fmla="val 2491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5"/>
          <p:cNvSpPr txBox="1"/>
          <p:nvPr/>
        </p:nvSpPr>
        <p:spPr>
          <a:xfrm>
            <a:off x="6492240" y="19385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PHASE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25"/>
          <p:cNvSpPr txBox="1"/>
          <p:nvPr/>
        </p:nvSpPr>
        <p:spPr>
          <a:xfrm>
            <a:off x="6492240" y="22677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5"/>
          <p:cNvSpPr txBox="1"/>
          <p:nvPr/>
        </p:nvSpPr>
        <p:spPr>
          <a:xfrm>
            <a:off x="6492240" y="2834640"/>
            <a:ext cx="208483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Route optimization engine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Delay-risk prediction 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Role-aware notification rules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5"/>
          <p:cNvSpPr/>
          <p:nvPr/>
        </p:nvSpPr>
        <p:spPr>
          <a:xfrm>
            <a:off x="8851392" y="3346704"/>
            <a:ext cx="182880" cy="25603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3D2DE"/>
          </a:solidFill>
          <a:ln cap="flat" cmpd="sng" w="12700">
            <a:solidFill>
              <a:srgbClr val="C3D2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25"/>
          <p:cNvSpPr/>
          <p:nvPr/>
        </p:nvSpPr>
        <p:spPr>
          <a:xfrm>
            <a:off x="9079992" y="1691640"/>
            <a:ext cx="2569464" cy="3566160"/>
          </a:xfrm>
          <a:prstGeom prst="roundRect">
            <a:avLst>
              <a:gd fmla="val 2491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25"/>
          <p:cNvSpPr txBox="1"/>
          <p:nvPr/>
        </p:nvSpPr>
        <p:spPr>
          <a:xfrm>
            <a:off x="9336024" y="19385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PHASE 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25"/>
          <p:cNvSpPr txBox="1"/>
          <p:nvPr/>
        </p:nvSpPr>
        <p:spPr>
          <a:xfrm>
            <a:off x="9336024" y="2267712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Network scale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25"/>
          <p:cNvSpPr txBox="1"/>
          <p:nvPr/>
        </p:nvSpPr>
        <p:spPr>
          <a:xfrm>
            <a:off x="9336024" y="2834640"/>
            <a:ext cx="2084832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Partner onboarding and handoffs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Admin dashboards and audit views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160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Pilot rollout, tuning and handover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25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25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23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26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26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26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Project success measures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26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We will validate the platform through operational, technical and experience outcomes.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26"/>
          <p:cNvSpPr/>
          <p:nvPr/>
        </p:nvSpPr>
        <p:spPr>
          <a:xfrm>
            <a:off x="548640" y="1572768"/>
            <a:ext cx="3429000" cy="379476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26"/>
          <p:cNvSpPr txBox="1"/>
          <p:nvPr/>
        </p:nvSpPr>
        <p:spPr>
          <a:xfrm>
            <a:off x="822960" y="18470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Operational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26"/>
          <p:cNvSpPr txBox="1"/>
          <p:nvPr/>
        </p:nvSpPr>
        <p:spPr>
          <a:xfrm>
            <a:off x="822960" y="2450592"/>
            <a:ext cx="2880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Assignment completion rate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Route feasibility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Tracking coverage across handoffs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Notification delivery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Handoff accuracy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26"/>
          <p:cNvSpPr/>
          <p:nvPr/>
        </p:nvSpPr>
        <p:spPr>
          <a:xfrm>
            <a:off x="4379976" y="1572768"/>
            <a:ext cx="3429000" cy="379476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26"/>
          <p:cNvSpPr txBox="1"/>
          <p:nvPr/>
        </p:nvSpPr>
        <p:spPr>
          <a:xfrm>
            <a:off x="4654296" y="18470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26"/>
          <p:cNvSpPr txBox="1"/>
          <p:nvPr/>
        </p:nvSpPr>
        <p:spPr>
          <a:xfrm>
            <a:off x="4654296" y="2450592"/>
            <a:ext cx="2880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Delay-risk model performance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Route quality vs manual planning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Constraint satisfaction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Reassignment handling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Exception detection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26"/>
          <p:cNvSpPr/>
          <p:nvPr/>
        </p:nvSpPr>
        <p:spPr>
          <a:xfrm>
            <a:off x="8211312" y="1572768"/>
            <a:ext cx="3429000" cy="3794760"/>
          </a:xfrm>
          <a:prstGeom prst="roundRect">
            <a:avLst>
              <a:gd fmla="val 1867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26"/>
          <p:cNvSpPr txBox="1"/>
          <p:nvPr/>
        </p:nvSpPr>
        <p:spPr>
          <a:xfrm>
            <a:off x="8485632" y="1847088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Experience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26"/>
          <p:cNvSpPr txBox="1"/>
          <p:nvPr/>
        </p:nvSpPr>
        <p:spPr>
          <a:xfrm>
            <a:off x="8485632" y="2450592"/>
            <a:ext cx="288036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Customer visibility of status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Employee usability in the field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Admin control and override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Partner onboarding effort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7800" lvl="0" marL="177800" marR="0" rtl="0" algn="l">
              <a:spcBef>
                <a:spcPts val="2200"/>
              </a:spcBef>
              <a:spcAft>
                <a:spcPts val="0"/>
              </a:spcAft>
              <a:buClr>
                <a:srgbClr val="4E6679"/>
              </a:buClr>
              <a:buSzPts val="1250"/>
              <a:buFont typeface="Calibri"/>
              <a:buChar char="•"/>
            </a:pPr>
            <a:r>
              <a:rPr b="0" i="0" lang="en-US" sz="12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Clear, complete audit trail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26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26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24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A"/>
        </a:solidFill>
      </p:bgPr>
    </p:bg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27"/>
          <p:cNvSpPr/>
          <p:nvPr/>
        </p:nvSpPr>
        <p:spPr>
          <a:xfrm>
            <a:off x="548640" y="402336"/>
            <a:ext cx="493776" cy="493776"/>
          </a:xfrm>
          <a:prstGeom prst="roundRect">
            <a:avLst>
              <a:gd fmla="val 22222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27"/>
          <p:cNvSpPr txBox="1"/>
          <p:nvPr/>
        </p:nvSpPr>
        <p:spPr>
          <a:xfrm>
            <a:off x="548640" y="402336"/>
            <a:ext cx="493776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27"/>
          <p:cNvSpPr txBox="1"/>
          <p:nvPr/>
        </p:nvSpPr>
        <p:spPr>
          <a:xfrm>
            <a:off x="1207008" y="365760"/>
            <a:ext cx="10424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Why this project should be selected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27"/>
          <p:cNvSpPr txBox="1"/>
          <p:nvPr/>
        </p:nvSpPr>
        <p:spPr>
          <a:xfrm>
            <a:off x="1207008" y="841248"/>
            <a:ext cx="104241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Six reasons the proposal is both valuable and realistic to deliver.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27"/>
          <p:cNvSpPr/>
          <p:nvPr/>
        </p:nvSpPr>
        <p:spPr>
          <a:xfrm>
            <a:off x="548640" y="1600200"/>
            <a:ext cx="3429000" cy="2011680"/>
          </a:xfrm>
          <a:prstGeom prst="roundRect">
            <a:avLst>
              <a:gd fmla="val 3182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27"/>
          <p:cNvSpPr txBox="1"/>
          <p:nvPr/>
        </p:nvSpPr>
        <p:spPr>
          <a:xfrm>
            <a:off x="822960" y="183794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27"/>
          <p:cNvSpPr txBox="1"/>
          <p:nvPr/>
        </p:nvSpPr>
        <p:spPr>
          <a:xfrm>
            <a:off x="822960" y="225856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A real, observable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27"/>
          <p:cNvSpPr txBox="1"/>
          <p:nvPr/>
        </p:nvSpPr>
        <p:spPr>
          <a:xfrm>
            <a:off x="822960" y="2624328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Fragmented parcel handling is visible in every regional courier network today.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27"/>
          <p:cNvSpPr/>
          <p:nvPr/>
        </p:nvSpPr>
        <p:spPr>
          <a:xfrm>
            <a:off x="4379976" y="1600200"/>
            <a:ext cx="3429000" cy="2011680"/>
          </a:xfrm>
          <a:prstGeom prst="roundRect">
            <a:avLst>
              <a:gd fmla="val 3182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7"/>
          <p:cNvSpPr txBox="1"/>
          <p:nvPr/>
        </p:nvSpPr>
        <p:spPr>
          <a:xfrm>
            <a:off x="4654296" y="183794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27"/>
          <p:cNvSpPr txBox="1"/>
          <p:nvPr/>
        </p:nvSpPr>
        <p:spPr>
          <a:xfrm>
            <a:off x="4654296" y="225856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Complete, coherent scope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27"/>
          <p:cNvSpPr txBox="1"/>
          <p:nvPr/>
        </p:nvSpPr>
        <p:spPr>
          <a:xfrm>
            <a:off x="4654296" y="2624328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Booking to proof of delivery, across companies — not one isolated feature.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27"/>
          <p:cNvSpPr/>
          <p:nvPr/>
        </p:nvSpPr>
        <p:spPr>
          <a:xfrm>
            <a:off x="8211312" y="1600200"/>
            <a:ext cx="3429000" cy="2011680"/>
          </a:xfrm>
          <a:prstGeom prst="roundRect">
            <a:avLst>
              <a:gd fmla="val 3182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27"/>
          <p:cNvSpPr txBox="1"/>
          <p:nvPr/>
        </p:nvSpPr>
        <p:spPr>
          <a:xfrm>
            <a:off x="8485632" y="1837944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27"/>
          <p:cNvSpPr txBox="1"/>
          <p:nvPr/>
        </p:nvSpPr>
        <p:spPr>
          <a:xfrm>
            <a:off x="8485632" y="2258568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Intelligence where it counts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27"/>
          <p:cNvSpPr txBox="1"/>
          <p:nvPr/>
        </p:nvSpPr>
        <p:spPr>
          <a:xfrm>
            <a:off x="8485632" y="2624328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Assignment, routing, prioritization and delay-risk, applied to live operations.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27"/>
          <p:cNvSpPr/>
          <p:nvPr/>
        </p:nvSpPr>
        <p:spPr>
          <a:xfrm>
            <a:off x="548640" y="3776472"/>
            <a:ext cx="3429000" cy="2011680"/>
          </a:xfrm>
          <a:prstGeom prst="roundRect">
            <a:avLst>
              <a:gd fmla="val 3182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7"/>
          <p:cNvSpPr txBox="1"/>
          <p:nvPr/>
        </p:nvSpPr>
        <p:spPr>
          <a:xfrm>
            <a:off x="822960" y="401421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7"/>
          <p:cNvSpPr txBox="1"/>
          <p:nvPr/>
        </p:nvSpPr>
        <p:spPr>
          <a:xfrm>
            <a:off x="822960" y="44348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Designed for a partner network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27"/>
          <p:cNvSpPr txBox="1"/>
          <p:nvPr/>
        </p:nvSpPr>
        <p:spPr>
          <a:xfrm>
            <a:off x="822960" y="4800600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Multi-tenant from day one, so independent companies can join without losing control.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27"/>
          <p:cNvSpPr/>
          <p:nvPr/>
        </p:nvSpPr>
        <p:spPr>
          <a:xfrm>
            <a:off x="4379976" y="3776472"/>
            <a:ext cx="3429000" cy="2011680"/>
          </a:xfrm>
          <a:prstGeom prst="roundRect">
            <a:avLst>
              <a:gd fmla="val 3182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27"/>
          <p:cNvSpPr txBox="1"/>
          <p:nvPr/>
        </p:nvSpPr>
        <p:spPr>
          <a:xfrm>
            <a:off x="4654296" y="401421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7"/>
          <p:cNvSpPr txBox="1"/>
          <p:nvPr/>
        </p:nvSpPr>
        <p:spPr>
          <a:xfrm>
            <a:off x="4654296" y="44348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Implementable architecture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7"/>
          <p:cNvSpPr txBox="1"/>
          <p:nvPr/>
        </p:nvSpPr>
        <p:spPr>
          <a:xfrm>
            <a:off x="4654296" y="4800600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A proven, modular stack with a phased plan and demonstrable milestones.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27"/>
          <p:cNvSpPr/>
          <p:nvPr/>
        </p:nvSpPr>
        <p:spPr>
          <a:xfrm>
            <a:off x="8211312" y="3776472"/>
            <a:ext cx="3429000" cy="2011680"/>
          </a:xfrm>
          <a:prstGeom prst="roundRect">
            <a:avLst>
              <a:gd fmla="val 3182" name="adj"/>
            </a:avLst>
          </a:prstGeom>
          <a:solidFill>
            <a:srgbClr val="FFFFFF"/>
          </a:solidFill>
          <a:ln cap="flat" cmpd="sng" w="12700">
            <a:solidFill>
              <a:srgbClr val="DCE5EE"/>
            </a:solidFill>
            <a:prstDash val="solid"/>
            <a:round/>
            <a:headEnd len="sm" w="sm" type="none"/>
            <a:tailEnd len="sm" w="sm" type="none"/>
          </a:ln>
          <a:effectLst>
            <a:outerShdw blurRad="152400" rotWithShape="0" algn="bl" dir="5400000" dist="25400">
              <a:srgbClr val="AEC1D1">
                <a:alpha val="3490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7"/>
          <p:cNvSpPr txBox="1"/>
          <p:nvPr/>
        </p:nvSpPr>
        <p:spPr>
          <a:xfrm>
            <a:off x="8485632" y="4014216"/>
            <a:ext cx="640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E9384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0E938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7"/>
          <p:cNvSpPr txBox="1"/>
          <p:nvPr/>
        </p:nvSpPr>
        <p:spPr>
          <a:xfrm>
            <a:off x="8485632" y="44348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93F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0293F"/>
                </a:solidFill>
                <a:latin typeface="Arial"/>
                <a:ea typeface="Arial"/>
                <a:cs typeface="Arial"/>
                <a:sym typeface="Arial"/>
              </a:rPr>
              <a:t>Measurable outcomes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7"/>
          <p:cNvSpPr txBox="1"/>
          <p:nvPr/>
        </p:nvSpPr>
        <p:spPr>
          <a:xfrm>
            <a:off x="8485632" y="4800600"/>
            <a:ext cx="28803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E6679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4E6679"/>
                </a:solidFill>
                <a:latin typeface="Calibri"/>
                <a:ea typeface="Calibri"/>
                <a:cs typeface="Calibri"/>
                <a:sym typeface="Calibri"/>
              </a:rPr>
              <a:t>Success criteria defined up front across operations, intelligence and experience.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7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LOGIFLOW</a:t>
            </a:r>
            <a:r>
              <a:rPr lang="en-US" sz="900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S </a:t>
            </a: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27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FB0B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FB0BE"/>
                </a:solidFill>
                <a:latin typeface="Calibri"/>
                <a:ea typeface="Calibri"/>
                <a:cs typeface="Calibri"/>
                <a:sym typeface="Calibri"/>
              </a:rPr>
              <a:t>25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131F"/>
        </a:solidFill>
      </p:bgPr>
    </p:bg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28"/>
          <p:cNvSpPr txBox="1"/>
          <p:nvPr/>
        </p:nvSpPr>
        <p:spPr>
          <a:xfrm>
            <a:off x="777240" y="1234440"/>
            <a:ext cx="6400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THE PROPOSED OUTCOME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8"/>
          <p:cNvSpPr txBox="1"/>
          <p:nvPr/>
        </p:nvSpPr>
        <p:spPr>
          <a:xfrm>
            <a:off x="731520" y="1691640"/>
            <a:ext cx="8686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connected logistics network.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One parcel journey.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8"/>
          <p:cNvSpPr txBox="1"/>
          <p:nvPr/>
        </p:nvSpPr>
        <p:spPr>
          <a:xfrm>
            <a:off x="777240" y="3429000"/>
            <a:ext cx="74980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DB4C6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DB4C6"/>
                </a:solidFill>
                <a:latin typeface="Calibri"/>
                <a:ea typeface="Calibri"/>
                <a:cs typeface="Calibri"/>
                <a:sym typeface="Calibri"/>
              </a:rPr>
              <a:t>A platform where customers, partner companies, branches, employees and vehicles coordinate through a single digital flow — booked once, tracked continuously, delivered with proof.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8"/>
          <p:cNvSpPr/>
          <p:nvPr/>
        </p:nvSpPr>
        <p:spPr>
          <a:xfrm>
            <a:off x="731520" y="4526280"/>
            <a:ext cx="1783080" cy="640080"/>
          </a:xfrm>
          <a:prstGeom prst="roundRect">
            <a:avLst>
              <a:gd fmla="val 1428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8"/>
          <p:cNvSpPr txBox="1"/>
          <p:nvPr/>
        </p:nvSpPr>
        <p:spPr>
          <a:xfrm>
            <a:off x="731520" y="452628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0" name="Google Shape;700;p28"/>
          <p:cNvCxnSpPr/>
          <p:nvPr/>
        </p:nvCxnSpPr>
        <p:spPr>
          <a:xfrm>
            <a:off x="2532888" y="484632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1" name="Google Shape;701;p28"/>
          <p:cNvSpPr/>
          <p:nvPr/>
        </p:nvSpPr>
        <p:spPr>
          <a:xfrm>
            <a:off x="2734056" y="4526280"/>
            <a:ext cx="1783080" cy="640080"/>
          </a:xfrm>
          <a:prstGeom prst="roundRect">
            <a:avLst>
              <a:gd fmla="val 1428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28"/>
          <p:cNvSpPr txBox="1"/>
          <p:nvPr/>
        </p:nvSpPr>
        <p:spPr>
          <a:xfrm>
            <a:off x="2734056" y="452628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ASSIGN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3" name="Google Shape;703;p28"/>
          <p:cNvCxnSpPr/>
          <p:nvPr/>
        </p:nvCxnSpPr>
        <p:spPr>
          <a:xfrm>
            <a:off x="4535424" y="484632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28"/>
          <p:cNvSpPr/>
          <p:nvPr/>
        </p:nvSpPr>
        <p:spPr>
          <a:xfrm>
            <a:off x="4736592" y="4526280"/>
            <a:ext cx="1783080" cy="640080"/>
          </a:xfrm>
          <a:prstGeom prst="roundRect">
            <a:avLst>
              <a:gd fmla="val 1428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8"/>
          <p:cNvSpPr txBox="1"/>
          <p:nvPr/>
        </p:nvSpPr>
        <p:spPr>
          <a:xfrm>
            <a:off x="4736592" y="452628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OPTIMIZE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6" name="Google Shape;706;p28"/>
          <p:cNvCxnSpPr/>
          <p:nvPr/>
        </p:nvCxnSpPr>
        <p:spPr>
          <a:xfrm>
            <a:off x="6537960" y="484632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28"/>
          <p:cNvSpPr/>
          <p:nvPr/>
        </p:nvSpPr>
        <p:spPr>
          <a:xfrm>
            <a:off x="6739128" y="4526280"/>
            <a:ext cx="1783080" cy="640080"/>
          </a:xfrm>
          <a:prstGeom prst="roundRect">
            <a:avLst>
              <a:gd fmla="val 14286" name="adj"/>
            </a:avLst>
          </a:prstGeom>
          <a:solidFill>
            <a:srgbClr val="16364F"/>
          </a:solidFill>
          <a:ln cap="flat" cmpd="sng" w="12700">
            <a:solidFill>
              <a:srgbClr val="1E40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28"/>
          <p:cNvSpPr txBox="1"/>
          <p:nvPr/>
        </p:nvSpPr>
        <p:spPr>
          <a:xfrm>
            <a:off x="6739128" y="452628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09" name="Google Shape;709;p28"/>
          <p:cNvCxnSpPr/>
          <p:nvPr/>
        </p:nvCxnSpPr>
        <p:spPr>
          <a:xfrm>
            <a:off x="8540496" y="484632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0E938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0" name="Google Shape;710;p28"/>
          <p:cNvSpPr/>
          <p:nvPr/>
        </p:nvSpPr>
        <p:spPr>
          <a:xfrm>
            <a:off x="8741664" y="4526280"/>
            <a:ext cx="1783080" cy="640080"/>
          </a:xfrm>
          <a:prstGeom prst="roundRect">
            <a:avLst>
              <a:gd fmla="val 14286" name="adj"/>
            </a:avLst>
          </a:prstGeom>
          <a:solidFill>
            <a:srgbClr val="2DD4BF"/>
          </a:solidFill>
          <a:ln cap="flat" cmpd="sng" w="12700">
            <a:solidFill>
              <a:srgbClr val="2DD4B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28"/>
          <p:cNvSpPr txBox="1"/>
          <p:nvPr/>
        </p:nvSpPr>
        <p:spPr>
          <a:xfrm>
            <a:off x="8741664" y="4526280"/>
            <a:ext cx="1783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131F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06131F"/>
                </a:solidFill>
                <a:latin typeface="Arial"/>
                <a:ea typeface="Arial"/>
                <a:cs typeface="Arial"/>
                <a:sym typeface="Arial"/>
              </a:rPr>
              <a:t>DELIVER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8"/>
          <p:cNvSpPr txBox="1"/>
          <p:nvPr/>
        </p:nvSpPr>
        <p:spPr>
          <a:xfrm>
            <a:off x="777240" y="55778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D4B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2DD4BF"/>
                </a:solidFill>
                <a:latin typeface="Arial"/>
                <a:ea typeface="Arial"/>
                <a:cs typeface="Arial"/>
                <a:sym typeface="Arial"/>
              </a:rPr>
              <a:t>CLIENT DISCUSSION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8"/>
          <p:cNvSpPr txBox="1"/>
          <p:nvPr/>
        </p:nvSpPr>
        <p:spPr>
          <a:xfrm>
            <a:off x="777240" y="5870448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Thank you — we welcome your questions.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28"/>
          <p:cNvSpPr txBox="1"/>
          <p:nvPr/>
        </p:nvSpPr>
        <p:spPr>
          <a:xfrm>
            <a:off x="548640" y="632764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LOGIFLOWS  •  SMART LOGISTICS ORCHESTRATION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28"/>
          <p:cNvSpPr txBox="1"/>
          <p:nvPr/>
        </p:nvSpPr>
        <p:spPr>
          <a:xfrm>
            <a:off x="10698480" y="6327648"/>
            <a:ext cx="9418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279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2798D"/>
                </a:solidFill>
                <a:latin typeface="Calibri"/>
                <a:ea typeface="Calibri"/>
                <a:cs typeface="Calibri"/>
                <a:sym typeface="Calibri"/>
              </a:rPr>
              <a:t>26 / 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9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3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8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2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7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1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450"/>
                                        <p:tgtEl>
                                          <p:spTgt spid="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