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Aptos Display"/>
              </a:rPr>
              <a:t>LOGIFLOWS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" y="1325880"/>
            <a:ext cx="2423160" cy="310896"/>
          </a:xfrm>
          <a:prstGeom prst="roundRect">
            <a:avLst/>
          </a:prstGeom>
          <a:solidFill>
            <a:srgbClr val="24CBBE"/>
          </a:solidFill>
          <a:ln>
            <a:solidFill>
              <a:srgbClr val="24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335024"/>
            <a:ext cx="2423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SMART LOGISTICS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920240"/>
            <a:ext cx="67665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500" b="1">
                <a:solidFill>
                  <a:srgbClr val="F8FAFC"/>
                </a:solidFill>
                <a:latin typeface="Aptos Display"/>
              </a:rPr>
              <a:t>One connected journey.
Many logistics partners.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337560"/>
            <a:ext cx="6583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7B4C7"/>
                </a:solidFill>
                <a:latin typeface="Aptos"/>
              </a:rPr>
              <a:t>A unified web + Android platform for parcel booking, partner coordination, intelligent assignment, route optimization, delay-risk prediction, tracking and automated communication.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828800"/>
            <a:ext cx="1417320" cy="658368"/>
          </a:xfrm>
          <a:prstGeom prst="roundRect">
            <a:avLst/>
          </a:prstGeom>
          <a:solidFill>
            <a:srgbClr val="122239"/>
          </a:solidFill>
          <a:ln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91272" y="1901952"/>
            <a:ext cx="12710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Customer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64040" y="3246120"/>
            <a:ext cx="1417320" cy="658368"/>
          </a:xfrm>
          <a:prstGeom prst="roundRect">
            <a:avLst/>
          </a:prstGeom>
          <a:solidFill>
            <a:srgbClr val="122239"/>
          </a:solidFill>
          <a:ln>
            <a:solidFill>
              <a:srgbClr val="24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37192" y="3319272"/>
            <a:ext cx="12710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Local Partner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828800"/>
            <a:ext cx="1417320" cy="658368"/>
          </a:xfrm>
          <a:prstGeom prst="roundRect">
            <a:avLst/>
          </a:prstGeom>
          <a:solidFill>
            <a:srgbClr val="122239"/>
          </a:solidFill>
          <a:ln>
            <a:solidFill>
              <a:srgbClr val="2DC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91272" y="1901952"/>
            <a:ext cx="12710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Destination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3246120"/>
            <a:ext cx="1417320" cy="658368"/>
          </a:xfrm>
          <a:prstGeom prst="roundRect">
            <a:avLst/>
          </a:prstGeom>
          <a:solidFill>
            <a:srgbClr val="122239"/>
          </a:solidFill>
          <a:ln>
            <a:solidFill>
              <a:srgbClr val="F5A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37192" y="3319272"/>
            <a:ext cx="12710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Receiver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35440" y="2157984"/>
            <a:ext cx="201168" cy="0"/>
          </a:xfrm>
          <a:prstGeom prst="line">
            <a:avLst/>
          </a:prstGeom>
          <a:ln w="25400">
            <a:solidFill>
              <a:srgbClr val="24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9098280" y="2514600"/>
            <a:ext cx="1069848" cy="1051560"/>
          </a:xfrm>
          <a:prstGeom prst="line">
            <a:avLst/>
          </a:prstGeom>
          <a:ln w="25400">
            <a:solidFill>
              <a:srgbClr val="24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235440" y="3941063"/>
            <a:ext cx="201168" cy="0"/>
          </a:xfrm>
          <a:prstGeom prst="line">
            <a:avLst/>
          </a:prstGeom>
          <a:ln w="25400">
            <a:solidFill>
              <a:srgbClr val="24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49808" y="608076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4CBBE"/>
                </a:solidFill>
                <a:latin typeface="Aptos"/>
              </a:rPr>
              <a:t>CLIENT SOLUTION 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7B4C7"/>
                </a:solidFill>
                <a:latin typeface="Aptos"/>
              </a:rPr>
              <a:t>LOGISTICS ORCHESTRATION • SOLUTION PROPOSAL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7B4C7"/>
                </a:solidFill>
                <a:latin typeface="Aptos"/>
              </a:rPr>
              <a:t>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 Display"/>
              </a:rPr>
              <a:t>The problem we are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7B4C7"/>
                </a:solidFill>
                <a:latin typeface="Aptos"/>
              </a:rPr>
              <a:t>Fragmented logistics operations create friction across the parcel journey.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389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4CBBE"/>
                </a:solidFill>
                <a:latin typeface="Aptos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429000" cy="4251960"/>
          </a:xfrm>
          <a:prstGeom prst="roundRect">
            <a:avLst/>
          </a:prstGeom>
          <a:solidFill>
            <a:srgbClr val="122239"/>
          </a:solidFill>
          <a:ln>
            <a:solidFill>
              <a:srgbClr val="12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6479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 Display"/>
              </a:rPr>
              <a:t>Today’s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203704"/>
            <a:ext cx="3044952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Multiple branches, employees and vehicles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Manual assignment and coordination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Different courier partners use different workflows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Limited visibility across handoffs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Route and capacity decisions are difficult at scale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429000" cy="4251960"/>
          </a:xfrm>
          <a:prstGeom prst="roundRect">
            <a:avLst/>
          </a:prstGeom>
          <a:solidFill>
            <a:srgbClr val="122239"/>
          </a:solidFill>
          <a:ln>
            <a:solidFill>
              <a:srgbClr val="12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76479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 Display"/>
              </a:rPr>
              <a:t>Customer pain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203704"/>
            <a:ext cx="3044952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Unclear parcel status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Too many disconnected updates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Delayed notifications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Difficult tracking across partners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No single view of the journey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00200"/>
            <a:ext cx="3429000" cy="4251960"/>
          </a:xfrm>
          <a:prstGeom prst="roundRect">
            <a:avLst/>
          </a:prstGeom>
          <a:solidFill>
            <a:srgbClr val="122239"/>
          </a:solidFill>
          <a:ln>
            <a:solidFill>
              <a:srgbClr val="12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8" y="176479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 Display"/>
              </a:rPr>
              <a:t>Operational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203704"/>
            <a:ext cx="3044952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No shared parcel identity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Partner-to-partner handoffs are fragmented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Manual intervention for exceptions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Data is not coordinated in one platform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Optimization opportunities are missed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7B4C7"/>
                </a:solidFill>
                <a:latin typeface="Aptos"/>
              </a:rPr>
              <a:t>LOGISTICS ORCHESTRATION • SOLUTION PROPOSAL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7B4C7"/>
                </a:solidFill>
                <a:latin typeface="Aptos"/>
              </a:rP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 Display"/>
              </a:rPr>
              <a:t>Our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7B4C7"/>
                </a:solidFill>
                <a:latin typeface="Aptos"/>
              </a:rPr>
              <a:t>A multi-tenant logistics orchestration layer connecting independent courier partners.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389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4CBBE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4CBBE"/>
                </a:solidFill>
                <a:latin typeface="Aptos Display"/>
              </a:rPr>
              <a:t>LOGIFLOWS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50292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8FAFC"/>
                </a:solidFill>
                <a:latin typeface="Aptos Display"/>
              </a:rPr>
              <a:t>Different companies can handle different legs of a parcel journey — while the customer experiences one connected delivery.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17320"/>
            <a:ext cx="1508760" cy="658368"/>
          </a:xfrm>
          <a:prstGeom prst="roundRect">
            <a:avLst/>
          </a:prstGeom>
          <a:solidFill>
            <a:srgbClr val="122239"/>
          </a:solidFill>
          <a:ln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490472"/>
            <a:ext cx="136245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Customer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960120"/>
            <a:ext cx="1508760" cy="658368"/>
          </a:xfrm>
          <a:prstGeom prst="roundRect">
            <a:avLst/>
          </a:prstGeom>
          <a:solidFill>
            <a:srgbClr val="122239"/>
          </a:solidFill>
          <a:ln>
            <a:solidFill>
              <a:srgbClr val="24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22792" y="1033272"/>
            <a:ext cx="136245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Partner 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1874519"/>
            <a:ext cx="1508760" cy="658368"/>
          </a:xfrm>
          <a:prstGeom prst="roundRect">
            <a:avLst/>
          </a:prstGeom>
          <a:solidFill>
            <a:srgbClr val="122239"/>
          </a:solidFill>
          <a:ln>
            <a:solidFill>
              <a:srgbClr val="2DC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22792" y="1947672"/>
            <a:ext cx="136245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Partner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2788920"/>
            <a:ext cx="1508760" cy="658368"/>
          </a:xfrm>
          <a:prstGeom prst="roundRect">
            <a:avLst/>
          </a:prstGeom>
          <a:solidFill>
            <a:srgbClr val="122239"/>
          </a:solidFill>
          <a:ln>
            <a:solidFill>
              <a:srgbClr val="F5A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22792" y="2862072"/>
            <a:ext cx="136245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Partner 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794760"/>
            <a:ext cx="1508760" cy="658368"/>
          </a:xfrm>
          <a:prstGeom prst="roundRect">
            <a:avLst/>
          </a:prstGeom>
          <a:solidFill>
            <a:srgbClr val="122239"/>
          </a:solidFill>
          <a:ln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867912"/>
            <a:ext cx="136245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Receiver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331720"/>
            <a:ext cx="1508760" cy="868680"/>
          </a:xfrm>
          <a:prstGeom prst="roundRect">
            <a:avLst/>
          </a:prstGeom>
          <a:solidFill>
            <a:srgbClr val="122239"/>
          </a:solidFill>
          <a:ln>
            <a:solidFill>
              <a:srgbClr val="24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395728"/>
            <a:ext cx="1417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UNIFIED
PARCEL ID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7909560" y="1298448"/>
            <a:ext cx="594360" cy="448056"/>
          </a:xfrm>
          <a:prstGeom prst="line">
            <a:avLst/>
          </a:prstGeom>
          <a:ln w="25400">
            <a:solidFill>
              <a:srgbClr val="24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909560" y="2212848"/>
            <a:ext cx="594360" cy="448056"/>
          </a:xfrm>
          <a:prstGeom prst="line">
            <a:avLst/>
          </a:prstGeom>
          <a:ln w="25400">
            <a:solidFill>
              <a:srgbClr val="24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909560" y="2788920"/>
            <a:ext cx="594360" cy="338328"/>
          </a:xfrm>
          <a:prstGeom prst="line">
            <a:avLst/>
          </a:prstGeom>
          <a:ln w="25400">
            <a:solidFill>
              <a:srgbClr val="24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7909560" y="3127248"/>
            <a:ext cx="594360" cy="987552"/>
          </a:xfrm>
          <a:prstGeom prst="line">
            <a:avLst/>
          </a:prstGeom>
          <a:ln w="25400">
            <a:solidFill>
              <a:srgbClr val="24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178040" y="3246120"/>
            <a:ext cx="0" cy="548640"/>
          </a:xfrm>
          <a:prstGeom prst="line">
            <a:avLst/>
          </a:prstGeom>
          <a:ln w="25400">
            <a:solidFill>
              <a:srgbClr val="24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7B4C7"/>
                </a:solidFill>
                <a:latin typeface="Aptos"/>
              </a:rPr>
              <a:t>LOGISTICS ORCHESTRATION • SOLUTION PROPOSAL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7B4C7"/>
                </a:solidFill>
                <a:latin typeface="Aptos"/>
              </a:rP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 Display"/>
              </a:rPr>
              <a:t>End-to-end parcel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7B4C7"/>
                </a:solidFill>
                <a:latin typeface="Aptos"/>
              </a:rPr>
              <a:t>One lifecycle from booking to proof of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389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4CBBE"/>
                </a:solidFill>
                <a:latin typeface="Aptos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353312" cy="749808"/>
          </a:xfrm>
          <a:prstGeom prst="roundRect">
            <a:avLst/>
          </a:prstGeom>
          <a:solidFill>
            <a:srgbClr val="122239"/>
          </a:solidFill>
          <a:ln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901952"/>
            <a:ext cx="120700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BOOK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56232" y="2203704"/>
            <a:ext cx="274320" cy="0"/>
          </a:xfrm>
          <a:prstGeom prst="line">
            <a:avLst/>
          </a:prstGeom>
          <a:ln w="25400">
            <a:solidFill>
              <a:srgbClr val="24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67128" y="1828800"/>
            <a:ext cx="1353312" cy="749808"/>
          </a:xfrm>
          <a:prstGeom prst="roundRect">
            <a:avLst/>
          </a:prstGeom>
          <a:solidFill>
            <a:srgbClr val="122239"/>
          </a:solidFill>
          <a:ln>
            <a:solidFill>
              <a:srgbClr val="24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1901952"/>
            <a:ext cx="120700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PICKUP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20440" y="2203704"/>
            <a:ext cx="274320" cy="0"/>
          </a:xfrm>
          <a:prstGeom prst="line">
            <a:avLst/>
          </a:prstGeom>
          <a:ln w="25400">
            <a:solidFill>
              <a:srgbClr val="24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31336" y="1828800"/>
            <a:ext cx="1353312" cy="749808"/>
          </a:xfrm>
          <a:prstGeom prst="roundRect">
            <a:avLst/>
          </a:prstGeom>
          <a:solidFill>
            <a:srgbClr val="122239"/>
          </a:solidFill>
          <a:ln>
            <a:solidFill>
              <a:srgbClr val="2DC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04488" y="1901952"/>
            <a:ext cx="120700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ORIGIN HUB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184648" y="2203704"/>
            <a:ext cx="274320" cy="0"/>
          </a:xfrm>
          <a:prstGeom prst="line">
            <a:avLst/>
          </a:prstGeom>
          <a:ln w="25400">
            <a:solidFill>
              <a:srgbClr val="24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95544" y="1828800"/>
            <a:ext cx="1353312" cy="749808"/>
          </a:xfrm>
          <a:prstGeom prst="roundRect">
            <a:avLst/>
          </a:prstGeom>
          <a:solidFill>
            <a:srgbClr val="122239"/>
          </a:solidFill>
          <a:ln>
            <a:solidFill>
              <a:srgbClr val="F5A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68696" y="1901952"/>
            <a:ext cx="120700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VEHICLE + ROUTE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48856" y="2203704"/>
            <a:ext cx="274320" cy="0"/>
          </a:xfrm>
          <a:prstGeom prst="line">
            <a:avLst/>
          </a:prstGeom>
          <a:ln w="25400">
            <a:solidFill>
              <a:srgbClr val="24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159752" y="1828800"/>
            <a:ext cx="1353312" cy="749808"/>
          </a:xfrm>
          <a:prstGeom prst="roundRect">
            <a:avLst/>
          </a:prstGeom>
          <a:solidFill>
            <a:srgbClr val="122239"/>
          </a:solidFill>
          <a:ln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32904" y="1901952"/>
            <a:ext cx="120700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DESTINATION HUB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13064" y="2203704"/>
            <a:ext cx="274320" cy="0"/>
          </a:xfrm>
          <a:prstGeom prst="line">
            <a:avLst/>
          </a:prstGeom>
          <a:ln w="25400">
            <a:solidFill>
              <a:srgbClr val="24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823960" y="1828800"/>
            <a:ext cx="1353312" cy="749808"/>
          </a:xfrm>
          <a:prstGeom prst="roundRect">
            <a:avLst/>
          </a:prstGeom>
          <a:solidFill>
            <a:srgbClr val="122239"/>
          </a:solidFill>
          <a:ln>
            <a:solidFill>
              <a:srgbClr val="24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97112" y="1901952"/>
            <a:ext cx="120700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LAST MILE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177272" y="2203704"/>
            <a:ext cx="274320" cy="0"/>
          </a:xfrm>
          <a:prstGeom prst="line">
            <a:avLst/>
          </a:prstGeom>
          <a:ln w="25400">
            <a:solidFill>
              <a:srgbClr val="24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488168" y="1828800"/>
            <a:ext cx="1353312" cy="749808"/>
          </a:xfrm>
          <a:prstGeom prst="roundRect">
            <a:avLst/>
          </a:prstGeom>
          <a:solidFill>
            <a:srgbClr val="122239"/>
          </a:solidFill>
          <a:ln>
            <a:solidFill>
              <a:srgbClr val="2DC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61320" y="1901952"/>
            <a:ext cx="120700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DELIVERED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15468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At every handoff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703320"/>
            <a:ext cx="2468880" cy="1417320"/>
          </a:xfrm>
          <a:prstGeom prst="roundRect">
            <a:avLst/>
          </a:prstGeom>
          <a:solidFill>
            <a:srgbClr val="122239"/>
          </a:solidFill>
          <a:ln>
            <a:solidFill>
              <a:srgbClr val="12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3703320"/>
            <a:ext cx="64008" cy="1417320"/>
          </a:xfrm>
          <a:prstGeom prst="rect">
            <a:avLst/>
          </a:prstGeom>
          <a:solidFill>
            <a:srgbClr val="1D6FFF"/>
          </a:solidFill>
          <a:ln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" y="388620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 Display"/>
              </a:rPr>
              <a:t>Status update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" y="4270248"/>
            <a:ext cx="2103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7"/>
                </a:solidFill>
                <a:latin typeface="Aptos"/>
              </a:rPr>
              <a:t>Recorded centrally and shared with the right role.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0" y="3703320"/>
            <a:ext cx="2468880" cy="1417320"/>
          </a:xfrm>
          <a:prstGeom prst="roundRect">
            <a:avLst/>
          </a:prstGeom>
          <a:solidFill>
            <a:srgbClr val="122239"/>
          </a:solidFill>
          <a:ln>
            <a:solidFill>
              <a:srgbClr val="12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74720" y="3703320"/>
            <a:ext cx="64008" cy="1417320"/>
          </a:xfrm>
          <a:prstGeom prst="rect">
            <a:avLst/>
          </a:prstGeom>
          <a:solidFill>
            <a:srgbClr val="24CBBE"/>
          </a:solidFill>
          <a:ln>
            <a:solidFill>
              <a:srgbClr val="24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75887" y="388620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 Display"/>
              </a:rPr>
              <a:t>Tracking event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75887" y="4270248"/>
            <a:ext cx="2103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7"/>
                </a:solidFill>
                <a:latin typeface="Aptos"/>
              </a:rPr>
              <a:t>Recorded centrally and shared with the right role.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3703320"/>
            <a:ext cx="2468880" cy="1417320"/>
          </a:xfrm>
          <a:prstGeom prst="roundRect">
            <a:avLst/>
          </a:prstGeom>
          <a:solidFill>
            <a:srgbClr val="122239"/>
          </a:solidFill>
          <a:ln>
            <a:solidFill>
              <a:srgbClr val="12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3703320"/>
            <a:ext cx="64008" cy="1417320"/>
          </a:xfrm>
          <a:prstGeom prst="rect">
            <a:avLst/>
          </a:prstGeom>
          <a:solidFill>
            <a:srgbClr val="2DC989"/>
          </a:solidFill>
          <a:ln>
            <a:solidFill>
              <a:srgbClr val="2DC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64807" y="388620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 Display"/>
              </a:rPr>
              <a:t>Assignment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4807" y="4270248"/>
            <a:ext cx="2103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7"/>
                </a:solidFill>
                <a:latin typeface="Aptos"/>
              </a:rPr>
              <a:t>Recorded centrally and shared with the right role.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59" y="3703320"/>
            <a:ext cx="2468880" cy="1417320"/>
          </a:xfrm>
          <a:prstGeom prst="roundRect">
            <a:avLst/>
          </a:prstGeom>
          <a:solidFill>
            <a:srgbClr val="122239"/>
          </a:solidFill>
          <a:ln>
            <a:solidFill>
              <a:srgbClr val="12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52559" y="3703320"/>
            <a:ext cx="64008" cy="1417320"/>
          </a:xfrm>
          <a:prstGeom prst="rect">
            <a:avLst/>
          </a:prstGeom>
          <a:solidFill>
            <a:srgbClr val="F5AE3E"/>
          </a:solidFill>
          <a:ln>
            <a:solidFill>
              <a:srgbClr val="F5A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53728" y="388620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 Display"/>
              </a:rPr>
              <a:t>Notification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4270248"/>
            <a:ext cx="2103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7"/>
                </a:solidFill>
                <a:latin typeface="Aptos"/>
              </a:rPr>
              <a:t>Recorded centrally and shared with the right role.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7B4C7"/>
                </a:solidFill>
                <a:latin typeface="Aptos"/>
              </a:rPr>
              <a:t>LOGISTICS ORCHESTRATION • SOLUTION PROPOSAL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7B4C7"/>
                </a:solidFill>
                <a:latin typeface="Aptos"/>
              </a:rP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 Display"/>
              </a:rPr>
              <a:t>Customer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7B4C7"/>
                </a:solidFill>
                <a:latin typeface="Aptos"/>
              </a:rPr>
              <a:t>One booking. One tracking identity. Clear milestones.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389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4CBBE"/>
                </a:solidFill>
                <a:latin typeface="Aptos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200400" cy="4480560"/>
          </a:xfrm>
          <a:prstGeom prst="roundRect">
            <a:avLst/>
          </a:prstGeom>
          <a:solidFill>
            <a:srgbClr val="122239"/>
          </a:solidFill>
          <a:ln>
            <a:solidFill>
              <a:srgbClr val="12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73351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 Display"/>
              </a:rPr>
              <a:t>Customer 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112264"/>
            <a:ext cx="2816352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Book a parcel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View booking and receiver details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Track the parcel in real time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View status and delivery progress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Receive important notifications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Access delivery confirmation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508760"/>
            <a:ext cx="7269480" cy="4480560"/>
          </a:xfrm>
          <a:prstGeom prst="roundRect">
            <a:avLst/>
          </a:prstGeom>
          <a:solidFill>
            <a:srgbClr val="122239"/>
          </a:solidFill>
          <a:ln>
            <a:solidFill>
              <a:srgbClr val="12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78308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4CBBE"/>
                </a:solidFill>
                <a:latin typeface="Aptos"/>
              </a:rPr>
              <a:t>TRACKING TIMELINE</a:t>
            </a:r>
          </a:p>
        </p:txBody>
      </p:sp>
      <p:sp>
        <p:nvSpPr>
          <p:cNvPr id="10" name="Oval 9"/>
          <p:cNvSpPr/>
          <p:nvPr/>
        </p:nvSpPr>
        <p:spPr>
          <a:xfrm>
            <a:off x="4572000" y="2240280"/>
            <a:ext cx="164592" cy="164592"/>
          </a:xfrm>
          <a:prstGeom prst="ellipse">
            <a:avLst/>
          </a:prstGeom>
          <a:solidFill>
            <a:srgbClr val="24CBBE"/>
          </a:solidFill>
          <a:ln>
            <a:solidFill>
              <a:srgbClr val="24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654296" y="2404872"/>
            <a:ext cx="0" cy="274320"/>
          </a:xfrm>
          <a:prstGeom prst="line">
            <a:avLst/>
          </a:prstGeom>
          <a:ln w="15240">
            <a:solidFill>
              <a:srgbClr val="A7B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983480" y="2212848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8FAFC"/>
                </a:solidFill>
                <a:latin typeface="Aptos"/>
              </a:rPr>
              <a:t>Booking confirmed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0" y="2679192"/>
            <a:ext cx="164592" cy="164592"/>
          </a:xfrm>
          <a:prstGeom prst="ellipse">
            <a:avLst/>
          </a:prstGeom>
          <a:solidFill>
            <a:srgbClr val="24CBBE"/>
          </a:solidFill>
          <a:ln>
            <a:solidFill>
              <a:srgbClr val="24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4654296" y="2843784"/>
            <a:ext cx="0" cy="274320"/>
          </a:xfrm>
          <a:prstGeom prst="line">
            <a:avLst/>
          </a:prstGeom>
          <a:ln w="15240">
            <a:solidFill>
              <a:srgbClr val="A7B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983480" y="265176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8FAFC"/>
                </a:solidFill>
                <a:latin typeface="Aptos"/>
              </a:rPr>
              <a:t>Pickup assigned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0" y="3118104"/>
            <a:ext cx="164592" cy="164592"/>
          </a:xfrm>
          <a:prstGeom prst="ellipse">
            <a:avLst/>
          </a:prstGeom>
          <a:solidFill>
            <a:srgbClr val="24CBBE"/>
          </a:solidFill>
          <a:ln>
            <a:solidFill>
              <a:srgbClr val="24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654296" y="3282696"/>
            <a:ext cx="0" cy="274320"/>
          </a:xfrm>
          <a:prstGeom prst="line">
            <a:avLst/>
          </a:prstGeom>
          <a:ln w="15240">
            <a:solidFill>
              <a:srgbClr val="A7B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983480" y="30906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8FAFC"/>
                </a:solidFill>
                <a:latin typeface="Aptos"/>
              </a:rPr>
              <a:t>Picked up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0" y="3557016"/>
            <a:ext cx="164592" cy="164592"/>
          </a:xfrm>
          <a:prstGeom prst="ellipse">
            <a:avLst/>
          </a:prstGeom>
          <a:solidFill>
            <a:srgbClr val="24CBBE"/>
          </a:solidFill>
          <a:ln>
            <a:solidFill>
              <a:srgbClr val="24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4654296" y="3721608"/>
            <a:ext cx="0" cy="274320"/>
          </a:xfrm>
          <a:prstGeom prst="line">
            <a:avLst/>
          </a:prstGeom>
          <a:ln w="15240">
            <a:solidFill>
              <a:srgbClr val="A7B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983480" y="3529584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7"/>
                </a:solidFill>
                <a:latin typeface="Aptos"/>
              </a:rPr>
              <a:t>Origin hub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0" y="3995928"/>
            <a:ext cx="164592" cy="164592"/>
          </a:xfrm>
          <a:prstGeom prst="ellipse">
            <a:avLst/>
          </a:prstGeom>
          <a:solidFill>
            <a:srgbClr val="24CBBE"/>
          </a:solidFill>
          <a:ln>
            <a:solidFill>
              <a:srgbClr val="24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4654296" y="4160520"/>
            <a:ext cx="0" cy="274320"/>
          </a:xfrm>
          <a:prstGeom prst="line">
            <a:avLst/>
          </a:prstGeom>
          <a:ln w="15240">
            <a:solidFill>
              <a:srgbClr val="A7B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983480" y="3968496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7"/>
                </a:solidFill>
                <a:latin typeface="Aptos"/>
              </a:rPr>
              <a:t>In transit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0" y="4434840"/>
            <a:ext cx="164592" cy="164592"/>
          </a:xfrm>
          <a:prstGeom prst="ellipse">
            <a:avLst/>
          </a:prstGeom>
          <a:solidFill>
            <a:srgbClr val="24CBBE"/>
          </a:solidFill>
          <a:ln>
            <a:solidFill>
              <a:srgbClr val="24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4654296" y="4599431"/>
            <a:ext cx="0" cy="274321"/>
          </a:xfrm>
          <a:prstGeom prst="line">
            <a:avLst/>
          </a:prstGeom>
          <a:ln w="15240">
            <a:solidFill>
              <a:srgbClr val="A7B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983480" y="4407407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7"/>
                </a:solidFill>
                <a:latin typeface="Aptos"/>
              </a:rPr>
              <a:t>Destination hub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0" y="4873752"/>
            <a:ext cx="164592" cy="164592"/>
          </a:xfrm>
          <a:prstGeom prst="ellipse">
            <a:avLst/>
          </a:prstGeom>
          <a:solidFill>
            <a:srgbClr val="24CBBE"/>
          </a:solidFill>
          <a:ln>
            <a:solidFill>
              <a:srgbClr val="24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4654296" y="5038344"/>
            <a:ext cx="0" cy="274320"/>
          </a:xfrm>
          <a:prstGeom prst="line">
            <a:avLst/>
          </a:prstGeom>
          <a:ln w="15240">
            <a:solidFill>
              <a:srgbClr val="A7B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983480" y="484632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7"/>
                </a:solidFill>
                <a:latin typeface="Aptos"/>
              </a:rPr>
              <a:t>Out for delivery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0" y="5312664"/>
            <a:ext cx="164592" cy="164592"/>
          </a:xfrm>
          <a:prstGeom prst="ellipse">
            <a:avLst/>
          </a:prstGeom>
          <a:solidFill>
            <a:srgbClr val="24CBBE"/>
          </a:solidFill>
          <a:ln>
            <a:solidFill>
              <a:srgbClr val="24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83480" y="528523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7"/>
                </a:solidFill>
                <a:latin typeface="Aptos"/>
              </a:rPr>
              <a:t>Delivered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7B4C7"/>
                </a:solidFill>
                <a:latin typeface="Aptos"/>
              </a:rPr>
              <a:t>LOGISTICS ORCHESTRATION • SOLUTION PROPOSAL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7B4C7"/>
                </a:solidFill>
                <a:latin typeface="Aptos"/>
              </a:rP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 Display"/>
              </a:rPr>
              <a:t>Pickup &amp; delivery employee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7B4C7"/>
                </a:solidFill>
                <a:latin typeface="Aptos"/>
              </a:rPr>
              <a:t>Assignments are pushed to the right person with clear next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389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4CBBE"/>
                </a:solidFill>
                <a:latin typeface="Aptos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1600200" cy="685800"/>
          </a:xfrm>
          <a:prstGeom prst="roundRect">
            <a:avLst/>
          </a:prstGeom>
          <a:solidFill>
            <a:srgbClr val="122239"/>
          </a:solidFill>
          <a:ln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993392"/>
            <a:ext cx="1453896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Assignment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258568"/>
            <a:ext cx="502920" cy="0"/>
          </a:xfrm>
          <a:prstGeom prst="line">
            <a:avLst/>
          </a:prstGeom>
          <a:ln w="25400">
            <a:solidFill>
              <a:srgbClr val="24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34640" y="1920240"/>
            <a:ext cx="1600200" cy="685800"/>
          </a:xfrm>
          <a:prstGeom prst="roundRect">
            <a:avLst/>
          </a:prstGeom>
          <a:solidFill>
            <a:srgbClr val="122239"/>
          </a:solidFill>
          <a:ln>
            <a:solidFill>
              <a:srgbClr val="24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07792" y="1993392"/>
            <a:ext cx="1453896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Accept / Reject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34840" y="2258568"/>
            <a:ext cx="502920" cy="0"/>
          </a:xfrm>
          <a:prstGeom prst="line">
            <a:avLst/>
          </a:prstGeom>
          <a:ln w="25400">
            <a:solidFill>
              <a:srgbClr val="24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983480" y="1920240"/>
            <a:ext cx="1600200" cy="685800"/>
          </a:xfrm>
          <a:prstGeom prst="roundRect">
            <a:avLst/>
          </a:prstGeom>
          <a:solidFill>
            <a:srgbClr val="122239"/>
          </a:solidFill>
          <a:ln>
            <a:solidFill>
              <a:srgbClr val="2DC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56632" y="1993392"/>
            <a:ext cx="1453896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Route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83680" y="2258568"/>
            <a:ext cx="502920" cy="0"/>
          </a:xfrm>
          <a:prstGeom prst="line">
            <a:avLst/>
          </a:prstGeom>
          <a:ln w="25400">
            <a:solidFill>
              <a:srgbClr val="24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132320" y="1920240"/>
            <a:ext cx="1600200" cy="685800"/>
          </a:xfrm>
          <a:prstGeom prst="roundRect">
            <a:avLst/>
          </a:prstGeom>
          <a:solidFill>
            <a:srgbClr val="122239"/>
          </a:solidFill>
          <a:ln>
            <a:solidFill>
              <a:srgbClr val="F5A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5472" y="1993392"/>
            <a:ext cx="1453896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Pickup / Deliver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32520" y="2258568"/>
            <a:ext cx="502920" cy="0"/>
          </a:xfrm>
          <a:prstGeom prst="line">
            <a:avLst/>
          </a:prstGeom>
          <a:ln w="25400">
            <a:solidFill>
              <a:srgbClr val="24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281160" y="1920240"/>
            <a:ext cx="1600200" cy="685800"/>
          </a:xfrm>
          <a:prstGeom prst="roundRect">
            <a:avLst/>
          </a:prstGeom>
          <a:solidFill>
            <a:srgbClr val="122239"/>
          </a:solidFill>
          <a:ln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54312" y="1993392"/>
            <a:ext cx="1453896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Proof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246120"/>
            <a:ext cx="4846320" cy="2194560"/>
          </a:xfrm>
          <a:prstGeom prst="roundRect">
            <a:avLst/>
          </a:prstGeom>
          <a:solidFill>
            <a:srgbClr val="122239"/>
          </a:solidFill>
          <a:ln>
            <a:solidFill>
              <a:srgbClr val="12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3410712"/>
            <a:ext cx="448055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 Display"/>
              </a:rPr>
              <a:t>Employee gets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3849624"/>
            <a:ext cx="4462272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Parcel details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Pickup/delivery location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Priority and route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Map-based navigation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246120"/>
            <a:ext cx="4846320" cy="2194560"/>
          </a:xfrm>
          <a:prstGeom prst="roundRect">
            <a:avLst/>
          </a:prstGeom>
          <a:solidFill>
            <a:srgbClr val="122239"/>
          </a:solidFill>
          <a:ln>
            <a:solidFill>
              <a:srgbClr val="12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3410712"/>
            <a:ext cx="448055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 Display"/>
              </a:rPr>
              <a:t>If rejected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3849624"/>
            <a:ext cx="4462272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Capture rejection reason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Trigger reassignment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Notify relevant admin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Keep an auditable 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7B4C7"/>
                </a:solidFill>
                <a:latin typeface="Aptos"/>
              </a:rPr>
              <a:t>LOGISTICS ORCHESTRATION • SOLUTION PROPOSAL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7B4C7"/>
                </a:solidFill>
                <a:latin typeface="Aptos"/>
              </a:rP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 Display"/>
              </a:rPr>
              <a:t>Company &amp; branch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7B4C7"/>
                </a:solidFill>
                <a:latin typeface="Aptos"/>
              </a:rPr>
              <a:t>Each connected courier company keeps control of its own operations.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389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4CBBE"/>
                </a:solidFill>
                <a:latin typeface="Aptos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337560" cy="4343400"/>
          </a:xfrm>
          <a:prstGeom prst="roundRect">
            <a:avLst/>
          </a:prstGeom>
          <a:solidFill>
            <a:srgbClr val="122239"/>
          </a:solidFill>
          <a:ln>
            <a:solidFill>
              <a:srgbClr val="12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 Display"/>
              </a:rPr>
              <a:t>Company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67712"/>
            <a:ext cx="822960" cy="310896"/>
          </a:xfrm>
          <a:prstGeom prst="roundRect">
            <a:avLst/>
          </a:prstGeom>
          <a:solidFill>
            <a:srgbClr val="1D6FFF"/>
          </a:solidFill>
          <a:ln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76856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78892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7B4C7"/>
                </a:solidFill>
                <a:latin typeface="Aptos"/>
              </a:rPr>
              <a:t>• Branches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291839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7B4C7"/>
                </a:solidFill>
                <a:latin typeface="Aptos"/>
              </a:rPr>
              <a:t>• Employees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79476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7B4C7"/>
                </a:solidFill>
                <a:latin typeface="Aptos"/>
              </a:rPr>
              <a:t>• Vehicles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29768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7B4C7"/>
                </a:solidFill>
                <a:latin typeface="Aptos"/>
              </a:rPr>
              <a:t>• Parcels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80060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7B4C7"/>
                </a:solidFill>
                <a:latin typeface="Aptos"/>
              </a:rPr>
              <a:t>• Manual override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508760"/>
            <a:ext cx="3337560" cy="4343400"/>
          </a:xfrm>
          <a:prstGeom prst="roundRect">
            <a:avLst/>
          </a:prstGeom>
          <a:solidFill>
            <a:srgbClr val="122239"/>
          </a:solidFill>
          <a:ln>
            <a:solidFill>
              <a:srgbClr val="12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7830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 Display"/>
              </a:rPr>
              <a:t>Company 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2267712"/>
            <a:ext cx="822960" cy="310896"/>
          </a:xfrm>
          <a:prstGeom prst="roundRect">
            <a:avLst/>
          </a:prstGeom>
          <a:solidFill>
            <a:srgbClr val="24CBBE"/>
          </a:solidFill>
          <a:ln>
            <a:solidFill>
              <a:srgbClr val="24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2276856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278892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7B4C7"/>
                </a:solidFill>
                <a:latin typeface="Aptos"/>
              </a:rPr>
              <a:t>• Branches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3291839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7B4C7"/>
                </a:solidFill>
                <a:latin typeface="Aptos"/>
              </a:rPr>
              <a:t>• Employees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379476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7B4C7"/>
                </a:solidFill>
                <a:latin typeface="Aptos"/>
              </a:rPr>
              <a:t>• Vehicles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429768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7B4C7"/>
                </a:solidFill>
                <a:latin typeface="Aptos"/>
              </a:rPr>
              <a:t>• Parcels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6592" y="480060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7B4C7"/>
                </a:solidFill>
                <a:latin typeface="Aptos"/>
              </a:rPr>
              <a:t>• Manual override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1508760"/>
            <a:ext cx="3337560" cy="4343400"/>
          </a:xfrm>
          <a:prstGeom prst="roundRect">
            <a:avLst/>
          </a:prstGeom>
          <a:solidFill>
            <a:srgbClr val="122239"/>
          </a:solidFill>
          <a:ln>
            <a:solidFill>
              <a:srgbClr val="12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17830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 Display"/>
              </a:rPr>
              <a:t>Company 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20" y="2267712"/>
            <a:ext cx="822960" cy="310896"/>
          </a:xfrm>
          <a:prstGeom prst="roundRect">
            <a:avLst/>
          </a:prstGeom>
          <a:solidFill>
            <a:srgbClr val="2DC989"/>
          </a:solidFill>
          <a:ln>
            <a:solidFill>
              <a:srgbClr val="2DC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2276856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ADMIN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1352" y="278892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7B4C7"/>
                </a:solidFill>
                <a:latin typeface="Aptos"/>
              </a:rPr>
              <a:t>• Branches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1352" y="3291839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7B4C7"/>
                </a:solidFill>
                <a:latin typeface="Aptos"/>
              </a:rPr>
              <a:t>• Employees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1352" y="379476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7B4C7"/>
                </a:solidFill>
                <a:latin typeface="Aptos"/>
              </a:rPr>
              <a:t>• Vehicles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1352" y="429768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7B4C7"/>
                </a:solidFill>
                <a:latin typeface="Aptos"/>
              </a:rPr>
              <a:t>• Parcels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31352" y="480060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7B4C7"/>
                </a:solidFill>
                <a:latin typeface="Aptos"/>
              </a:rPr>
              <a:t>• Manual override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61264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4CBBE"/>
                </a:solidFill>
                <a:latin typeface="Aptos"/>
              </a:rPr>
              <a:t>Multi-tenant design: shared platform, isolated company data and permissions.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7B4C7"/>
                </a:solidFill>
                <a:latin typeface="Aptos"/>
              </a:rPr>
              <a:t>LOGISTICS ORCHESTRATION • SOLUTION PROPOSAL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7B4C7"/>
                </a:solidFill>
                <a:latin typeface="Aptos"/>
              </a:rP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 Display"/>
              </a:rPr>
              <a:t>Intelligent vehicle &amp; route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7B4C7"/>
                </a:solidFill>
                <a:latin typeface="Aptos"/>
              </a:rPr>
              <a:t>The system plans the trip, not just the next parcel.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389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4CBBE"/>
                </a:solidFill>
                <a:latin typeface="Aptos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2057400" cy="640080"/>
          </a:xfrm>
          <a:prstGeom prst="roundRect">
            <a:avLst/>
          </a:prstGeom>
          <a:solidFill>
            <a:srgbClr val="122239"/>
          </a:solidFill>
          <a:ln>
            <a:solidFill>
              <a:srgbClr val="12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64008" cy="640080"/>
          </a:xfrm>
          <a:prstGeom prst="rect">
            <a:avLst/>
          </a:prstGeom>
          <a:solidFill>
            <a:srgbClr val="1D6FFF"/>
          </a:solidFill>
          <a:ln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91639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 Display"/>
              </a:rPr>
              <a:t>Destinations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075688"/>
            <a:ext cx="1691640" cy="-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7"/>
                </a:solidFill>
                <a:latin typeface="Aptos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79" y="1508760"/>
            <a:ext cx="2057400" cy="640080"/>
          </a:xfrm>
          <a:prstGeom prst="roundRect">
            <a:avLst/>
          </a:prstGeom>
          <a:solidFill>
            <a:srgbClr val="122239"/>
          </a:solidFill>
          <a:ln>
            <a:solidFill>
              <a:srgbClr val="12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26079" y="1508760"/>
            <a:ext cx="64008" cy="640080"/>
          </a:xfrm>
          <a:prstGeom prst="rect">
            <a:avLst/>
          </a:prstGeom>
          <a:solidFill>
            <a:srgbClr val="24CBBE"/>
          </a:solidFill>
          <a:ln>
            <a:solidFill>
              <a:srgbClr val="24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27248" y="1691639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 Display"/>
              </a:rPr>
              <a:t>Vehicle capacity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2075688"/>
            <a:ext cx="1691640" cy="-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7"/>
                </a:solidFill>
                <a:latin typeface="Aptos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508760"/>
            <a:ext cx="2057400" cy="640080"/>
          </a:xfrm>
          <a:prstGeom prst="roundRect">
            <a:avLst/>
          </a:prstGeom>
          <a:solidFill>
            <a:srgbClr val="122239"/>
          </a:solidFill>
          <a:ln>
            <a:solidFill>
              <a:srgbClr val="12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57800" y="1508760"/>
            <a:ext cx="64008" cy="640080"/>
          </a:xfrm>
          <a:prstGeom prst="rect">
            <a:avLst/>
          </a:prstGeom>
          <a:solidFill>
            <a:srgbClr val="2DC989"/>
          </a:solidFill>
          <a:ln>
            <a:solidFill>
              <a:srgbClr val="2DC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58968" y="1691639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 Display"/>
              </a:rPr>
              <a:t>Parcel priority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58968" y="2075688"/>
            <a:ext cx="1691640" cy="-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7"/>
                </a:solidFill>
                <a:latin typeface="Aptos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331720"/>
            <a:ext cx="2057400" cy="640080"/>
          </a:xfrm>
          <a:prstGeom prst="roundRect">
            <a:avLst/>
          </a:prstGeom>
          <a:solidFill>
            <a:srgbClr val="122239"/>
          </a:solidFill>
          <a:ln>
            <a:solidFill>
              <a:srgbClr val="12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2331720"/>
            <a:ext cx="64008" cy="640080"/>
          </a:xfrm>
          <a:prstGeom prst="rect">
            <a:avLst/>
          </a:prstGeom>
          <a:solidFill>
            <a:srgbClr val="F5AE3E"/>
          </a:solidFill>
          <a:ln>
            <a:solidFill>
              <a:srgbClr val="F5A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251460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 Display"/>
              </a:rPr>
              <a:t>Delivery deadlines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2898648"/>
            <a:ext cx="1691640" cy="-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7"/>
                </a:solidFill>
                <a:latin typeface="Aptos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79" y="2331720"/>
            <a:ext cx="2057400" cy="640080"/>
          </a:xfrm>
          <a:prstGeom prst="roundRect">
            <a:avLst/>
          </a:prstGeom>
          <a:solidFill>
            <a:srgbClr val="122239"/>
          </a:solidFill>
          <a:ln>
            <a:solidFill>
              <a:srgbClr val="12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26079" y="2331720"/>
            <a:ext cx="64008" cy="640080"/>
          </a:xfrm>
          <a:prstGeom prst="rect">
            <a:avLst/>
          </a:prstGeom>
          <a:solidFill>
            <a:srgbClr val="1D6FFF"/>
          </a:solidFill>
          <a:ln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27248" y="251460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 Display"/>
              </a:rPr>
              <a:t>Current location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27248" y="2898648"/>
            <a:ext cx="1691640" cy="-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7"/>
                </a:solidFill>
                <a:latin typeface="Aptos"/>
              </a:rPr>
              <a:t/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57800" y="2331720"/>
            <a:ext cx="2057400" cy="640080"/>
          </a:xfrm>
          <a:prstGeom prst="roundRect">
            <a:avLst/>
          </a:prstGeom>
          <a:solidFill>
            <a:srgbClr val="122239"/>
          </a:solidFill>
          <a:ln>
            <a:solidFill>
              <a:srgbClr val="12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257800" y="2331720"/>
            <a:ext cx="64008" cy="640080"/>
          </a:xfrm>
          <a:prstGeom prst="rect">
            <a:avLst/>
          </a:prstGeom>
          <a:solidFill>
            <a:srgbClr val="24CBBE"/>
          </a:solidFill>
          <a:ln>
            <a:solidFill>
              <a:srgbClr val="24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58968" y="251460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 Display"/>
              </a:rPr>
              <a:t>Travel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8968" y="2898648"/>
            <a:ext cx="1691640" cy="-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7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297180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4CBBE"/>
                </a:solidFill>
                <a:latin typeface="Aptos"/>
              </a:rPr>
              <a:t>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0" y="3474720"/>
            <a:ext cx="4846320" cy="1051560"/>
          </a:xfrm>
          <a:prstGeom prst="roundRect">
            <a:avLst/>
          </a:prstGeom>
          <a:solidFill>
            <a:srgbClr val="122239"/>
          </a:solidFill>
          <a:ln>
            <a:solidFill>
              <a:srgbClr val="24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94760" y="36576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 Display"/>
              </a:rPr>
              <a:t>ROUTE OPTIMIZER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0416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7B4C7"/>
                </a:solidFill>
                <a:latin typeface="Aptos"/>
              </a:rPr>
              <a:t>Feasible route + parcel sequence + vehicle load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457200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4CBBE"/>
                </a:solidFill>
                <a:latin typeface="Aptos"/>
              </a:rPr>
              <a:t>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074920"/>
            <a:ext cx="2834640" cy="713232"/>
          </a:xfrm>
          <a:prstGeom prst="roundRect">
            <a:avLst/>
          </a:prstGeom>
          <a:solidFill>
            <a:srgbClr val="122239"/>
          </a:solidFill>
          <a:ln>
            <a:solidFill>
              <a:srgbClr val="2DC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36592" y="5148072"/>
            <a:ext cx="2688336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Dispatch Plan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74519" y="5989320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7B4C7"/>
                </a:solidFill>
                <a:latin typeface="Aptos"/>
              </a:rPr>
              <a:t>The routing engine can use OpenStreetMap-based road data and a routing service; optimization applies your business constraints.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7B4C7"/>
                </a:solidFill>
                <a:latin typeface="Aptos"/>
              </a:rPr>
              <a:t>LOGISTICS ORCHESTRATION • SOLUTION PROPOSAL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7B4C7"/>
                </a:solidFill>
                <a:latin typeface="Aptos"/>
              </a:rP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 Display"/>
              </a:rPr>
              <a:t>How a single vehicle handles many destinations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7B4C7"/>
                </a:solidFill>
                <a:latin typeface="Aptos"/>
              </a:rPr>
              <a:t>Example: one van, many parcels, different priorities.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389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4CBBE"/>
                </a:solidFill>
                <a:latin typeface="Aptos"/>
              </a:rP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554480" cy="658368"/>
          </a:xfrm>
          <a:prstGeom prst="roundRect">
            <a:avLst/>
          </a:prstGeom>
          <a:solidFill>
            <a:srgbClr val="122239"/>
          </a:solidFill>
          <a:ln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901952"/>
            <a:ext cx="14081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Aruppukottai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94560" y="2157984"/>
            <a:ext cx="502920" cy="0"/>
          </a:xfrm>
          <a:prstGeom prst="line">
            <a:avLst/>
          </a:prstGeom>
          <a:ln w="25400">
            <a:solidFill>
              <a:srgbClr val="24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43200" y="1828800"/>
            <a:ext cx="1554480" cy="658368"/>
          </a:xfrm>
          <a:prstGeom prst="roundRect">
            <a:avLst/>
          </a:prstGeom>
          <a:solidFill>
            <a:srgbClr val="122239"/>
          </a:solidFill>
          <a:ln>
            <a:solidFill>
              <a:srgbClr val="24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16352" y="1901952"/>
            <a:ext cx="14081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Madurai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97680" y="2157984"/>
            <a:ext cx="502920" cy="0"/>
          </a:xfrm>
          <a:prstGeom prst="line">
            <a:avLst/>
          </a:prstGeom>
          <a:ln w="25400">
            <a:solidFill>
              <a:srgbClr val="24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892040" y="1828800"/>
            <a:ext cx="1554480" cy="658368"/>
          </a:xfrm>
          <a:prstGeom prst="roundRect">
            <a:avLst/>
          </a:prstGeom>
          <a:solidFill>
            <a:srgbClr val="122239"/>
          </a:solidFill>
          <a:ln>
            <a:solidFill>
              <a:srgbClr val="2DC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65192" y="1901952"/>
            <a:ext cx="14081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Vellore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46520" y="2157984"/>
            <a:ext cx="502920" cy="0"/>
          </a:xfrm>
          <a:prstGeom prst="line">
            <a:avLst/>
          </a:prstGeom>
          <a:ln w="25400">
            <a:solidFill>
              <a:srgbClr val="24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040880" y="1828800"/>
            <a:ext cx="1554480" cy="658368"/>
          </a:xfrm>
          <a:prstGeom prst="roundRect">
            <a:avLst/>
          </a:prstGeom>
          <a:solidFill>
            <a:srgbClr val="122239"/>
          </a:solidFill>
          <a:ln>
            <a:solidFill>
              <a:srgbClr val="F5A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4032" y="1901952"/>
            <a:ext cx="14081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Chennai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95360" y="2157984"/>
            <a:ext cx="502920" cy="0"/>
          </a:xfrm>
          <a:prstGeom prst="line">
            <a:avLst/>
          </a:prstGeom>
          <a:ln w="25400">
            <a:solidFill>
              <a:srgbClr val="24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89720" y="1828800"/>
            <a:ext cx="1554480" cy="658368"/>
          </a:xfrm>
          <a:prstGeom prst="roundRect">
            <a:avLst/>
          </a:prstGeom>
          <a:solidFill>
            <a:srgbClr val="122239"/>
          </a:solidFill>
          <a:ln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2872" y="1901952"/>
            <a:ext cx="14081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Chengalpattu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1546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Example logic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70332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4CBBE"/>
                </a:solidFill>
                <a:latin typeface="Apto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65760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7B4C7"/>
                </a:solidFill>
                <a:latin typeface="Aptos"/>
              </a:rPr>
              <a:t>Group parcels by compatible destination / corridor.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25196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4CBBE"/>
                </a:solidFill>
                <a:latin typeface="Apto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2062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7B4C7"/>
                </a:solidFill>
                <a:latin typeface="Aptos"/>
              </a:rPr>
              <a:t>Check capacity, deadlines and priority.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80060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4CBBE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7548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7B4C7"/>
                </a:solidFill>
                <a:latin typeface="Aptos"/>
              </a:rPr>
              <a:t>Generate a feasible stop sequence using road travel time.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3154680"/>
            <a:ext cx="4754880" cy="2011680"/>
          </a:xfrm>
          <a:prstGeom prst="roundRect">
            <a:avLst/>
          </a:prstGeom>
          <a:solidFill>
            <a:srgbClr val="122239"/>
          </a:solidFill>
          <a:ln>
            <a:solidFill>
              <a:srgbClr val="12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46520" y="3154680"/>
            <a:ext cx="64008" cy="2011680"/>
          </a:xfrm>
          <a:prstGeom prst="rect">
            <a:avLst/>
          </a:prstGeom>
          <a:solidFill>
            <a:srgbClr val="EF5B5B"/>
          </a:solidFill>
          <a:ln>
            <a:solidFill>
              <a:srgbClr val="E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7688" y="333756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 Display"/>
              </a:rPr>
              <a:t>Express parcel rule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7688" y="3721608"/>
            <a:ext cx="4389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7"/>
                </a:solidFill>
                <a:latin typeface="Aptos"/>
              </a:rPr>
              <a:t>An express parcel is treated as a constraint. Routes that miss its required delivery window are rejected or flagged.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7B4C7"/>
                </a:solidFill>
                <a:latin typeface="Aptos"/>
              </a:rPr>
              <a:t>LOGISTICS ORCHESTRATION • SOLUTION PROPOSAL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7B4C7"/>
                </a:solidFill>
                <a:latin typeface="Aptos"/>
              </a:rPr>
              <a:t>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 Display"/>
              </a:rPr>
              <a:t>Delay-risk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7B4C7"/>
                </a:solidFill>
                <a:latin typeface="Aptos"/>
              </a:rPr>
              <a:t>Prediction supports operations; it does not replace human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389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4CBBE"/>
                </a:solidFill>
                <a:latin typeface="Aptos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657600" cy="4343400"/>
          </a:xfrm>
          <a:prstGeom prst="roundRect">
            <a:avLst/>
          </a:prstGeom>
          <a:solidFill>
            <a:srgbClr val="122239"/>
          </a:solidFill>
          <a:ln>
            <a:solidFill>
              <a:srgbClr val="12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4CBBE"/>
                </a:solidFill>
                <a:latin typeface="Aptos"/>
              </a:rPr>
              <a:t>MODEL 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7"/>
                </a:solidFill>
                <a:latin typeface="Aptos"/>
              </a:rPr>
              <a:t>• Distance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15768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7"/>
                </a:solidFill>
                <a:latin typeface="Aptos"/>
              </a:rPr>
              <a:t>• Historical duration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91256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7"/>
                </a:solidFill>
                <a:latin typeface="Aptos"/>
              </a:rPr>
              <a:t>• Service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66744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7"/>
                </a:solidFill>
                <a:latin typeface="Aptos"/>
              </a:rPr>
              <a:t>• Employee workload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42232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7"/>
                </a:solidFill>
                <a:latin typeface="Aptos"/>
              </a:rPr>
              <a:t>• Route distance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7"/>
                </a:solidFill>
                <a:latin typeface="Aptos"/>
              </a:rPr>
              <a:t>• Previous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15468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24CBBE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2331720"/>
            <a:ext cx="2011680" cy="1920240"/>
          </a:xfrm>
          <a:prstGeom prst="roundRect">
            <a:avLst/>
          </a:prstGeom>
          <a:solidFill>
            <a:srgbClr val="122239"/>
          </a:solidFill>
          <a:ln>
            <a:solidFill>
              <a:srgbClr val="24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269748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 Display"/>
              </a:rPr>
              <a:t>RISK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3154680"/>
            <a:ext cx="1737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7B4C7"/>
                </a:solidFill>
                <a:latin typeface="Aptos"/>
              </a:rPr>
              <a:t>LOW
MEDIUM
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315468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24CBBE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508760"/>
            <a:ext cx="3291840" cy="4343400"/>
          </a:xfrm>
          <a:prstGeom prst="roundRect">
            <a:avLst/>
          </a:prstGeom>
          <a:solidFill>
            <a:srgbClr val="122239"/>
          </a:solidFill>
          <a:ln>
            <a:solidFill>
              <a:srgbClr val="12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8" y="1673351"/>
            <a:ext cx="2926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 Display"/>
              </a:rPr>
              <a:t>Operational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2112264"/>
            <a:ext cx="2907792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Flag high-risk parcels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Review route or assignment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Prioritize time-sensitive shipments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Notify the relevant admin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Keep decision 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7B4C7"/>
                </a:solidFill>
                <a:latin typeface="Aptos"/>
              </a:rPr>
              <a:t>LOGISTICS ORCHESTRATION • SOLUTION PROPOSAL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7B4C7"/>
                </a:solidFill>
                <a:latin typeface="Aptos"/>
              </a:rPr>
              <a:t>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 Display"/>
              </a:rPr>
              <a:t>Notifications without notification overload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7B4C7"/>
                </a:solidFill>
                <a:latin typeface="Aptos"/>
              </a:rPr>
              <a:t>The right message reaches the right person at the right event.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389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4CBBE"/>
                </a:solidFill>
                <a:latin typeface="Aptos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474720" cy="4389120"/>
          </a:xfrm>
          <a:prstGeom prst="roundRect">
            <a:avLst/>
          </a:prstGeom>
          <a:solidFill>
            <a:srgbClr val="122239"/>
          </a:solidFill>
          <a:ln>
            <a:solidFill>
              <a:srgbClr val="12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19072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 Display"/>
              </a:rPr>
              <a:t>App /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157984"/>
            <a:ext cx="3090672" cy="367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Assignment updates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Branch arrival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Vehicle dispatch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Route updates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Out for delivery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Live tracking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474720" cy="4389120"/>
          </a:xfrm>
          <a:prstGeom prst="roundRect">
            <a:avLst/>
          </a:prstGeom>
          <a:solidFill>
            <a:srgbClr val="122239"/>
          </a:solidFill>
          <a:ln>
            <a:solidFill>
              <a:srgbClr val="12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719072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 Display"/>
              </a:rPr>
              <a:t>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157984"/>
            <a:ext cx="3090672" cy="367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Booking confirmation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Pickup confirmation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Important handoff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Destination arrival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Delivery confirmation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Critical exception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474720" cy="4389120"/>
          </a:xfrm>
          <a:prstGeom prst="roundRect">
            <a:avLst/>
          </a:prstGeom>
          <a:solidFill>
            <a:srgbClr val="122239"/>
          </a:solidFill>
          <a:ln>
            <a:solidFill>
              <a:srgbClr val="12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719072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 Display"/>
              </a:rPr>
              <a:t>Tracking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157984"/>
            <a:ext cx="3090672" cy="367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One parcel ID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Status timeline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Map view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Latest location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Delivery progress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Proof of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7B4C7"/>
                </a:solidFill>
                <a:latin typeface="Aptos"/>
              </a:rPr>
              <a:t>LOGISTICS ORCHESTRATION • SOLUTION PROPOSAL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7B4C7"/>
                </a:solidFill>
                <a:latin typeface="Aptos"/>
              </a:rPr>
              <a:t>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 Display"/>
              </a:rPr>
              <a:t>A unified network across partner companies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7B4C7"/>
                </a:solidFill>
                <a:latin typeface="Aptos"/>
              </a:rPr>
              <a:t>The platform orchestrates the handoffs while each company retains operational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389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4CBBE"/>
                </a:solidFill>
                <a:latin typeface="Aptos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1737360" cy="822960"/>
          </a:xfrm>
          <a:prstGeom prst="roundRect">
            <a:avLst/>
          </a:prstGeom>
          <a:solidFill>
            <a:srgbClr val="122239"/>
          </a:solidFill>
          <a:ln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947672"/>
            <a:ext cx="1591056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Customer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31720" y="2286000"/>
            <a:ext cx="475488" cy="0"/>
          </a:xfrm>
          <a:prstGeom prst="line">
            <a:avLst/>
          </a:prstGeom>
          <a:ln w="25400">
            <a:solidFill>
              <a:srgbClr val="24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80360" y="1874519"/>
            <a:ext cx="1737360" cy="822960"/>
          </a:xfrm>
          <a:prstGeom prst="roundRect">
            <a:avLst/>
          </a:prstGeom>
          <a:solidFill>
            <a:srgbClr val="122239"/>
          </a:solidFill>
          <a:ln>
            <a:solidFill>
              <a:srgbClr val="24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53512" y="1947672"/>
            <a:ext cx="1591056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Partner A
Pickup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17720" y="2286000"/>
            <a:ext cx="475488" cy="0"/>
          </a:xfrm>
          <a:prstGeom prst="line">
            <a:avLst/>
          </a:prstGeom>
          <a:ln w="25400">
            <a:solidFill>
              <a:srgbClr val="24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66360" y="1874519"/>
            <a:ext cx="1737360" cy="822960"/>
          </a:xfrm>
          <a:prstGeom prst="roundRect">
            <a:avLst/>
          </a:prstGeom>
          <a:solidFill>
            <a:srgbClr val="122239"/>
          </a:solidFill>
          <a:ln>
            <a:solidFill>
              <a:srgbClr val="2DC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39512" y="1947672"/>
            <a:ext cx="1591056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Partner B
Transport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03720" y="2286000"/>
            <a:ext cx="475488" cy="0"/>
          </a:xfrm>
          <a:prstGeom prst="line">
            <a:avLst/>
          </a:prstGeom>
          <a:ln w="25400">
            <a:solidFill>
              <a:srgbClr val="24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452360" y="1874519"/>
            <a:ext cx="1737360" cy="822960"/>
          </a:xfrm>
          <a:prstGeom prst="roundRect">
            <a:avLst/>
          </a:prstGeom>
          <a:solidFill>
            <a:srgbClr val="122239"/>
          </a:solidFill>
          <a:ln>
            <a:solidFill>
              <a:srgbClr val="F5A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25512" y="1947672"/>
            <a:ext cx="1591056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Partner C
Destination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89720" y="2286000"/>
            <a:ext cx="475488" cy="0"/>
          </a:xfrm>
          <a:prstGeom prst="line">
            <a:avLst/>
          </a:prstGeom>
          <a:ln w="25400">
            <a:solidFill>
              <a:srgbClr val="24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738360" y="1874519"/>
            <a:ext cx="1737360" cy="822960"/>
          </a:xfrm>
          <a:prstGeom prst="roundRect">
            <a:avLst/>
          </a:prstGeom>
          <a:solidFill>
            <a:srgbClr val="122239"/>
          </a:solidFill>
          <a:ln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11512" y="1947672"/>
            <a:ext cx="1591056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Receiver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3794760"/>
            <a:ext cx="8503920" cy="1097280"/>
          </a:xfrm>
          <a:prstGeom prst="roundRect">
            <a:avLst/>
          </a:prstGeom>
          <a:solidFill>
            <a:srgbClr val="122239"/>
          </a:solidFill>
          <a:ln>
            <a:solidFill>
              <a:srgbClr val="24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57400" y="4133087"/>
            <a:ext cx="8138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 Display"/>
              </a:rPr>
              <a:t>ONE TRACKING ID  •  ONE CUSTOMER VIEW  •  MULTIPLE PARTNER HANDOFFS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7B4C7"/>
                </a:solidFill>
                <a:latin typeface="Aptos"/>
              </a:rPr>
              <a:t>LOGISTICS ORCHESTRATION • SOLUTION PROPOSAL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7B4C7"/>
                </a:solidFill>
                <a:latin typeface="Aptos"/>
              </a:rPr>
              <a:t>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 Display"/>
              </a:rPr>
              <a:t>Security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7B4C7"/>
                </a:solidFill>
                <a:latin typeface="Aptos"/>
              </a:rPr>
              <a:t>A multi-tenant platform must protect both customer and partner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389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4CBBE"/>
                </a:solidFill>
                <a:latin typeface="Aptos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474720" cy="4389120"/>
          </a:xfrm>
          <a:prstGeom prst="roundRect">
            <a:avLst/>
          </a:prstGeom>
          <a:solidFill>
            <a:srgbClr val="122239"/>
          </a:solidFill>
          <a:ln>
            <a:solidFill>
              <a:srgbClr val="12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19072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 Display"/>
              </a:rPr>
              <a:t>Identity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157984"/>
            <a:ext cx="3090672" cy="367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JWT authentication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Role-based access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Company/tenant isolation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Secure password hashing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474720" cy="4389120"/>
          </a:xfrm>
          <a:prstGeom prst="roundRect">
            <a:avLst/>
          </a:prstGeom>
          <a:solidFill>
            <a:srgbClr val="122239"/>
          </a:solidFill>
          <a:ln>
            <a:solidFill>
              <a:srgbClr val="12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719072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 Display"/>
              </a:rP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157984"/>
            <a:ext cx="3090672" cy="367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Encrypted transport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Controlled data sharing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Audit logs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Minimal exposure across partners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474720" cy="4389120"/>
          </a:xfrm>
          <a:prstGeom prst="roundRect">
            <a:avLst/>
          </a:prstGeom>
          <a:solidFill>
            <a:srgbClr val="122239"/>
          </a:solidFill>
          <a:ln>
            <a:solidFill>
              <a:srgbClr val="12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719072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 Display"/>
              </a:rPr>
              <a:t>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157984"/>
            <a:ext cx="3090672" cy="367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Manual override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Assignment history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Exception handling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Proof of delivery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7B4C7"/>
                </a:solidFill>
                <a:latin typeface="Aptos"/>
              </a:rPr>
              <a:t>LOGISTICS ORCHESTRATION • SOLUTION PROPOSAL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7B4C7"/>
                </a:solidFill>
                <a:latin typeface="Aptos"/>
              </a:rPr>
              <a:t>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 Display"/>
              </a:rPr>
              <a:t>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7B4C7"/>
                </a:solidFill>
                <a:latin typeface="Aptos"/>
              </a:rPr>
              <a:t>Why a partner network would adopt the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389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4CBBE"/>
                </a:solidFill>
                <a:latin typeface="Aptos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5257800" cy="1920240"/>
          </a:xfrm>
          <a:prstGeom prst="roundRect">
            <a:avLst/>
          </a:prstGeom>
          <a:solidFill>
            <a:srgbClr val="122239"/>
          </a:solidFill>
          <a:ln>
            <a:solidFill>
              <a:srgbClr val="12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600200"/>
            <a:ext cx="64008" cy="1920240"/>
          </a:xfrm>
          <a:prstGeom prst="rect">
            <a:avLst/>
          </a:prstGeom>
          <a:solidFill>
            <a:srgbClr val="1D6FFF"/>
          </a:solidFill>
          <a:ln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78308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 Display"/>
              </a:rPr>
              <a:t>For 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167128"/>
            <a:ext cx="4892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7"/>
                </a:solidFill>
                <a:latin typeface="Aptos"/>
              </a:rPr>
              <a:t>One tracking experience
Better visibility
Timely updates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00200"/>
            <a:ext cx="5257800" cy="1920240"/>
          </a:xfrm>
          <a:prstGeom prst="roundRect">
            <a:avLst/>
          </a:prstGeom>
          <a:solidFill>
            <a:srgbClr val="122239"/>
          </a:solidFill>
          <a:ln>
            <a:solidFill>
              <a:srgbClr val="12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00200"/>
            <a:ext cx="64008" cy="1920240"/>
          </a:xfrm>
          <a:prstGeom prst="rect">
            <a:avLst/>
          </a:prstGeom>
          <a:solidFill>
            <a:srgbClr val="24CBBE"/>
          </a:solidFill>
          <a:ln>
            <a:solidFill>
              <a:srgbClr val="24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78308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 Display"/>
              </a:rPr>
              <a:t>For courier partners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167128"/>
            <a:ext cx="4892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7"/>
                </a:solidFill>
                <a:latin typeface="Aptos"/>
              </a:rPr>
              <a:t>Wider network reach
Automated operations
Better resource utilization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931920"/>
            <a:ext cx="5257800" cy="1920240"/>
          </a:xfrm>
          <a:prstGeom prst="roundRect">
            <a:avLst/>
          </a:prstGeom>
          <a:solidFill>
            <a:srgbClr val="122239"/>
          </a:solidFill>
          <a:ln>
            <a:solidFill>
              <a:srgbClr val="12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3931920"/>
            <a:ext cx="64008" cy="1920240"/>
          </a:xfrm>
          <a:prstGeom prst="rect">
            <a:avLst/>
          </a:prstGeom>
          <a:solidFill>
            <a:srgbClr val="2DC989"/>
          </a:solidFill>
          <a:ln>
            <a:solidFill>
              <a:srgbClr val="2DC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411480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 Display"/>
              </a:rPr>
              <a:t>For employees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4498848"/>
            <a:ext cx="4892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7"/>
                </a:solidFill>
                <a:latin typeface="Aptos"/>
              </a:rPr>
              <a:t>Clear assignments
Map-based routes
Digital proof of delivery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931920"/>
            <a:ext cx="5257800" cy="1920240"/>
          </a:xfrm>
          <a:prstGeom prst="roundRect">
            <a:avLst/>
          </a:prstGeom>
          <a:solidFill>
            <a:srgbClr val="122239"/>
          </a:solidFill>
          <a:ln>
            <a:solidFill>
              <a:srgbClr val="12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931920"/>
            <a:ext cx="64008" cy="1920240"/>
          </a:xfrm>
          <a:prstGeom prst="rect">
            <a:avLst/>
          </a:prstGeom>
          <a:solidFill>
            <a:srgbClr val="F5AE3E"/>
          </a:solidFill>
          <a:ln>
            <a:solidFill>
              <a:srgbClr val="F5A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411480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 Display"/>
              </a:rPr>
              <a:t>For Logiflow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4498848"/>
            <a:ext cx="4892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7"/>
                </a:solidFill>
                <a:latin typeface="Aptos"/>
              </a:rPr>
              <a:t>Platform service fees
Partner network effects
Operational data insights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7B4C7"/>
                </a:solidFill>
                <a:latin typeface="Aptos"/>
              </a:rPr>
              <a:t>LOGISTICS ORCHESTRATION • SOLUTION PROPOSAL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7B4C7"/>
                </a:solidFill>
                <a:latin typeface="Aptos"/>
              </a:rPr>
              <a:t>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 Display"/>
              </a:rPr>
              <a:t>What makes the proposed approach distinctive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7B4C7"/>
                </a:solidFill>
                <a:latin typeface="Aptos"/>
              </a:rPr>
              <a:t>The value is in the integrated orchestration layer — not a single isolated feature.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389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4CBBE"/>
                </a:solidFill>
                <a:latin typeface="Apto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4CBBE"/>
                </a:solidFill>
                <a:latin typeface="Aptos"/>
              </a:rPr>
              <a:t>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5029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8FAFC"/>
                </a:solidFill>
                <a:latin typeface="Aptos Display"/>
              </a:rPr>
              <a:t>Multi-company parcel lifecycle + unified tracking + intelligent operational decision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08760"/>
            <a:ext cx="2148840" cy="731520"/>
          </a:xfrm>
          <a:prstGeom prst="roundRect">
            <a:avLst/>
          </a:prstGeom>
          <a:solidFill>
            <a:srgbClr val="122239"/>
          </a:solidFill>
          <a:ln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581912"/>
            <a:ext cx="2002536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Assignment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1508760"/>
            <a:ext cx="2148840" cy="731520"/>
          </a:xfrm>
          <a:prstGeom prst="roundRect">
            <a:avLst/>
          </a:prstGeom>
          <a:solidFill>
            <a:srgbClr val="122239"/>
          </a:solidFill>
          <a:ln>
            <a:solidFill>
              <a:srgbClr val="24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88552" y="1581912"/>
            <a:ext cx="2002536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Routing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834639"/>
            <a:ext cx="2148840" cy="731520"/>
          </a:xfrm>
          <a:prstGeom prst="roundRect">
            <a:avLst/>
          </a:prstGeom>
          <a:solidFill>
            <a:srgbClr val="122239"/>
          </a:solidFill>
          <a:ln>
            <a:solidFill>
              <a:srgbClr val="2DC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2907791"/>
            <a:ext cx="2002536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Delay Risk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2834639"/>
            <a:ext cx="2148840" cy="731520"/>
          </a:xfrm>
          <a:prstGeom prst="roundRect">
            <a:avLst/>
          </a:prstGeom>
          <a:solidFill>
            <a:srgbClr val="122239"/>
          </a:solidFill>
          <a:ln>
            <a:solidFill>
              <a:srgbClr val="F5A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8552" y="2907791"/>
            <a:ext cx="2002536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Tracking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160520"/>
            <a:ext cx="2148840" cy="731520"/>
          </a:xfrm>
          <a:prstGeom prst="roundRect">
            <a:avLst/>
          </a:prstGeom>
          <a:solidFill>
            <a:srgbClr val="122239"/>
          </a:solidFill>
          <a:ln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4233672"/>
            <a:ext cx="2002536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Notifications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4160520"/>
            <a:ext cx="2148840" cy="731520"/>
          </a:xfrm>
          <a:prstGeom prst="roundRect">
            <a:avLst/>
          </a:prstGeom>
          <a:solidFill>
            <a:srgbClr val="122239"/>
          </a:solidFill>
          <a:ln>
            <a:solidFill>
              <a:srgbClr val="24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88552" y="4233672"/>
            <a:ext cx="2002536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Partner Network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394960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A7B4C7"/>
                </a:solidFill>
                <a:latin typeface="Aptos"/>
              </a:rPr>
              <a:t>Existing logistics products already cover many individual capabilities. Our project focuses on a coherent, implementable architecture for independent regional partners.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7B4C7"/>
                </a:solidFill>
                <a:latin typeface="Aptos"/>
              </a:rPr>
              <a:t>LOGISTICS ORCHESTRATION • SOLUTION PROPOSAL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7B4C7"/>
                </a:solidFill>
                <a:latin typeface="Aptos"/>
              </a:rPr>
              <a:t>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 Display"/>
              </a:rPr>
              <a:t>Implementation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7B4C7"/>
                </a:solidFill>
                <a:latin typeface="Aptos"/>
              </a:rPr>
              <a:t>A modular architecture keeps the platform scalable and testable.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389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4CBBE"/>
                </a:solidFill>
                <a:latin typeface="Aptos"/>
              </a:rP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1417320"/>
            <a:ext cx="9784080" cy="621792"/>
          </a:xfrm>
          <a:prstGeom prst="roundRect">
            <a:avLst/>
          </a:prstGeom>
          <a:solidFill>
            <a:srgbClr val="122239"/>
          </a:solidFill>
          <a:ln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150876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Web +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508760"/>
            <a:ext cx="7040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7"/>
                </a:solidFill>
                <a:latin typeface="Aptos"/>
              </a:rPr>
              <a:t>React / TypeScript • Mobile workflows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2240280"/>
            <a:ext cx="9784080" cy="621792"/>
          </a:xfrm>
          <a:prstGeom prst="roundRect">
            <a:avLst/>
          </a:prstGeom>
          <a:solidFill>
            <a:srgbClr val="122239"/>
          </a:solidFill>
          <a:ln>
            <a:solidFill>
              <a:srgbClr val="24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33172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API &amp;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331720"/>
            <a:ext cx="7040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7"/>
                </a:solidFill>
                <a:latin typeface="Aptos"/>
              </a:rPr>
              <a:t>FastAPI • Auth • Parcel • Assignment • Branch • Vehicle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3063240"/>
            <a:ext cx="9784080" cy="621792"/>
          </a:xfrm>
          <a:prstGeom prst="roundRect">
            <a:avLst/>
          </a:prstGeom>
          <a:solidFill>
            <a:srgbClr val="122239"/>
          </a:solidFill>
          <a:ln>
            <a:solidFill>
              <a:srgbClr val="2DC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315468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154680"/>
            <a:ext cx="7040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7"/>
                </a:solidFill>
                <a:latin typeface="Aptos"/>
              </a:rPr>
              <a:t>Route optimization • Delay-risk 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3886200"/>
            <a:ext cx="9784080" cy="621792"/>
          </a:xfrm>
          <a:prstGeom prst="roundRect">
            <a:avLst/>
          </a:prstGeom>
          <a:solidFill>
            <a:srgbClr val="122239"/>
          </a:solidFill>
          <a:ln>
            <a:solidFill>
              <a:srgbClr val="F5A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3977639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977639"/>
            <a:ext cx="7040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7"/>
                </a:solidFill>
                <a:latin typeface="Aptos"/>
              </a:rPr>
              <a:t>PostgreSQL • Audit • Tracking events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4709160"/>
            <a:ext cx="9784080" cy="621792"/>
          </a:xfrm>
          <a:prstGeom prst="roundRect">
            <a:avLst/>
          </a:prstGeom>
          <a:solidFill>
            <a:srgbClr val="122239"/>
          </a:solidFill>
          <a:ln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48006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Integrations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800600"/>
            <a:ext cx="7040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7"/>
                </a:solidFill>
                <a:latin typeface="Aptos"/>
              </a:rPr>
              <a:t>Routing provider • Email • Maps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7B4C7"/>
                </a:solidFill>
                <a:latin typeface="Aptos"/>
              </a:rPr>
              <a:t>LOGISTICS ORCHESTRATION • SOLUTION PROPOSAL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7B4C7"/>
                </a:solidFill>
                <a:latin typeface="Aptos"/>
              </a:rPr>
              <a:t>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 Display"/>
              </a:rPr>
              <a:t>Project success measures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7B4C7"/>
                </a:solidFill>
                <a:latin typeface="Aptos"/>
              </a:rPr>
              <a:t>We will validate the platform through operational and technical outcomes.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389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4CBBE"/>
                </a:solidFill>
                <a:latin typeface="Aptos"/>
              </a:rP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474720" cy="4389120"/>
          </a:xfrm>
          <a:prstGeom prst="roundRect">
            <a:avLst/>
          </a:prstGeom>
          <a:solidFill>
            <a:srgbClr val="122239"/>
          </a:solidFill>
          <a:ln>
            <a:solidFill>
              <a:srgbClr val="12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19072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 Display"/>
              </a:rPr>
              <a:t>Operational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157984"/>
            <a:ext cx="3090672" cy="367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Assignment completion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Route feasibility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Tracking coverage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Notification delivery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Handoff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474720" cy="4389120"/>
          </a:xfrm>
          <a:prstGeom prst="roundRect">
            <a:avLst/>
          </a:prstGeom>
          <a:solidFill>
            <a:srgbClr val="122239"/>
          </a:solidFill>
          <a:ln>
            <a:solidFill>
              <a:srgbClr val="12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719072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 Display"/>
              </a:rPr>
              <a:t>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157984"/>
            <a:ext cx="3090672" cy="367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Delay-risk model performance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Route quality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Constraint satisfaction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Reassignment handling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Exception detection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474720" cy="4389120"/>
          </a:xfrm>
          <a:prstGeom prst="roundRect">
            <a:avLst/>
          </a:prstGeom>
          <a:solidFill>
            <a:srgbClr val="122239"/>
          </a:solidFill>
          <a:ln>
            <a:solidFill>
              <a:srgbClr val="12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719072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 Display"/>
              </a:rPr>
              <a:t>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157984"/>
            <a:ext cx="3090672" cy="367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Customer visibility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Employee usability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Admin control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Partner onboarding</a:t>
            </a:r>
          </a:p>
          <a:p>
            <a:pPr>
              <a:spcAft>
                <a:spcPts val="600"/>
              </a:spcAft>
              <a:defRPr sz="1150">
                <a:solidFill>
                  <a:srgbClr val="A7B4C7"/>
                </a:solidFill>
                <a:latin typeface="Aptos"/>
              </a:defRPr>
            </a:pPr>
            <a:r>
              <a:t>• Clear audit trail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7B4C7"/>
                </a:solidFill>
                <a:latin typeface="Aptos"/>
              </a:rPr>
              <a:t>LOGISTICS ORCHESTRATION • SOLUTION PROPOSAL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7B4C7"/>
                </a:solidFill>
                <a:latin typeface="Aptos"/>
              </a:rPr>
              <a:t>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4CBBE"/>
                </a:solidFill>
                <a:latin typeface="Aptos"/>
              </a:rPr>
              <a:t>THE PROPOSED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68580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8FAFC"/>
                </a:solidFill>
                <a:latin typeface="Aptos Display"/>
              </a:rPr>
              <a:t>One connected logistics network.
One parcel journey.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71800"/>
            <a:ext cx="6583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7B4C7"/>
                </a:solidFill>
                <a:latin typeface="Aptos"/>
              </a:rPr>
              <a:t>A platform where customers, partner companies, branches, employees and vehicles coordinate through a single digital 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4251960"/>
            <a:ext cx="3886200" cy="310896"/>
          </a:xfrm>
          <a:prstGeom prst="roundRect">
            <a:avLst/>
          </a:prstGeom>
          <a:solidFill>
            <a:srgbClr val="1D6FFF"/>
          </a:solidFill>
          <a:ln>
            <a:solidFill>
              <a:srgbClr val="1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61104"/>
            <a:ext cx="3886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BOOK → ASSIGN → OPTIMIZE → TRACK → DELIVER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9788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4CBBE"/>
                </a:solidFill>
                <a:latin typeface="Aptos"/>
              </a:rPr>
              <a:t>CLIENT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7B4C7"/>
                </a:solidFill>
                <a:latin typeface="Aptos"/>
              </a:rPr>
              <a:t>LOGISTICS ORCHESTRATION • SOLUTION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7B4C7"/>
                </a:solidFill>
                <a:latin typeface="Aptos"/>
              </a:rPr>
              <a:t>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