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title, then SCAN → TRACK → ROUTE → ETA → PREDICT → 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each stage left-to-right, then show the feedback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each flow box sequentially. Emphasize handover: old session closes, new session starts.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Animate formula, then five components, then example left-to-right.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the timeline from left to right. Pause at HIGH risk, then show intervention and recovered 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pipeline left-to-right, then risk bands, then the learning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each event row sequentially. Pause on HIGH risk, then show reroute and recovered 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event stream, then four feature blocks, then final action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AEBE"/>
          </a:solidFill>
          <a:ln>
            <a:solidFill>
              <a:srgbClr val="00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640080"/>
            <a:ext cx="594360" cy="594360"/>
          </a:xfrm>
          <a:prstGeom prst="ellipse">
            <a:avLst/>
          </a:prstGeom>
          <a:solidFill>
            <a:srgbClr val="00AEBE"/>
          </a:solidFill>
          <a:ln>
            <a:solidFill>
              <a:srgbClr val="00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"/>
            <a:ext cx="594360" cy="5760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594360"/>
            <a:ext cx="27432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 Display"/>
              </a:rPr>
              <a:t>LogiFlows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5486400" cy="5943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 Display"/>
              </a:rPr>
              <a:t>Feature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98755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700" b="0">
                <a:solidFill>
                  <a:srgbClr val="CDDFF2"/>
                </a:solidFill>
                <a:latin typeface="Aptos"/>
              </a:rPr>
              <a:t>REAL-TIME TRACKING  •  DYNAMIC ETA  •  AI DELAY PREDICTION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886200"/>
            <a:ext cx="502920" cy="502920"/>
          </a:xfrm>
          <a:prstGeom prst="ellipse">
            <a:avLst/>
          </a:prstGeom>
          <a:solidFill>
            <a:srgbClr val="1C5CBE"/>
          </a:solidFill>
          <a:ln>
            <a:solidFill>
              <a:srgbClr val="1C5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895344"/>
            <a:ext cx="502920" cy="4846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26280"/>
            <a:ext cx="914400" cy="2286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SCAN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53312" y="4133087"/>
            <a:ext cx="1207008" cy="0"/>
          </a:xfrm>
          <a:prstGeom prst="line">
            <a:avLst/>
          </a:prstGeom>
          <a:ln w="19050">
            <a:solidFill>
              <a:srgbClr val="285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651760" y="3886200"/>
            <a:ext cx="502920" cy="502920"/>
          </a:xfrm>
          <a:prstGeom prst="ellipse">
            <a:avLst/>
          </a:prstGeom>
          <a:solidFill>
            <a:srgbClr val="00AEBE"/>
          </a:solidFill>
          <a:ln>
            <a:solidFill>
              <a:srgbClr val="00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3895344"/>
            <a:ext cx="502920" cy="4846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79" y="4526280"/>
            <a:ext cx="914400" cy="2286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TRACK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82112" y="4133087"/>
            <a:ext cx="1207008" cy="0"/>
          </a:xfrm>
          <a:prstGeom prst="line">
            <a:avLst/>
          </a:prstGeom>
          <a:ln w="19050">
            <a:solidFill>
              <a:srgbClr val="285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480560" y="3886200"/>
            <a:ext cx="502920" cy="502920"/>
          </a:xfrm>
          <a:prstGeom prst="ellipse">
            <a:avLst/>
          </a:prstGeom>
          <a:solidFill>
            <a:srgbClr val="129780"/>
          </a:solidFill>
          <a:ln>
            <a:solidFill>
              <a:srgbClr val="12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895344"/>
            <a:ext cx="502920" cy="4846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4526280"/>
            <a:ext cx="914400" cy="2286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ROUTE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10912" y="4133087"/>
            <a:ext cx="1207008" cy="0"/>
          </a:xfrm>
          <a:prstGeom prst="line">
            <a:avLst/>
          </a:prstGeom>
          <a:ln w="19050">
            <a:solidFill>
              <a:srgbClr val="285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6309360" y="3886200"/>
            <a:ext cx="502920" cy="502920"/>
          </a:xfrm>
          <a:prstGeom prst="ellipse">
            <a:avLst/>
          </a:prstGeom>
          <a:solidFill>
            <a:srgbClr val="704CBE"/>
          </a:solidFill>
          <a:ln>
            <a:solidFill>
              <a:srgbClr val="70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3895344"/>
            <a:ext cx="502920" cy="4846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526280"/>
            <a:ext cx="914400" cy="2286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ETA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39712" y="4133087"/>
            <a:ext cx="1207008" cy="0"/>
          </a:xfrm>
          <a:prstGeom prst="line">
            <a:avLst/>
          </a:prstGeom>
          <a:ln w="19050">
            <a:solidFill>
              <a:srgbClr val="285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138160" y="3886200"/>
            <a:ext cx="502920" cy="502920"/>
          </a:xfrm>
          <a:prstGeom prst="ellipse">
            <a:avLst/>
          </a:prstGeom>
          <a:solidFill>
            <a:srgbClr val="DA4349"/>
          </a:solidFill>
          <a:ln>
            <a:solidFill>
              <a:srgbClr val="DA4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3895344"/>
            <a:ext cx="502920" cy="4846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0" y="4526280"/>
            <a:ext cx="914400" cy="2286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PREDICT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668512" y="4133087"/>
            <a:ext cx="1207008" cy="0"/>
          </a:xfrm>
          <a:prstGeom prst="line">
            <a:avLst/>
          </a:prstGeom>
          <a:ln w="19050">
            <a:solidFill>
              <a:srgbClr val="285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9966960" y="3886200"/>
            <a:ext cx="502920" cy="502920"/>
          </a:xfrm>
          <a:prstGeom prst="ellipse">
            <a:avLst/>
          </a:prstGeom>
          <a:solidFill>
            <a:srgbClr val="EF8E23"/>
          </a:solidFill>
          <a:ln>
            <a:solidFill>
              <a:srgbClr val="EF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66960" y="3895344"/>
            <a:ext cx="502920" cy="4846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4526280"/>
            <a:ext cx="914400" cy="2286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ACT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5532120"/>
            <a:ext cx="5669280" cy="310896"/>
          </a:xfrm>
          <a:prstGeom prst="roundRect">
            <a:avLst>
              <a:gd name="adj" fmla="val 10000"/>
            </a:avLst>
          </a:prstGeom>
          <a:solidFill>
            <a:srgbClr val="1C5CBE"/>
          </a:solidFill>
          <a:ln>
            <a:solidFill>
              <a:srgbClr val="1C5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5586983"/>
            <a:ext cx="5614416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ONE PARCEL • ONE IDENTITY • CONTINUOUS INTELLIGENCE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989320"/>
            <a:ext cx="2743200" cy="2286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9BBCDC"/>
                </a:solidFill>
                <a:latin typeface="Aptos"/>
              </a:rPr>
              <a:t>Client feature explanation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C5CBE"/>
          </a:solidFill>
          <a:ln>
            <a:solidFill>
              <a:srgbClr val="1C5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51560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091C34"/>
                </a:solidFill>
                <a:latin typeface="Aptos Display"/>
              </a:rPr>
              <a:t>The three 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5156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5C6C7E"/>
                </a:solidFill>
                <a:latin typeface="Aptos"/>
              </a:rPr>
              <a:t>Movement data becomes an ETA, a delay prediction and an operational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5C6C7E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429000" cy="4389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4864" cy="4389120"/>
          </a:xfrm>
          <a:prstGeom prst="roundRect">
            <a:avLst>
              <a:gd name="adj" fmla="val 10000"/>
            </a:avLst>
          </a:prstGeom>
          <a:solidFill>
            <a:srgbClr val="00AEBE"/>
          </a:solidFill>
          <a:ln>
            <a:solidFill>
              <a:srgbClr val="00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1" y="1536192"/>
            <a:ext cx="384048" cy="384048"/>
          </a:xfrm>
          <a:prstGeom prst="ellipse">
            <a:avLst/>
          </a:prstGeom>
          <a:solidFill>
            <a:srgbClr val="00AEBE"/>
          </a:solidFill>
          <a:ln>
            <a:solidFill>
              <a:srgbClr val="00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54533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499616"/>
            <a:ext cx="260604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091C34"/>
                </a:solidFill>
                <a:latin typeface="Aptos"/>
              </a:rPr>
              <a:t>01 • Real-Time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938528"/>
            <a:ext cx="3044952" cy="3694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5C6C7E"/>
                </a:solidFill>
                <a:latin typeface="Aptos"/>
              </a:defRPr>
            </a:pPr>
            <a:r>
              <a:t>• Permanent QR / Tracking ID</a:t>
            </a:r>
          </a:p>
          <a:p>
            <a:pPr>
              <a:spcAft>
                <a:spcPts val="300"/>
              </a:spcAft>
              <a:defRPr sz="1000">
                <a:solidFill>
                  <a:srgbClr val="5C6C7E"/>
                </a:solidFill>
                <a:latin typeface="Aptos"/>
              </a:defRPr>
            </a:pPr>
            <a:r>
              <a:t>• Authorized custodian starts a tracking session</a:t>
            </a:r>
          </a:p>
          <a:p>
            <a:pPr>
              <a:spcAft>
                <a:spcPts val="300"/>
              </a:spcAft>
              <a:defRPr sz="1000">
                <a:solidFill>
                  <a:srgbClr val="5C6C7E"/>
                </a:solidFill>
                <a:latin typeface="Aptos"/>
              </a:defRPr>
            </a:pPr>
            <a:r>
              <a:t>• Phone GPS supplies movement data</a:t>
            </a:r>
          </a:p>
          <a:p>
            <a:pPr>
              <a:spcAft>
                <a:spcPts val="300"/>
              </a:spcAft>
              <a:defRPr sz="1000">
                <a:solidFill>
                  <a:srgbClr val="5C6C7E"/>
                </a:solidFill>
                <a:latin typeface="Aptos"/>
              </a:defRPr>
            </a:pPr>
            <a:r>
              <a:t>• Branch scans become verified checkpoints</a:t>
            </a:r>
          </a:p>
          <a:p>
            <a:pPr>
              <a:spcAft>
                <a:spcPts val="300"/>
              </a:spcAft>
              <a:defRPr sz="1000">
                <a:solidFill>
                  <a:srgbClr val="5C6C7E"/>
                </a:solidFill>
                <a:latin typeface="Aptos"/>
              </a:defRPr>
            </a:pPr>
            <a:r>
              <a:t>• Customer sees confidence-aware 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429000" cy="4389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371600"/>
            <a:ext cx="54864" cy="4389120"/>
          </a:xfrm>
          <a:prstGeom prst="roundRect">
            <a:avLst>
              <a:gd name="adj" fmla="val 10000"/>
            </a:avLst>
          </a:prstGeom>
          <a:solidFill>
            <a:srgbClr val="704CBE"/>
          </a:solidFill>
          <a:ln>
            <a:solidFill>
              <a:srgbClr val="70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53712" y="1536192"/>
            <a:ext cx="384048" cy="384048"/>
          </a:xfrm>
          <a:prstGeom prst="ellipse">
            <a:avLst/>
          </a:prstGeom>
          <a:solidFill>
            <a:srgbClr val="704CBE"/>
          </a:solidFill>
          <a:ln>
            <a:solidFill>
              <a:srgbClr val="70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54533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1499616"/>
            <a:ext cx="260604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091C34"/>
                </a:solidFill>
                <a:latin typeface="Aptos"/>
              </a:rPr>
              <a:t>02 • Dynamic ETA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1938528"/>
            <a:ext cx="3044952" cy="3694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5C6C7E"/>
                </a:solidFill>
                <a:latin typeface="Aptos"/>
              </a:defRPr>
            </a:pPr>
            <a:r>
              <a:t>• Current position is matched to route</a:t>
            </a:r>
          </a:p>
          <a:p>
            <a:pPr>
              <a:spcAft>
                <a:spcPts val="300"/>
              </a:spcAft>
              <a:defRPr sz="1000">
                <a:solidFill>
                  <a:srgbClr val="5C6C7E"/>
                </a:solidFill>
                <a:latin typeface="Aptos"/>
              </a:defRPr>
            </a:pPr>
            <a:r>
              <a:t>• Remaining travel time is recalculated</a:t>
            </a:r>
          </a:p>
          <a:p>
            <a:pPr>
              <a:spcAft>
                <a:spcPts val="300"/>
              </a:spcAft>
              <a:defRPr sz="1000">
                <a:solidFill>
                  <a:srgbClr val="5C6C7E"/>
                </a:solidFill>
                <a:latin typeface="Aptos"/>
              </a:defRPr>
            </a:pPr>
            <a:r>
              <a:t>• Service and stop time are added</a:t>
            </a:r>
          </a:p>
          <a:p>
            <a:pPr>
              <a:spcAft>
                <a:spcPts val="300"/>
              </a:spcAft>
              <a:defRPr sz="1000">
                <a:solidFill>
                  <a:srgbClr val="5C6C7E"/>
                </a:solidFill>
                <a:latin typeface="Aptos"/>
              </a:defRPr>
            </a:pPr>
            <a:r>
              <a:t>• Predicted delay is added</a:t>
            </a:r>
          </a:p>
          <a:p>
            <a:pPr>
              <a:spcAft>
                <a:spcPts val="300"/>
              </a:spcAft>
              <a:defRPr sz="1000">
                <a:solidFill>
                  <a:srgbClr val="5C6C7E"/>
                </a:solidFill>
                <a:latin typeface="Aptos"/>
              </a:defRPr>
            </a:pPr>
            <a:r>
              <a:t>• ETA refreshes when state changes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371600"/>
            <a:ext cx="3429000" cy="4389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38160" y="1371600"/>
            <a:ext cx="54864" cy="4389120"/>
          </a:xfrm>
          <a:prstGeom prst="roundRect">
            <a:avLst>
              <a:gd name="adj" fmla="val 10000"/>
            </a:avLst>
          </a:prstGeom>
          <a:solidFill>
            <a:srgbClr val="DA4349"/>
          </a:solidFill>
          <a:ln>
            <a:solidFill>
              <a:srgbClr val="DA4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02752" y="1536192"/>
            <a:ext cx="384048" cy="384048"/>
          </a:xfrm>
          <a:prstGeom prst="ellipse">
            <a:avLst/>
          </a:prstGeom>
          <a:solidFill>
            <a:srgbClr val="DA4349"/>
          </a:solidFill>
          <a:ln>
            <a:solidFill>
              <a:srgbClr val="DA4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154533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6528" y="1499616"/>
            <a:ext cx="2606039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091C34"/>
                </a:solidFill>
                <a:latin typeface="Aptos"/>
              </a:rPr>
              <a:t>03 • AI Delay Prediction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1938528"/>
            <a:ext cx="3044952" cy="3694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5C6C7E"/>
                </a:solidFill>
                <a:latin typeface="Aptos"/>
              </a:defRPr>
            </a:pPr>
            <a:r>
              <a:t>• Live + historical features are combined</a:t>
            </a:r>
          </a:p>
          <a:p>
            <a:pPr>
              <a:spcAft>
                <a:spcPts val="300"/>
              </a:spcAft>
              <a:defRPr sz="1000">
                <a:solidFill>
                  <a:srgbClr val="5C6C7E"/>
                </a:solidFill>
                <a:latin typeface="Aptos"/>
              </a:defRPr>
            </a:pPr>
            <a:r>
              <a:t>• Model predicts delay probability/risk</a:t>
            </a:r>
          </a:p>
          <a:p>
            <a:pPr>
              <a:spcAft>
                <a:spcPts val="300"/>
              </a:spcAft>
              <a:defRPr sz="1000">
                <a:solidFill>
                  <a:srgbClr val="5C6C7E"/>
                </a:solidFill>
                <a:latin typeface="Aptos"/>
              </a:defRPr>
            </a:pPr>
            <a:r>
              <a:t>• Model estimates extra delay minutes</a:t>
            </a:r>
          </a:p>
          <a:p>
            <a:pPr>
              <a:spcAft>
                <a:spcPts val="300"/>
              </a:spcAft>
              <a:defRPr sz="1000">
                <a:solidFill>
                  <a:srgbClr val="5C6C7E"/>
                </a:solidFill>
                <a:latin typeface="Aptos"/>
              </a:defRPr>
            </a:pPr>
            <a:r>
              <a:t>• Prediction feeds ETA</a:t>
            </a:r>
          </a:p>
          <a:p>
            <a:pPr>
              <a:spcAft>
                <a:spcPts val="300"/>
              </a:spcAft>
              <a:defRPr sz="1000">
                <a:solidFill>
                  <a:srgbClr val="5C6C7E"/>
                </a:solidFill>
                <a:latin typeface="Aptos"/>
              </a:defRPr>
            </a:pPr>
            <a:r>
              <a:t>• Risk can trigger proactive action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94760" y="5989320"/>
            <a:ext cx="4572000" cy="310896"/>
          </a:xfrm>
          <a:prstGeom prst="roundRect">
            <a:avLst>
              <a:gd name="adj" fmla="val 10000"/>
            </a:avLst>
          </a:prstGeom>
          <a:solidFill>
            <a:srgbClr val="091C34"/>
          </a:solidFill>
          <a:ln>
            <a:solidFill>
              <a:srgbClr val="091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22192" y="6044183"/>
            <a:ext cx="4517136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TRACK → CALCULATE → PREDICT → 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830" b="0">
                <a:solidFill>
                  <a:srgbClr val="5C6C7E"/>
                </a:solidFill>
                <a:latin typeface="Aptos"/>
              </a:rPr>
              <a:t>LogiFlows • Tracking + ETA + AI Delay Prediction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830" b="1">
                <a:solidFill>
                  <a:srgbClr val="5C6C7E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29780"/>
          </a:solidFill>
          <a:ln>
            <a:solidFill>
              <a:srgbClr val="12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51560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091C34"/>
                </a:solidFill>
                <a:latin typeface="Aptos Display"/>
              </a:rPr>
              <a:t>Complete intelligence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5156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5C6C7E"/>
                </a:solidFill>
                <a:latin typeface="Aptos"/>
              </a:rPr>
              <a:t>These features continuously feed one another.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5C6C7E"/>
                </a:solidFill>
                <a:latin typeface="Aptos"/>
              </a:rPr>
              <a:t>03</a:t>
            </a:r>
          </a:p>
        </p:txBody>
      </p:sp>
      <p:sp>
        <p:nvSpPr>
          <p:cNvPr id="6" name="Oval 5"/>
          <p:cNvSpPr/>
          <p:nvPr/>
        </p:nvSpPr>
        <p:spPr>
          <a:xfrm>
            <a:off x="941832" y="1828800"/>
            <a:ext cx="457200" cy="457200"/>
          </a:xfrm>
          <a:prstGeom prst="ellipse">
            <a:avLst/>
          </a:prstGeom>
          <a:solidFill>
            <a:srgbClr val="1C5CBE"/>
          </a:solidFill>
          <a:ln>
            <a:solidFill>
              <a:srgbClr val="1C5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837943"/>
            <a:ext cx="457200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468880"/>
            <a:ext cx="155448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>
                <a:solidFill>
                  <a:srgbClr val="091C34"/>
                </a:solidFill>
                <a:latin typeface="Aptos"/>
              </a:rPr>
              <a:t>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852928"/>
            <a:ext cx="15544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869" b="0">
                <a:solidFill>
                  <a:srgbClr val="5C6C7E"/>
                </a:solidFill>
                <a:latin typeface="Aptos"/>
              </a:rPr>
              <a:t>Identity + custody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28800" y="2057400"/>
            <a:ext cx="192024" cy="0"/>
          </a:xfrm>
          <a:prstGeom prst="line">
            <a:avLst/>
          </a:prstGeom>
          <a:ln w="25400">
            <a:solidFill>
              <a:srgbClr val="00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606040" y="1828800"/>
            <a:ext cx="457200" cy="457200"/>
          </a:xfrm>
          <a:prstGeom prst="ellipse">
            <a:avLst/>
          </a:prstGeom>
          <a:solidFill>
            <a:srgbClr val="00AEBE"/>
          </a:solidFill>
          <a:ln>
            <a:solidFill>
              <a:srgbClr val="00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1837943"/>
            <a:ext cx="457200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5688" y="2468880"/>
            <a:ext cx="155448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>
                <a:solidFill>
                  <a:srgbClr val="091C34"/>
                </a:solidFill>
                <a:latin typeface="Aptos"/>
              </a:rPr>
              <a:t>TRACK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75688" y="2852928"/>
            <a:ext cx="15544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869" b="0">
                <a:solidFill>
                  <a:srgbClr val="5C6C7E"/>
                </a:solidFill>
                <a:latin typeface="Aptos"/>
              </a:rPr>
              <a:t>GPS / checkpoint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93008" y="2057400"/>
            <a:ext cx="192024" cy="0"/>
          </a:xfrm>
          <a:prstGeom prst="line">
            <a:avLst/>
          </a:prstGeom>
          <a:ln w="25400">
            <a:solidFill>
              <a:srgbClr val="00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270248" y="1828800"/>
            <a:ext cx="457200" cy="457200"/>
          </a:xfrm>
          <a:prstGeom prst="ellipse">
            <a:avLst/>
          </a:prstGeom>
          <a:solidFill>
            <a:srgbClr val="129780"/>
          </a:solidFill>
          <a:ln>
            <a:solidFill>
              <a:srgbClr val="12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0248" y="1837943"/>
            <a:ext cx="457200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9896" y="2468880"/>
            <a:ext cx="155448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>
                <a:solidFill>
                  <a:srgbClr val="091C34"/>
                </a:solidFill>
                <a:latin typeface="Aptos"/>
              </a:rPr>
              <a:t>ROUTE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39896" y="2852928"/>
            <a:ext cx="15544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869" b="0">
                <a:solidFill>
                  <a:srgbClr val="5C6C7E"/>
                </a:solidFill>
                <a:latin typeface="Aptos"/>
              </a:rPr>
              <a:t>Progress vs plan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157216" y="2057400"/>
            <a:ext cx="192024" cy="0"/>
          </a:xfrm>
          <a:prstGeom prst="line">
            <a:avLst/>
          </a:prstGeom>
          <a:ln w="25400">
            <a:solidFill>
              <a:srgbClr val="00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934456" y="1828800"/>
            <a:ext cx="457200" cy="457200"/>
          </a:xfrm>
          <a:prstGeom prst="ellipse">
            <a:avLst/>
          </a:prstGeom>
          <a:solidFill>
            <a:srgbClr val="704CBE"/>
          </a:solidFill>
          <a:ln>
            <a:solidFill>
              <a:srgbClr val="70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34456" y="1837943"/>
            <a:ext cx="457200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4104" y="2468880"/>
            <a:ext cx="155448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>
                <a:solidFill>
                  <a:srgbClr val="091C34"/>
                </a:solidFill>
                <a:latin typeface="Aptos"/>
              </a:rPr>
              <a:t>ETA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4104" y="2852928"/>
            <a:ext cx="15544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869" b="0">
                <a:solidFill>
                  <a:srgbClr val="5C6C7E"/>
                </a:solidFill>
                <a:latin typeface="Aptos"/>
              </a:rPr>
              <a:t>Remaining time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21424" y="2057400"/>
            <a:ext cx="192024" cy="0"/>
          </a:xfrm>
          <a:prstGeom prst="line">
            <a:avLst/>
          </a:prstGeom>
          <a:ln w="25400">
            <a:solidFill>
              <a:srgbClr val="00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598664" y="1828800"/>
            <a:ext cx="457200" cy="457200"/>
          </a:xfrm>
          <a:prstGeom prst="ellipse">
            <a:avLst/>
          </a:prstGeom>
          <a:solidFill>
            <a:srgbClr val="DA4349"/>
          </a:solidFill>
          <a:ln>
            <a:solidFill>
              <a:srgbClr val="DA4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98664" y="1837943"/>
            <a:ext cx="457200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68312" y="2468880"/>
            <a:ext cx="155448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>
                <a:solidFill>
                  <a:srgbClr val="091C34"/>
                </a:solidFill>
                <a:latin typeface="Aptos"/>
              </a:rPr>
              <a:t>PREDICT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8312" y="2852928"/>
            <a:ext cx="15544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869" b="0">
                <a:solidFill>
                  <a:srgbClr val="5C6C7E"/>
                </a:solidFill>
                <a:latin typeface="Aptos"/>
              </a:rPr>
              <a:t>Risk + minutes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85632" y="2057400"/>
            <a:ext cx="192024" cy="0"/>
          </a:xfrm>
          <a:prstGeom prst="line">
            <a:avLst/>
          </a:prstGeom>
          <a:ln w="25400">
            <a:solidFill>
              <a:srgbClr val="00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262872" y="1828800"/>
            <a:ext cx="457200" cy="457200"/>
          </a:xfrm>
          <a:prstGeom prst="ellipse">
            <a:avLst/>
          </a:prstGeom>
          <a:solidFill>
            <a:srgbClr val="EF8E23"/>
          </a:solidFill>
          <a:ln>
            <a:solidFill>
              <a:srgbClr val="EF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62872" y="1837943"/>
            <a:ext cx="457200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19" y="2468880"/>
            <a:ext cx="155448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>
                <a:solidFill>
                  <a:srgbClr val="091C34"/>
                </a:solidFill>
                <a:latin typeface="Aptos"/>
              </a:rPr>
              <a:t>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19" y="2852928"/>
            <a:ext cx="15544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869" b="0">
                <a:solidFill>
                  <a:srgbClr val="5C6C7E"/>
                </a:solidFill>
                <a:latin typeface="Aptos"/>
              </a:rPr>
              <a:t>Notify / reroute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149840" y="2057400"/>
            <a:ext cx="192023" cy="0"/>
          </a:xfrm>
          <a:prstGeom prst="line">
            <a:avLst/>
          </a:prstGeom>
          <a:ln w="25400">
            <a:solidFill>
              <a:srgbClr val="00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10927080" y="1828800"/>
            <a:ext cx="457200" cy="457200"/>
          </a:xfrm>
          <a:prstGeom prst="ellipse">
            <a:avLst/>
          </a:prstGeom>
          <a:solidFill>
            <a:srgbClr val="23A968"/>
          </a:solidFill>
          <a:ln>
            <a:solidFill>
              <a:srgbClr val="23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27080" y="1837943"/>
            <a:ext cx="457200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96728" y="2468880"/>
            <a:ext cx="155448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>
                <a:solidFill>
                  <a:srgbClr val="091C34"/>
                </a:solidFill>
                <a:latin typeface="Aptos"/>
              </a:rPr>
              <a:t>LEARN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96728" y="2852928"/>
            <a:ext cx="15544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869" b="0">
                <a:solidFill>
                  <a:srgbClr val="5C6C7E"/>
                </a:solidFill>
                <a:latin typeface="Aptos"/>
              </a:rPr>
              <a:t>Actual outcome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160520"/>
            <a:ext cx="10332720" cy="1143000"/>
          </a:xfrm>
          <a:prstGeom prst="roundRect">
            <a:avLst>
              <a:gd name="adj" fmla="val 10000"/>
            </a:avLst>
          </a:prstGeom>
          <a:solidFill>
            <a:srgbClr val="EAF2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88720" y="4407408"/>
            <a:ext cx="100584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1C5CBE"/>
                </a:solidFill>
                <a:latin typeface="Aptos"/>
              </a:rPr>
              <a:t>Key idea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31720" y="4343400"/>
            <a:ext cx="841248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1F2B3A"/>
                </a:solidFill>
                <a:latin typeface="Aptos"/>
              </a:rPr>
              <a:t>New observations can change route progress → ETA → predicted risk → operational action.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86200" y="5577840"/>
            <a:ext cx="4434840" cy="310896"/>
          </a:xfrm>
          <a:prstGeom prst="roundRect">
            <a:avLst>
              <a:gd name="adj" fmla="val 10000"/>
            </a:avLst>
          </a:prstGeom>
          <a:solidFill>
            <a:srgbClr val="129780"/>
          </a:solidFill>
          <a:ln>
            <a:solidFill>
              <a:srgbClr val="12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13632" y="5632703"/>
            <a:ext cx="4379976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CONTINUOUS FEEDBACK LOOP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830" b="0">
                <a:solidFill>
                  <a:srgbClr val="5C6C7E"/>
                </a:solidFill>
                <a:latin typeface="Aptos"/>
              </a:rPr>
              <a:t>LogiFlows • Tracking + ETA + AI Delay Prediction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830" b="1">
                <a:solidFill>
                  <a:srgbClr val="5C6C7E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AEBE"/>
          </a:solidFill>
          <a:ln>
            <a:solidFill>
              <a:srgbClr val="00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51560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091C34"/>
                </a:solidFill>
                <a:latin typeface="Aptos Display"/>
              </a:rPr>
              <a:t>Real-time tracking — 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5156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5C6C7E"/>
                </a:solidFill>
                <a:latin typeface="Aptos"/>
              </a:rPr>
              <a:t>The parcel keeps one permanent identity while the location source changes with custody.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5C6C7E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337560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4864" cy="1645920"/>
          </a:xfrm>
          <a:prstGeom prst="roundRect">
            <a:avLst>
              <a:gd name="adj" fmla="val 10000"/>
            </a:avLst>
          </a:prstGeom>
          <a:solidFill>
            <a:srgbClr val="1C5CBE"/>
          </a:solidFill>
          <a:ln>
            <a:solidFill>
              <a:srgbClr val="1C5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1" y="1490472"/>
            <a:ext cx="384048" cy="384048"/>
          </a:xfrm>
          <a:prstGeom prst="ellipse">
            <a:avLst/>
          </a:prstGeom>
          <a:solidFill>
            <a:srgbClr val="1C5CBE"/>
          </a:solidFill>
          <a:ln>
            <a:solidFill>
              <a:srgbClr val="1C5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49961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453895"/>
            <a:ext cx="2514599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091C34"/>
                </a:solidFill>
                <a:latin typeface="Aptos"/>
              </a:rPr>
              <a:t>PARCEL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892807"/>
            <a:ext cx="2953512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5C6C7E"/>
                </a:solidFill>
                <a:latin typeface="Aptos"/>
              </a:defRPr>
            </a:pPr>
            <a:r>
              <a:t>• Permanent Tracking ID + QR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325880"/>
            <a:ext cx="3337560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1325880"/>
            <a:ext cx="54864" cy="1645920"/>
          </a:xfrm>
          <a:prstGeom prst="roundRect">
            <a:avLst>
              <a:gd name="adj" fmla="val 10000"/>
            </a:avLst>
          </a:prstGeom>
          <a:solidFill>
            <a:srgbClr val="704CBE"/>
          </a:solidFill>
          <a:ln>
            <a:solidFill>
              <a:srgbClr val="70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62272" y="1490472"/>
            <a:ext cx="384048" cy="384048"/>
          </a:xfrm>
          <a:prstGeom prst="ellipse">
            <a:avLst/>
          </a:prstGeom>
          <a:solidFill>
            <a:srgbClr val="704CBE"/>
          </a:solidFill>
          <a:ln>
            <a:solidFill>
              <a:srgbClr val="70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149961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048" y="1453895"/>
            <a:ext cx="25146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091C34"/>
                </a:solidFill>
                <a:latin typeface="Aptos"/>
              </a:rPr>
              <a:t>CUSTODIAN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1892807"/>
            <a:ext cx="2953512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5C6C7E"/>
                </a:solidFill>
                <a:latin typeface="Aptos"/>
              </a:defRPr>
            </a:pPr>
            <a:r>
              <a:t>• Employee / Branch / Vehicle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1325880"/>
            <a:ext cx="3337560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955279" y="1325880"/>
            <a:ext cx="54864" cy="1645920"/>
          </a:xfrm>
          <a:prstGeom prst="roundRect">
            <a:avLst>
              <a:gd name="adj" fmla="val 10000"/>
            </a:avLst>
          </a:prstGeom>
          <a:solidFill>
            <a:srgbClr val="129780"/>
          </a:solidFill>
          <a:ln>
            <a:solidFill>
              <a:srgbClr val="12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19871" y="1490472"/>
            <a:ext cx="384048" cy="384048"/>
          </a:xfrm>
          <a:prstGeom prst="ellipse">
            <a:avLst/>
          </a:prstGeom>
          <a:solidFill>
            <a:srgbClr val="129780"/>
          </a:solidFill>
          <a:ln>
            <a:solidFill>
              <a:srgbClr val="12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9871" y="149961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3648" y="1453895"/>
            <a:ext cx="2514599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091C34"/>
                </a:solidFill>
                <a:latin typeface="Aptos"/>
              </a:rPr>
              <a:t>LOCATION SOURCE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6448" y="1892807"/>
            <a:ext cx="2953512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5C6C7E"/>
                </a:solidFill>
                <a:latin typeface="Aptos"/>
              </a:defRPr>
            </a:pPr>
            <a:r>
              <a:t>• Phone GPS / verified checkpoint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337560"/>
            <a:ext cx="45720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091C34"/>
                </a:solidFill>
                <a:latin typeface="Aptos"/>
              </a:rPr>
              <a:t>Location source changes with responsibility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886200"/>
            <a:ext cx="1755648" cy="310896"/>
          </a:xfrm>
          <a:prstGeom prst="roundRect">
            <a:avLst>
              <a:gd name="adj" fmla="val 10000"/>
            </a:avLst>
          </a:prstGeom>
          <a:solidFill>
            <a:srgbClr val="1C5CBE"/>
          </a:solidFill>
          <a:ln>
            <a:solidFill>
              <a:srgbClr val="1C5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3941063"/>
            <a:ext cx="1700784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Pickup employee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315968"/>
            <a:ext cx="1755648" cy="2286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5C6C7E"/>
                </a:solidFill>
                <a:latin typeface="Aptos"/>
              </a:rPr>
              <a:t>PHONE GPS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505456" y="4041648"/>
            <a:ext cx="402335" cy="0"/>
          </a:xfrm>
          <a:prstGeom prst="line">
            <a:avLst/>
          </a:prstGeom>
          <a:ln w="17780">
            <a:solidFill>
              <a:srgbClr val="00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953512" y="3886200"/>
            <a:ext cx="1755648" cy="310896"/>
          </a:xfrm>
          <a:prstGeom prst="roundRect">
            <a:avLst>
              <a:gd name="adj" fmla="val 10000"/>
            </a:avLst>
          </a:prstGeom>
          <a:solidFill>
            <a:srgbClr val="129780"/>
          </a:solidFill>
          <a:ln>
            <a:solidFill>
              <a:srgbClr val="12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80944" y="3941063"/>
            <a:ext cx="1700784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Origin branch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53512" y="4315968"/>
            <a:ext cx="1755648" cy="2286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5C6C7E"/>
                </a:solidFill>
                <a:latin typeface="Aptos"/>
              </a:rPr>
              <a:t>VERIFIED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727448" y="4041648"/>
            <a:ext cx="402336" cy="0"/>
          </a:xfrm>
          <a:prstGeom prst="line">
            <a:avLst/>
          </a:prstGeom>
          <a:ln w="17780">
            <a:solidFill>
              <a:srgbClr val="00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175504" y="3886200"/>
            <a:ext cx="1755648" cy="310896"/>
          </a:xfrm>
          <a:prstGeom prst="roundRect">
            <a:avLst>
              <a:gd name="adj" fmla="val 10000"/>
            </a:avLst>
          </a:prstGeom>
          <a:solidFill>
            <a:srgbClr val="704CBE"/>
          </a:solidFill>
          <a:ln>
            <a:solidFill>
              <a:srgbClr val="70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02936" y="3941063"/>
            <a:ext cx="1700784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Vehicle / driver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75504" y="4315968"/>
            <a:ext cx="1755648" cy="2286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5C6C7E"/>
                </a:solidFill>
                <a:latin typeface="Aptos"/>
              </a:rPr>
              <a:t>PHONE GPS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949440" y="4041648"/>
            <a:ext cx="402335" cy="0"/>
          </a:xfrm>
          <a:prstGeom prst="line">
            <a:avLst/>
          </a:prstGeom>
          <a:ln w="17780">
            <a:solidFill>
              <a:srgbClr val="00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397496" y="3886200"/>
            <a:ext cx="1755648" cy="310896"/>
          </a:xfrm>
          <a:prstGeom prst="roundRect">
            <a:avLst>
              <a:gd name="adj" fmla="val 10000"/>
            </a:avLst>
          </a:prstGeom>
          <a:solidFill>
            <a:srgbClr val="129780"/>
          </a:solidFill>
          <a:ln>
            <a:solidFill>
              <a:srgbClr val="12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24928" y="3941063"/>
            <a:ext cx="1700784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Destination branch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97496" y="4315968"/>
            <a:ext cx="1755648" cy="2286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5C6C7E"/>
                </a:solidFill>
                <a:latin typeface="Aptos"/>
              </a:rPr>
              <a:t>VERIFIED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171432" y="4041648"/>
            <a:ext cx="402336" cy="0"/>
          </a:xfrm>
          <a:prstGeom prst="line">
            <a:avLst/>
          </a:prstGeom>
          <a:ln w="17780">
            <a:solidFill>
              <a:srgbClr val="00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619488" y="3886200"/>
            <a:ext cx="1755648" cy="310896"/>
          </a:xfrm>
          <a:prstGeom prst="roundRect">
            <a:avLst>
              <a:gd name="adj" fmla="val 10000"/>
            </a:avLst>
          </a:prstGeom>
          <a:solidFill>
            <a:srgbClr val="EF8E23"/>
          </a:solidFill>
          <a:ln>
            <a:solidFill>
              <a:srgbClr val="EF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46920" y="3941063"/>
            <a:ext cx="1700784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Delivery employee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19488" y="4315968"/>
            <a:ext cx="1755648" cy="2286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5C6C7E"/>
                </a:solidFill>
                <a:latin typeface="Aptos"/>
              </a:rPr>
              <a:t>PHONE GPS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" y="4983480"/>
            <a:ext cx="10332720" cy="685800"/>
          </a:xfrm>
          <a:prstGeom prst="roundRect">
            <a:avLst>
              <a:gd name="adj" fmla="val 10000"/>
            </a:avLst>
          </a:prstGeom>
          <a:solidFill>
            <a:srgbClr val="E7F9F5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" y="5193792"/>
            <a:ext cx="98755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70" b="1">
                <a:solidFill>
                  <a:srgbClr val="129780"/>
                </a:solidFill>
                <a:latin typeface="Aptos"/>
              </a:rPr>
              <a:t>No GPS hardware inside every parcel: authorized mobile devices provide live movement during active custody.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830" b="0">
                <a:solidFill>
                  <a:srgbClr val="5C6C7E"/>
                </a:solidFill>
                <a:latin typeface="Aptos"/>
              </a:rPr>
              <a:t>LogiFlows • Tracking + ETA + AI Delay Prediction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830" b="1">
                <a:solidFill>
                  <a:srgbClr val="5C6C7E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C5CBE"/>
          </a:solidFill>
          <a:ln>
            <a:solidFill>
              <a:srgbClr val="1C5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51560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091C34"/>
                </a:solidFill>
                <a:latin typeface="Aptos Display"/>
              </a:rPr>
              <a:t>Real-time tracking — complete flow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5156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5C6C7E"/>
                </a:solidFill>
                <a:latin typeface="Aptos"/>
              </a:rPr>
              <a:t>From QR scan to live location, handover and delivery closure.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5C6C7E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251460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4864" cy="1508760"/>
          </a:xfrm>
          <a:prstGeom prst="roundRect">
            <a:avLst>
              <a:gd name="adj" fmla="val 10000"/>
            </a:avLst>
          </a:prstGeom>
          <a:solidFill>
            <a:srgbClr val="1C5CBE"/>
          </a:solidFill>
          <a:ln>
            <a:solidFill>
              <a:srgbClr val="1C5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67512" y="1581912"/>
            <a:ext cx="384048" cy="384048"/>
          </a:xfrm>
          <a:prstGeom prst="ellipse">
            <a:avLst/>
          </a:prstGeom>
          <a:solidFill>
            <a:srgbClr val="1C5CBE"/>
          </a:solidFill>
          <a:ln>
            <a:solidFill>
              <a:srgbClr val="1C5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59105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1545336"/>
            <a:ext cx="169164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091C34"/>
                </a:solidFill>
                <a:latin typeface="Aptos"/>
              </a:rPr>
              <a:t>SCAN QR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984248"/>
            <a:ext cx="2130552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19">
                <a:solidFill>
                  <a:srgbClr val="5C6C7E"/>
                </a:solidFill>
                <a:latin typeface="Aptos"/>
              </a:defRPr>
            </a:pPr>
            <a:r>
              <a:t>• Employee scans parcel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26663" y="2167128"/>
            <a:ext cx="292609" cy="0"/>
          </a:xfrm>
          <a:prstGeom prst="line">
            <a:avLst/>
          </a:prstGeom>
          <a:ln w="25400">
            <a:solidFill>
              <a:srgbClr val="00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83280" y="1417320"/>
            <a:ext cx="251460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83280" y="1417320"/>
            <a:ext cx="54864" cy="1508760"/>
          </a:xfrm>
          <a:prstGeom prst="roundRect">
            <a:avLst>
              <a:gd name="adj" fmla="val 10000"/>
            </a:avLst>
          </a:prstGeom>
          <a:solidFill>
            <a:srgbClr val="704CBE"/>
          </a:solidFill>
          <a:ln>
            <a:solidFill>
              <a:srgbClr val="70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7872" y="1581912"/>
            <a:ext cx="384048" cy="384048"/>
          </a:xfrm>
          <a:prstGeom prst="ellipse">
            <a:avLst/>
          </a:prstGeom>
          <a:solidFill>
            <a:srgbClr val="704CBE"/>
          </a:solidFill>
          <a:ln>
            <a:solidFill>
              <a:srgbClr val="70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872" y="159105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41648" y="1545336"/>
            <a:ext cx="169164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091C34"/>
                </a:solidFill>
                <a:latin typeface="Aptos"/>
              </a:rPr>
              <a:t>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4448" y="1984248"/>
            <a:ext cx="2130552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19">
                <a:solidFill>
                  <a:srgbClr val="5C6C7E"/>
                </a:solidFill>
                <a:latin typeface="Aptos"/>
              </a:defRPr>
            </a:pPr>
            <a:r>
              <a:t>• Assignment + parcel state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07024" y="2167128"/>
            <a:ext cx="292608" cy="0"/>
          </a:xfrm>
          <a:prstGeom prst="line">
            <a:avLst/>
          </a:prstGeom>
          <a:ln w="25400">
            <a:solidFill>
              <a:srgbClr val="00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63640" y="1417320"/>
            <a:ext cx="251460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63640" y="1417320"/>
            <a:ext cx="54864" cy="1508760"/>
          </a:xfrm>
          <a:prstGeom prst="roundRect">
            <a:avLst>
              <a:gd name="adj" fmla="val 10000"/>
            </a:avLst>
          </a:prstGeom>
          <a:solidFill>
            <a:srgbClr val="129780"/>
          </a:solidFill>
          <a:ln>
            <a:solidFill>
              <a:srgbClr val="12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28231" y="1581912"/>
            <a:ext cx="384048" cy="384048"/>
          </a:xfrm>
          <a:prstGeom prst="ellipse">
            <a:avLst/>
          </a:prstGeom>
          <a:solidFill>
            <a:srgbClr val="129780"/>
          </a:solidFill>
          <a:ln>
            <a:solidFill>
              <a:srgbClr val="12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1" y="159105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2007" y="1545336"/>
            <a:ext cx="169164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091C34"/>
                </a:solidFill>
                <a:latin typeface="Aptos"/>
              </a:rPr>
              <a:t>START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7" y="1984248"/>
            <a:ext cx="2130552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19">
                <a:solidFill>
                  <a:srgbClr val="5C6C7E"/>
                </a:solidFill>
                <a:latin typeface="Aptos"/>
              </a:defRPr>
            </a:pPr>
            <a:r>
              <a:t>• Open tracking session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787384" y="2167128"/>
            <a:ext cx="292608" cy="0"/>
          </a:xfrm>
          <a:prstGeom prst="line">
            <a:avLst/>
          </a:prstGeom>
          <a:ln w="25400">
            <a:solidFill>
              <a:srgbClr val="00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144000" y="1417320"/>
            <a:ext cx="251460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44000" y="1417320"/>
            <a:ext cx="54864" cy="1508760"/>
          </a:xfrm>
          <a:prstGeom prst="roundRect">
            <a:avLst>
              <a:gd name="adj" fmla="val 10000"/>
            </a:avLst>
          </a:prstGeom>
          <a:solidFill>
            <a:srgbClr val="00AEBE"/>
          </a:solidFill>
          <a:ln>
            <a:solidFill>
              <a:srgbClr val="00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308592" y="1581912"/>
            <a:ext cx="384048" cy="384048"/>
          </a:xfrm>
          <a:prstGeom prst="ellipse">
            <a:avLst/>
          </a:prstGeom>
          <a:solidFill>
            <a:srgbClr val="00AEBE"/>
          </a:solidFill>
          <a:ln>
            <a:solidFill>
              <a:srgbClr val="00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08592" y="159105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02368" y="1545336"/>
            <a:ext cx="1691639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091C34"/>
                </a:solidFill>
                <a:latin typeface="Aptos"/>
              </a:rPr>
              <a:t>GPS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5168" y="1984248"/>
            <a:ext cx="2130552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19">
                <a:solidFill>
                  <a:srgbClr val="5C6C7E"/>
                </a:solidFill>
                <a:latin typeface="Aptos"/>
              </a:defRPr>
            </a:pPr>
            <a:r>
              <a:t>• Lat • lon • speed • accuracy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405872" y="2935224"/>
            <a:ext cx="0" cy="475488"/>
          </a:xfrm>
          <a:prstGeom prst="line">
            <a:avLst/>
          </a:prstGeom>
          <a:ln w="25400">
            <a:solidFill>
              <a:srgbClr val="00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02920" y="3474720"/>
            <a:ext cx="251460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02920" y="3474720"/>
            <a:ext cx="54864" cy="1508760"/>
          </a:xfrm>
          <a:prstGeom prst="roundRect">
            <a:avLst>
              <a:gd name="adj" fmla="val 10000"/>
            </a:avLst>
          </a:prstGeom>
          <a:solidFill>
            <a:srgbClr val="1C5CBE"/>
          </a:solidFill>
          <a:ln>
            <a:solidFill>
              <a:srgbClr val="1C5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67512" y="3639312"/>
            <a:ext cx="384048" cy="384048"/>
          </a:xfrm>
          <a:prstGeom prst="ellipse">
            <a:avLst/>
          </a:prstGeom>
          <a:solidFill>
            <a:srgbClr val="1C5CBE"/>
          </a:solidFill>
          <a:ln>
            <a:solidFill>
              <a:srgbClr val="1C5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" y="364845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61288" y="3602736"/>
            <a:ext cx="169164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091C34"/>
                </a:solidFill>
                <a:latin typeface="Aptos"/>
              </a:rPr>
              <a:t>PROCESS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" y="4041648"/>
            <a:ext cx="2130552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19">
                <a:solidFill>
                  <a:srgbClr val="5C6C7E"/>
                </a:solidFill>
                <a:latin typeface="Aptos"/>
              </a:defRPr>
            </a:pPr>
            <a:r>
              <a:t>• Validate + store + broadcast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026663" y="4224528"/>
            <a:ext cx="292609" cy="0"/>
          </a:xfrm>
          <a:prstGeom prst="line">
            <a:avLst/>
          </a:prstGeom>
          <a:ln w="25400">
            <a:solidFill>
              <a:srgbClr val="00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3383280" y="3474720"/>
            <a:ext cx="251460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383280" y="3474720"/>
            <a:ext cx="54864" cy="1508760"/>
          </a:xfrm>
          <a:prstGeom prst="roundRect">
            <a:avLst>
              <a:gd name="adj" fmla="val 10000"/>
            </a:avLst>
          </a:prstGeom>
          <a:solidFill>
            <a:srgbClr val="23A968"/>
          </a:solidFill>
          <a:ln>
            <a:solidFill>
              <a:srgbClr val="23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547872" y="3639312"/>
            <a:ext cx="384048" cy="384048"/>
          </a:xfrm>
          <a:prstGeom prst="ellipse">
            <a:avLst/>
          </a:prstGeom>
          <a:solidFill>
            <a:srgbClr val="23A968"/>
          </a:solidFill>
          <a:ln>
            <a:solidFill>
              <a:srgbClr val="23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47872" y="364845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41648" y="3602736"/>
            <a:ext cx="169164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091C34"/>
                </a:solidFill>
                <a:latin typeface="Aptos"/>
              </a:rPr>
              <a:t>MAP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84448" y="4041648"/>
            <a:ext cx="2130552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19">
                <a:solidFill>
                  <a:srgbClr val="5C6C7E"/>
                </a:solidFill>
                <a:latin typeface="Aptos"/>
              </a:defRPr>
            </a:pPr>
            <a:r>
              <a:t>• Live / verified / estimated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907024" y="4224528"/>
            <a:ext cx="292608" cy="0"/>
          </a:xfrm>
          <a:prstGeom prst="line">
            <a:avLst/>
          </a:prstGeom>
          <a:ln w="25400">
            <a:solidFill>
              <a:srgbClr val="00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6263640" y="3474720"/>
            <a:ext cx="251460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263640" y="3474720"/>
            <a:ext cx="54864" cy="1508760"/>
          </a:xfrm>
          <a:prstGeom prst="roundRect">
            <a:avLst>
              <a:gd name="adj" fmla="val 10000"/>
            </a:avLst>
          </a:prstGeom>
          <a:solidFill>
            <a:srgbClr val="EF8E23"/>
          </a:solidFill>
          <a:ln>
            <a:solidFill>
              <a:srgbClr val="EF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28231" y="3639312"/>
            <a:ext cx="384048" cy="384048"/>
          </a:xfrm>
          <a:prstGeom prst="ellipse">
            <a:avLst/>
          </a:prstGeom>
          <a:solidFill>
            <a:srgbClr val="EF8E23"/>
          </a:solidFill>
          <a:ln>
            <a:solidFill>
              <a:srgbClr val="EF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28231" y="364845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22007" y="3602736"/>
            <a:ext cx="169164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091C34"/>
                </a:solidFill>
                <a:latin typeface="Aptos"/>
              </a:rPr>
              <a:t>HANDOVER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64807" y="4041648"/>
            <a:ext cx="2130552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19">
                <a:solidFill>
                  <a:srgbClr val="5C6C7E"/>
                </a:solidFill>
                <a:latin typeface="Aptos"/>
              </a:defRPr>
            </a:pPr>
            <a:r>
              <a:t>• Close old / start new session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787384" y="4224528"/>
            <a:ext cx="292608" cy="0"/>
          </a:xfrm>
          <a:prstGeom prst="line">
            <a:avLst/>
          </a:prstGeom>
          <a:ln w="25400">
            <a:solidFill>
              <a:srgbClr val="00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9144000" y="3474720"/>
            <a:ext cx="251460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144000" y="3474720"/>
            <a:ext cx="54864" cy="1508760"/>
          </a:xfrm>
          <a:prstGeom prst="roundRect">
            <a:avLst>
              <a:gd name="adj" fmla="val 10000"/>
            </a:avLst>
          </a:prstGeom>
          <a:solidFill>
            <a:srgbClr val="DA4349"/>
          </a:solidFill>
          <a:ln>
            <a:solidFill>
              <a:srgbClr val="DA4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308592" y="3639312"/>
            <a:ext cx="384048" cy="384048"/>
          </a:xfrm>
          <a:prstGeom prst="ellipse">
            <a:avLst/>
          </a:prstGeom>
          <a:solidFill>
            <a:srgbClr val="DA4349"/>
          </a:solidFill>
          <a:ln>
            <a:solidFill>
              <a:srgbClr val="DA4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08592" y="364845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02368" y="3602736"/>
            <a:ext cx="1691639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091C34"/>
                </a:solidFill>
                <a:latin typeface="Aptos"/>
              </a:rPr>
              <a:t>DELIVER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45168" y="4041648"/>
            <a:ext cx="2130552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19">
                <a:solidFill>
                  <a:srgbClr val="5C6C7E"/>
                </a:solidFill>
                <a:latin typeface="Aptos"/>
              </a:defRPr>
            </a:pPr>
            <a:r>
              <a:t>• OTP / signature / POD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14400" y="5715000"/>
            <a:ext cx="10241280" cy="411480"/>
          </a:xfrm>
          <a:prstGeom prst="roundRect">
            <a:avLst>
              <a:gd name="adj" fmla="val 10000"/>
            </a:avLst>
          </a:prstGeom>
          <a:solidFill>
            <a:srgbClr val="091C34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51560" y="5797296"/>
            <a:ext cx="996696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69" b="1">
                <a:solidFill>
                  <a:srgbClr val="FFFFFF"/>
                </a:solidFill>
                <a:latin typeface="Aptos"/>
              </a:rPr>
              <a:t>ONE PARCEL ID • MULTIPLE TRACKING SESSIONS • COMPLETE HANDOVER HISTORY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830" b="0">
                <a:solidFill>
                  <a:srgbClr val="5C6C7E"/>
                </a:solidFill>
                <a:latin typeface="Aptos"/>
              </a:rPr>
              <a:t>LogiFlows • Tracking + ETA + AI Delay Prediction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830" b="1">
                <a:solidFill>
                  <a:srgbClr val="5C6C7E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AEBE"/>
          </a:solidFill>
          <a:ln>
            <a:solidFill>
              <a:srgbClr val="00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51560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091C34"/>
                </a:solidFill>
                <a:latin typeface="Aptos Display"/>
              </a:rPr>
              <a:t>What data does tracking collect?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5156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5C6C7E"/>
                </a:solidFill>
                <a:latin typeface="Aptos"/>
              </a:rPr>
              <a:t>Movement data plus quality metadata makes the live location trustworthy.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5C6C7E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33756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4864" cy="1417320"/>
          </a:xfrm>
          <a:prstGeom prst="roundRect">
            <a:avLst>
              <a:gd name="adj" fmla="val 10000"/>
            </a:avLst>
          </a:prstGeom>
          <a:solidFill>
            <a:srgbClr val="1C5CBE"/>
          </a:solidFill>
          <a:ln>
            <a:solidFill>
              <a:srgbClr val="1C5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1" y="1536192"/>
            <a:ext cx="384048" cy="384048"/>
          </a:xfrm>
          <a:prstGeom prst="ellipse">
            <a:avLst/>
          </a:prstGeom>
          <a:solidFill>
            <a:srgbClr val="1C5CBE"/>
          </a:solidFill>
          <a:ln>
            <a:solidFill>
              <a:srgbClr val="1C5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54533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499616"/>
            <a:ext cx="2514599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091C34"/>
                </a:solidFill>
                <a:latin typeface="Aptos"/>
              </a:rPr>
              <a:t>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938528"/>
            <a:ext cx="2953512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5C6C7E"/>
                </a:solidFill>
                <a:latin typeface="Aptos"/>
              </a:defRPr>
            </a:pPr>
            <a:r>
              <a:t>• Latitude + longitude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371600"/>
            <a:ext cx="333756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43400" y="1371600"/>
            <a:ext cx="54864" cy="1417320"/>
          </a:xfrm>
          <a:prstGeom prst="roundRect">
            <a:avLst>
              <a:gd name="adj" fmla="val 10000"/>
            </a:avLst>
          </a:prstGeom>
          <a:solidFill>
            <a:srgbClr val="129780"/>
          </a:solidFill>
          <a:ln>
            <a:solidFill>
              <a:srgbClr val="12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07992" y="1536192"/>
            <a:ext cx="384048" cy="384048"/>
          </a:xfrm>
          <a:prstGeom prst="ellipse">
            <a:avLst/>
          </a:prstGeom>
          <a:solidFill>
            <a:srgbClr val="129780"/>
          </a:solidFill>
          <a:ln>
            <a:solidFill>
              <a:srgbClr val="12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154533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1768" y="1499616"/>
            <a:ext cx="25146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091C34"/>
                </a:solidFill>
                <a:latin typeface="Aptos"/>
              </a:rPr>
              <a:t>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1938528"/>
            <a:ext cx="2953512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5C6C7E"/>
                </a:solidFill>
                <a:latin typeface="Aptos"/>
              </a:defRPr>
            </a:pPr>
            <a:r>
              <a:t>• Timestamp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1371600"/>
            <a:ext cx="333756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19" y="1371600"/>
            <a:ext cx="54864" cy="1417320"/>
          </a:xfrm>
          <a:prstGeom prst="roundRect">
            <a:avLst>
              <a:gd name="adj" fmla="val 10000"/>
            </a:avLst>
          </a:prstGeom>
          <a:solidFill>
            <a:srgbClr val="704CBE"/>
          </a:solidFill>
          <a:ln>
            <a:solidFill>
              <a:srgbClr val="70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11311" y="1536192"/>
            <a:ext cx="384048" cy="384048"/>
          </a:xfrm>
          <a:prstGeom prst="ellipse">
            <a:avLst/>
          </a:prstGeom>
          <a:solidFill>
            <a:srgbClr val="704CBE"/>
          </a:solidFill>
          <a:ln>
            <a:solidFill>
              <a:srgbClr val="70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1" y="154533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1499616"/>
            <a:ext cx="2514599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091C34"/>
                </a:solidFill>
                <a:latin typeface="Aptos"/>
              </a:rPr>
              <a:t>Movement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1938528"/>
            <a:ext cx="2953512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5C6C7E"/>
                </a:solidFill>
                <a:latin typeface="Aptos"/>
              </a:defRPr>
            </a:pPr>
            <a:r>
              <a:t>• Speed / heading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200400"/>
            <a:ext cx="333756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3200400"/>
            <a:ext cx="54864" cy="1417320"/>
          </a:xfrm>
          <a:prstGeom prst="roundRect">
            <a:avLst>
              <a:gd name="adj" fmla="val 10000"/>
            </a:avLst>
          </a:prstGeom>
          <a:solidFill>
            <a:srgbClr val="EF8E23"/>
          </a:solidFill>
          <a:ln>
            <a:solidFill>
              <a:srgbClr val="EF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1" y="3364992"/>
            <a:ext cx="384048" cy="384048"/>
          </a:xfrm>
          <a:prstGeom prst="ellipse">
            <a:avLst/>
          </a:prstGeom>
          <a:solidFill>
            <a:srgbClr val="EF8E23"/>
          </a:solidFill>
          <a:ln>
            <a:solidFill>
              <a:srgbClr val="EF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1" y="337413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3328416"/>
            <a:ext cx="2514599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091C34"/>
                </a:solidFill>
                <a:latin typeface="Aptos"/>
              </a:rPr>
              <a:t>Quality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" y="3767328"/>
            <a:ext cx="2953512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5C6C7E"/>
                </a:solidFill>
                <a:latin typeface="Aptos"/>
              </a:defRPr>
            </a:pPr>
            <a:r>
              <a:t>• Accuracy + freshness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3400" y="3200400"/>
            <a:ext cx="333756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43400" y="3200400"/>
            <a:ext cx="54864" cy="1417320"/>
          </a:xfrm>
          <a:prstGeom prst="roundRect">
            <a:avLst>
              <a:gd name="adj" fmla="val 10000"/>
            </a:avLst>
          </a:prstGeom>
          <a:solidFill>
            <a:srgbClr val="00AEBE"/>
          </a:solidFill>
          <a:ln>
            <a:solidFill>
              <a:srgbClr val="00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07992" y="3364992"/>
            <a:ext cx="384048" cy="384048"/>
          </a:xfrm>
          <a:prstGeom prst="ellipse">
            <a:avLst/>
          </a:prstGeom>
          <a:solidFill>
            <a:srgbClr val="00AEBE"/>
          </a:solidFill>
          <a:ln>
            <a:solidFill>
              <a:srgbClr val="00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07992" y="337413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01768" y="3328416"/>
            <a:ext cx="25146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091C34"/>
                </a:solidFill>
                <a:latin typeface="Aptos"/>
              </a:rPr>
              <a:t>Identity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44568" y="3767328"/>
            <a:ext cx="2953512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5C6C7E"/>
                </a:solidFill>
                <a:latin typeface="Aptos"/>
              </a:defRPr>
            </a:pPr>
            <a:r>
              <a:t>• Parcel + custodian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19" y="3200400"/>
            <a:ext cx="333756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46719" y="3200400"/>
            <a:ext cx="54864" cy="1417320"/>
          </a:xfrm>
          <a:prstGeom prst="roundRect">
            <a:avLst>
              <a:gd name="adj" fmla="val 10000"/>
            </a:avLst>
          </a:prstGeom>
          <a:solidFill>
            <a:srgbClr val="23A968"/>
          </a:solidFill>
          <a:ln>
            <a:solidFill>
              <a:srgbClr val="23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211311" y="3364992"/>
            <a:ext cx="384048" cy="384048"/>
          </a:xfrm>
          <a:prstGeom prst="ellipse">
            <a:avLst/>
          </a:prstGeom>
          <a:solidFill>
            <a:srgbClr val="23A968"/>
          </a:solidFill>
          <a:ln>
            <a:solidFill>
              <a:srgbClr val="23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11311" y="337413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5088" y="3328416"/>
            <a:ext cx="2514599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091C34"/>
                </a:solidFill>
                <a:latin typeface="Aptos"/>
              </a:rPr>
              <a:t>Context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7888" y="3767328"/>
            <a:ext cx="2953512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5C6C7E"/>
                </a:solidFill>
                <a:latin typeface="Aptos"/>
              </a:defRPr>
            </a:pPr>
            <a:r>
              <a:t>• Route + batch + assignment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" y="5257800"/>
            <a:ext cx="10378440" cy="658368"/>
          </a:xfrm>
          <a:prstGeom prst="roundRect">
            <a:avLst>
              <a:gd name="adj" fmla="val 10000"/>
            </a:avLst>
          </a:prstGeom>
          <a:solidFill>
            <a:srgbClr val="EAF2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5413248"/>
            <a:ext cx="1005840" cy="2286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091C34"/>
                </a:solidFill>
                <a:latin typeface="Aptos"/>
              </a:rPr>
              <a:t>Quality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94560" y="5376672"/>
            <a:ext cx="854964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80" b="1">
                <a:solidFill>
                  <a:srgbClr val="1C5CBE"/>
                </a:solidFill>
                <a:latin typeface="Aptos"/>
              </a:rPr>
              <a:t>Never show stale GPS as live. Store freshness and accuracy so the UI explains tracking confidence.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830" b="0">
                <a:solidFill>
                  <a:srgbClr val="5C6C7E"/>
                </a:solidFill>
                <a:latin typeface="Aptos"/>
              </a:rPr>
              <a:t>LogiFlows • Tracking + ETA + AI Delay Prediction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830" b="1">
                <a:solidFill>
                  <a:srgbClr val="5C6C7E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29780"/>
          </a:solidFill>
          <a:ln>
            <a:solidFill>
              <a:srgbClr val="12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51560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091C34"/>
                </a:solidFill>
                <a:latin typeface="Aptos Display"/>
              </a:rPr>
              <a:t>Customer tracking confidence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5156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5C6C7E"/>
                </a:solidFill>
                <a:latin typeface="Aptos"/>
              </a:rPr>
              <a:t>The dashboard tells the customer what kind of location information is currently available.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5C6C7E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E7F9F5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72768"/>
            <a:ext cx="155448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500" b="1">
                <a:solidFill>
                  <a:srgbClr val="23A968"/>
                </a:solidFill>
                <a:latin typeface="Aptos"/>
              </a:rPr>
              <a:t>LIVE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371600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554480"/>
            <a:ext cx="7543800" cy="320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1F2B3A"/>
                </a:solidFill>
                <a:latin typeface="Aptos"/>
              </a:rPr>
              <a:t>Fresh employee/vehicle GPS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79192" y="1737360"/>
            <a:ext cx="201168" cy="0"/>
          </a:xfrm>
          <a:prstGeom prst="line">
            <a:avLst/>
          </a:prstGeom>
          <a:ln w="25400">
            <a:solidFill>
              <a:srgbClr val="00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" y="242316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EAF2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624328"/>
            <a:ext cx="155448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500" b="1">
                <a:solidFill>
                  <a:srgbClr val="1C5CBE"/>
                </a:solidFill>
                <a:latin typeface="Aptos"/>
              </a:rPr>
              <a:t>VERIFIED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2423160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2606040"/>
            <a:ext cx="7543800" cy="320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1F2B3A"/>
                </a:solidFill>
                <a:latin typeface="Aptos"/>
              </a:rPr>
              <a:t>Recent branch checkpoint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2788920"/>
            <a:ext cx="201168" cy="0"/>
          </a:xfrm>
          <a:prstGeom prst="line">
            <a:avLst/>
          </a:prstGeom>
          <a:ln w="25400">
            <a:solidFill>
              <a:srgbClr val="00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22960" y="347472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FF5E7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675887"/>
            <a:ext cx="155448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500" b="1">
                <a:solidFill>
                  <a:srgbClr val="EF8E23"/>
                </a:solidFill>
                <a:latin typeface="Aptos"/>
              </a:rPr>
              <a:t>ESTIMATED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0" y="3474720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3657600"/>
            <a:ext cx="7543800" cy="320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1F2B3A"/>
                </a:solidFill>
                <a:latin typeface="Aptos"/>
              </a:rPr>
              <a:t>Route-based estimate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679192" y="3840480"/>
            <a:ext cx="201168" cy="0"/>
          </a:xfrm>
          <a:prstGeom prst="line">
            <a:avLst/>
          </a:prstGeom>
          <a:ln w="25400">
            <a:solidFill>
              <a:srgbClr val="00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22960" y="4526279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727447"/>
            <a:ext cx="155448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500" b="1">
                <a:solidFill>
                  <a:srgbClr val="5C6C7E"/>
                </a:solidFill>
                <a:latin typeface="Aptos"/>
              </a:rPr>
              <a:t>LAST KNOWN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26080" y="4526279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0" y="4709159"/>
            <a:ext cx="7543800" cy="320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1F2B3A"/>
                </a:solidFill>
                <a:latin typeface="Aptos"/>
              </a:rPr>
              <a:t>Stale / disconnected location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20240" y="5669280"/>
            <a:ext cx="8229600" cy="438912"/>
          </a:xfrm>
          <a:prstGeom prst="roundRect">
            <a:avLst>
              <a:gd name="adj" fmla="val 10000"/>
            </a:avLst>
          </a:prstGeom>
          <a:solidFill>
            <a:srgbClr val="091C34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57400" y="5779008"/>
            <a:ext cx="7955279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Trustworthy visibility is better than pretending every point is live.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830" b="0">
                <a:solidFill>
                  <a:srgbClr val="5C6C7E"/>
                </a:solidFill>
                <a:latin typeface="Aptos"/>
              </a:rPr>
              <a:t>LogiFlows • Tracking + ETA + AI Delay Prediction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830" b="1">
                <a:solidFill>
                  <a:srgbClr val="5C6C7E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704CBE"/>
          </a:solidFill>
          <a:ln>
            <a:solidFill>
              <a:srgbClr val="70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51560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091C34"/>
                </a:solidFill>
                <a:latin typeface="Aptos Display"/>
              </a:rPr>
              <a:t>Dynamic ETA — what goes into the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5156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5C6C7E"/>
                </a:solidFill>
                <a:latin typeface="Aptos"/>
              </a:rPr>
              <a:t>ETA combines current movement, route state, service time, deadline and predicted delay.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5C6C7E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33756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4864" cy="1371600"/>
          </a:xfrm>
          <a:prstGeom prst="roundRect">
            <a:avLst>
              <a:gd name="adj" fmla="val 10000"/>
            </a:avLst>
          </a:prstGeom>
          <a:solidFill>
            <a:srgbClr val="1C5CBE"/>
          </a:solidFill>
          <a:ln>
            <a:solidFill>
              <a:srgbClr val="1C5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1" y="1490472"/>
            <a:ext cx="384048" cy="384048"/>
          </a:xfrm>
          <a:prstGeom prst="ellipse">
            <a:avLst/>
          </a:prstGeom>
          <a:solidFill>
            <a:srgbClr val="1C5CBE"/>
          </a:solidFill>
          <a:ln>
            <a:solidFill>
              <a:srgbClr val="1C5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49961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453895"/>
            <a:ext cx="2514599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091C34"/>
                </a:solidFill>
                <a:latin typeface="Aptos"/>
              </a:rPr>
              <a:t>Current 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892807"/>
            <a:ext cx="2953512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5C6C7E"/>
                </a:solidFill>
                <a:latin typeface="Aptos"/>
              </a:defRPr>
            </a:pPr>
            <a:r>
              <a:t>• Where is the parcel now?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325880"/>
            <a:ext cx="333756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43400" y="1325880"/>
            <a:ext cx="54864" cy="1371600"/>
          </a:xfrm>
          <a:prstGeom prst="roundRect">
            <a:avLst>
              <a:gd name="adj" fmla="val 10000"/>
            </a:avLst>
          </a:prstGeom>
          <a:solidFill>
            <a:srgbClr val="129780"/>
          </a:solidFill>
          <a:ln>
            <a:solidFill>
              <a:srgbClr val="12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07992" y="1490472"/>
            <a:ext cx="384048" cy="384048"/>
          </a:xfrm>
          <a:prstGeom prst="ellipse">
            <a:avLst/>
          </a:prstGeom>
          <a:solidFill>
            <a:srgbClr val="129780"/>
          </a:solidFill>
          <a:ln>
            <a:solidFill>
              <a:srgbClr val="12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149961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1768" y="1453895"/>
            <a:ext cx="25146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091C34"/>
                </a:solidFill>
                <a:latin typeface="Aptos"/>
              </a:rPr>
              <a:t>Remaining route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1892807"/>
            <a:ext cx="2953512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5C6C7E"/>
                </a:solidFill>
                <a:latin typeface="Aptos"/>
              </a:defRPr>
            </a:pPr>
            <a:r>
              <a:t>• Road distance/time remaining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1325880"/>
            <a:ext cx="333756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19" y="1325880"/>
            <a:ext cx="54864" cy="1371600"/>
          </a:xfrm>
          <a:prstGeom prst="roundRect">
            <a:avLst>
              <a:gd name="adj" fmla="val 10000"/>
            </a:avLst>
          </a:prstGeom>
          <a:solidFill>
            <a:srgbClr val="00AEBE"/>
          </a:solidFill>
          <a:ln>
            <a:solidFill>
              <a:srgbClr val="00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11311" y="1490472"/>
            <a:ext cx="384048" cy="384048"/>
          </a:xfrm>
          <a:prstGeom prst="ellipse">
            <a:avLst/>
          </a:prstGeom>
          <a:solidFill>
            <a:srgbClr val="00AEBE"/>
          </a:solidFill>
          <a:ln>
            <a:solidFill>
              <a:srgbClr val="00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1" y="149961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1453895"/>
            <a:ext cx="2514599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091C34"/>
                </a:solidFill>
                <a:latin typeface="Aptos"/>
              </a:rPr>
              <a:t>Current movement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1892807"/>
            <a:ext cx="2953512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5C6C7E"/>
                </a:solidFill>
                <a:latin typeface="Aptos"/>
              </a:defRPr>
            </a:pPr>
            <a:r>
              <a:t>• Actual speed/progress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017520"/>
            <a:ext cx="333756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3017520"/>
            <a:ext cx="54864" cy="1371600"/>
          </a:xfrm>
          <a:prstGeom prst="roundRect">
            <a:avLst>
              <a:gd name="adj" fmla="val 10000"/>
            </a:avLst>
          </a:prstGeom>
          <a:solidFill>
            <a:srgbClr val="EF8E23"/>
          </a:solidFill>
          <a:ln>
            <a:solidFill>
              <a:srgbClr val="EF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1" y="3182112"/>
            <a:ext cx="384048" cy="384048"/>
          </a:xfrm>
          <a:prstGeom prst="ellipse">
            <a:avLst/>
          </a:prstGeom>
          <a:solidFill>
            <a:srgbClr val="EF8E23"/>
          </a:solidFill>
          <a:ln>
            <a:solidFill>
              <a:srgbClr val="EF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1" y="319125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3145536"/>
            <a:ext cx="2514599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091C34"/>
                </a:solidFill>
                <a:latin typeface="Aptos"/>
              </a:rPr>
              <a:t>Service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" y="3584448"/>
            <a:ext cx="2953512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5C6C7E"/>
                </a:solidFill>
                <a:latin typeface="Aptos"/>
              </a:defRPr>
            </a:pPr>
            <a:r>
              <a:t>• Stops + branch handling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3400" y="3017520"/>
            <a:ext cx="333756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43400" y="3017520"/>
            <a:ext cx="54864" cy="1371600"/>
          </a:xfrm>
          <a:prstGeom prst="roundRect">
            <a:avLst>
              <a:gd name="adj" fmla="val 10000"/>
            </a:avLst>
          </a:prstGeom>
          <a:solidFill>
            <a:srgbClr val="DA4349"/>
          </a:solidFill>
          <a:ln>
            <a:solidFill>
              <a:srgbClr val="DA4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07992" y="3182112"/>
            <a:ext cx="384048" cy="384048"/>
          </a:xfrm>
          <a:prstGeom prst="ellipse">
            <a:avLst/>
          </a:prstGeom>
          <a:solidFill>
            <a:srgbClr val="DA4349"/>
          </a:solidFill>
          <a:ln>
            <a:solidFill>
              <a:srgbClr val="DA4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07992" y="319125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01768" y="3145536"/>
            <a:ext cx="25146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091C34"/>
                </a:solidFill>
                <a:latin typeface="Aptos"/>
              </a:rPr>
              <a:t>Delay prediction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44568" y="3584448"/>
            <a:ext cx="2953512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5C6C7E"/>
                </a:solidFill>
                <a:latin typeface="Aptos"/>
              </a:defRPr>
            </a:pPr>
            <a:r>
              <a:t>• Expected extra minutes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19" y="3017520"/>
            <a:ext cx="333756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46719" y="3017520"/>
            <a:ext cx="54864" cy="1371600"/>
          </a:xfrm>
          <a:prstGeom prst="roundRect">
            <a:avLst>
              <a:gd name="adj" fmla="val 10000"/>
            </a:avLst>
          </a:prstGeom>
          <a:solidFill>
            <a:srgbClr val="704CBE"/>
          </a:solidFill>
          <a:ln>
            <a:solidFill>
              <a:srgbClr val="70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211311" y="3182112"/>
            <a:ext cx="384048" cy="384048"/>
          </a:xfrm>
          <a:prstGeom prst="ellipse">
            <a:avLst/>
          </a:prstGeom>
          <a:solidFill>
            <a:srgbClr val="704CBE"/>
          </a:solidFill>
          <a:ln>
            <a:solidFill>
              <a:srgbClr val="70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11311" y="319125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5088" y="3145536"/>
            <a:ext cx="2514599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091C34"/>
                </a:solidFill>
                <a:latin typeface="Aptos"/>
              </a:rPr>
              <a:t>Deadline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7888" y="3584448"/>
            <a:ext cx="2953512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5C6C7E"/>
                </a:solidFill>
                <a:latin typeface="Aptos"/>
              </a:defRPr>
            </a:pPr>
            <a:r>
              <a:t>• Promised delivery window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" y="5074920"/>
            <a:ext cx="10287000" cy="914400"/>
          </a:xfrm>
          <a:prstGeom prst="roundRect">
            <a:avLst>
              <a:gd name="adj" fmla="val 10000"/>
            </a:avLst>
          </a:prstGeom>
          <a:solidFill>
            <a:srgbClr val="091C34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3000" y="5349240"/>
            <a:ext cx="9875520" cy="320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GPS + ROUTE + SERVICE + DELAY MODEL + DEADLINE  →  DYNAMIC ETA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830" b="0">
                <a:solidFill>
                  <a:srgbClr val="5C6C7E"/>
                </a:solidFill>
                <a:latin typeface="Aptos"/>
              </a:rPr>
              <a:t>LogiFlows • Tracking + ETA + AI Delay Prediction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830" b="1">
                <a:solidFill>
                  <a:srgbClr val="5C6C7E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C5CBE"/>
          </a:solidFill>
          <a:ln>
            <a:solidFill>
              <a:srgbClr val="1C5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51560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091C34"/>
                </a:solidFill>
                <a:latin typeface="Aptos Display"/>
              </a:rPr>
              <a:t>Dynamic ETA — complete calculation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5156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5C6C7E"/>
                </a:solidFill>
                <a:latin typeface="Aptos"/>
              </a:rPr>
              <a:t>The ETA is recalculated whenever meaningful delivery state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5C6C7E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091C34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1042416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 Display"/>
              </a:rPr>
              <a:t>ETA = Current Time + Remaining Travel Time + Service Time + Predicted Delay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743200"/>
            <a:ext cx="196596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2743200"/>
            <a:ext cx="54864" cy="1508760"/>
          </a:xfrm>
          <a:prstGeom prst="roundRect">
            <a:avLst>
              <a:gd name="adj" fmla="val 10000"/>
            </a:avLst>
          </a:prstGeom>
          <a:solidFill>
            <a:srgbClr val="1C5CBE"/>
          </a:solidFill>
          <a:ln>
            <a:solidFill>
              <a:srgbClr val="1C5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0392" y="2907792"/>
            <a:ext cx="384048" cy="384048"/>
          </a:xfrm>
          <a:prstGeom prst="ellipse">
            <a:avLst/>
          </a:prstGeom>
          <a:solidFill>
            <a:srgbClr val="1C5CBE"/>
          </a:solidFill>
          <a:ln>
            <a:solidFill>
              <a:srgbClr val="1C5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91693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2871216"/>
            <a:ext cx="11430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091C34"/>
                </a:solidFill>
                <a:latin typeface="Aptos"/>
              </a:rPr>
              <a:t>CURRENT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310128"/>
            <a:ext cx="1581912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30">
                <a:solidFill>
                  <a:srgbClr val="5C6C7E"/>
                </a:solidFill>
                <a:latin typeface="Aptos"/>
              </a:defRPr>
            </a:pPr>
            <a:r>
              <a:t>• Now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60904" y="3493008"/>
            <a:ext cx="237744" cy="0"/>
          </a:xfrm>
          <a:prstGeom prst="line">
            <a:avLst/>
          </a:prstGeom>
          <a:ln w="25400">
            <a:solidFill>
              <a:srgbClr val="00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53512" y="2743200"/>
            <a:ext cx="196596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953512" y="2743200"/>
            <a:ext cx="54864" cy="1508760"/>
          </a:xfrm>
          <a:prstGeom prst="roundRect">
            <a:avLst>
              <a:gd name="adj" fmla="val 10000"/>
            </a:avLst>
          </a:prstGeom>
          <a:solidFill>
            <a:srgbClr val="129780"/>
          </a:solidFill>
          <a:ln>
            <a:solidFill>
              <a:srgbClr val="12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118104" y="2907792"/>
            <a:ext cx="384048" cy="384048"/>
          </a:xfrm>
          <a:prstGeom prst="ellipse">
            <a:avLst/>
          </a:prstGeom>
          <a:solidFill>
            <a:srgbClr val="129780"/>
          </a:solidFill>
          <a:ln>
            <a:solidFill>
              <a:srgbClr val="12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18104" y="291693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2871216"/>
            <a:ext cx="1142999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091C34"/>
                </a:solidFill>
                <a:latin typeface="Aptos"/>
              </a:rPr>
              <a:t>TRAVEL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3310128"/>
            <a:ext cx="1581912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30">
                <a:solidFill>
                  <a:srgbClr val="5C6C7E"/>
                </a:solidFill>
                <a:latin typeface="Aptos"/>
              </a:defRPr>
            </a:pPr>
            <a:r>
              <a:t>• Route engine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928616" y="3493008"/>
            <a:ext cx="237744" cy="0"/>
          </a:xfrm>
          <a:prstGeom prst="line">
            <a:avLst/>
          </a:prstGeom>
          <a:ln w="25400">
            <a:solidFill>
              <a:srgbClr val="00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221224" y="2743200"/>
            <a:ext cx="196596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21224" y="2743200"/>
            <a:ext cx="54864" cy="1508760"/>
          </a:xfrm>
          <a:prstGeom prst="roundRect">
            <a:avLst>
              <a:gd name="adj" fmla="val 10000"/>
            </a:avLst>
          </a:prstGeom>
          <a:solidFill>
            <a:srgbClr val="EF8E23"/>
          </a:solidFill>
          <a:ln>
            <a:solidFill>
              <a:srgbClr val="EF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85816" y="2907792"/>
            <a:ext cx="384048" cy="384048"/>
          </a:xfrm>
          <a:prstGeom prst="ellipse">
            <a:avLst/>
          </a:prstGeom>
          <a:solidFill>
            <a:srgbClr val="EF8E23"/>
          </a:solidFill>
          <a:ln>
            <a:solidFill>
              <a:srgbClr val="EF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85816" y="291693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79592" y="2871216"/>
            <a:ext cx="11430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091C34"/>
                </a:solidFill>
                <a:latin typeface="Aptos"/>
              </a:rPr>
              <a:t>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22392" y="3310128"/>
            <a:ext cx="1581912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30">
                <a:solidFill>
                  <a:srgbClr val="5C6C7E"/>
                </a:solidFill>
                <a:latin typeface="Aptos"/>
              </a:defRPr>
            </a:pPr>
            <a:r>
              <a:t>• Handling/stops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96328" y="3493008"/>
            <a:ext cx="237743" cy="0"/>
          </a:xfrm>
          <a:prstGeom prst="line">
            <a:avLst/>
          </a:prstGeom>
          <a:ln w="25400">
            <a:solidFill>
              <a:srgbClr val="00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488936" y="2743200"/>
            <a:ext cx="196596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88936" y="2743200"/>
            <a:ext cx="54864" cy="1508760"/>
          </a:xfrm>
          <a:prstGeom prst="roundRect">
            <a:avLst>
              <a:gd name="adj" fmla="val 10000"/>
            </a:avLst>
          </a:prstGeom>
          <a:solidFill>
            <a:srgbClr val="DA4349"/>
          </a:solidFill>
          <a:ln>
            <a:solidFill>
              <a:srgbClr val="DA4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653527" y="2907792"/>
            <a:ext cx="384048" cy="384048"/>
          </a:xfrm>
          <a:prstGeom prst="ellipse">
            <a:avLst/>
          </a:prstGeom>
          <a:solidFill>
            <a:srgbClr val="DA4349"/>
          </a:solidFill>
          <a:ln>
            <a:solidFill>
              <a:srgbClr val="DA4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53527" y="291693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47304" y="2871216"/>
            <a:ext cx="1142999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091C34"/>
                </a:solidFill>
                <a:latin typeface="Aptos"/>
              </a:rPr>
              <a:t>DELAY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90104" y="3310128"/>
            <a:ext cx="1581912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30">
                <a:solidFill>
                  <a:srgbClr val="5C6C7E"/>
                </a:solidFill>
                <a:latin typeface="Aptos"/>
              </a:defRPr>
            </a:pPr>
            <a:r>
              <a:t>• ML estimate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464040" y="3493008"/>
            <a:ext cx="237744" cy="0"/>
          </a:xfrm>
          <a:prstGeom prst="line">
            <a:avLst/>
          </a:prstGeom>
          <a:ln w="25400">
            <a:solidFill>
              <a:srgbClr val="00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756648" y="2743200"/>
            <a:ext cx="196596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756648" y="2743200"/>
            <a:ext cx="54864" cy="1508760"/>
          </a:xfrm>
          <a:prstGeom prst="roundRect">
            <a:avLst>
              <a:gd name="adj" fmla="val 10000"/>
            </a:avLst>
          </a:prstGeom>
          <a:solidFill>
            <a:srgbClr val="23A968"/>
          </a:solidFill>
          <a:ln>
            <a:solidFill>
              <a:srgbClr val="23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921240" y="2907792"/>
            <a:ext cx="384048" cy="384048"/>
          </a:xfrm>
          <a:prstGeom prst="ellipse">
            <a:avLst/>
          </a:prstGeom>
          <a:solidFill>
            <a:srgbClr val="23A968"/>
          </a:solidFill>
          <a:ln>
            <a:solidFill>
              <a:srgbClr val="23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21240" y="291693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15016" y="2871216"/>
            <a:ext cx="1142999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091C34"/>
                </a:solidFill>
                <a:latin typeface="Aptos"/>
              </a:rPr>
              <a:t>ETA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57816" y="3310128"/>
            <a:ext cx="1581912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30">
                <a:solidFill>
                  <a:srgbClr val="5C6C7E"/>
                </a:solidFill>
                <a:latin typeface="Aptos"/>
              </a:defRPr>
            </a:pPr>
            <a:r>
              <a:t>• Expected arrival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4709160"/>
            <a:ext cx="731520" cy="2286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091C34"/>
                </a:solidFill>
                <a:latin typeface="Aptos"/>
              </a:rPr>
              <a:t>Example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5138928"/>
            <a:ext cx="1005840" cy="310896"/>
          </a:xfrm>
          <a:prstGeom prst="roundRect">
            <a:avLst>
              <a:gd name="adj" fmla="val 10000"/>
            </a:avLst>
          </a:prstGeom>
          <a:solidFill>
            <a:srgbClr val="1C5CBE"/>
          </a:solidFill>
          <a:ln>
            <a:solidFill>
              <a:srgbClr val="1C5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8952" y="5193792"/>
            <a:ext cx="950976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4:00 PM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984248" y="5138928"/>
            <a:ext cx="1051560" cy="310896"/>
          </a:xfrm>
          <a:prstGeom prst="roundRect">
            <a:avLst>
              <a:gd name="adj" fmla="val 10000"/>
            </a:avLst>
          </a:prstGeom>
          <a:solidFill>
            <a:srgbClr val="129780"/>
          </a:solidFill>
          <a:ln>
            <a:solidFill>
              <a:srgbClr val="12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11679" y="5193792"/>
            <a:ext cx="996695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+36 min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82696" y="5138928"/>
            <a:ext cx="1051560" cy="310896"/>
          </a:xfrm>
          <a:prstGeom prst="roundRect">
            <a:avLst>
              <a:gd name="adj" fmla="val 10000"/>
            </a:avLst>
          </a:prstGeom>
          <a:solidFill>
            <a:srgbClr val="EF8E23"/>
          </a:solidFill>
          <a:ln>
            <a:solidFill>
              <a:srgbClr val="EF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10127" y="5193792"/>
            <a:ext cx="996695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+10 min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81144" y="5138928"/>
            <a:ext cx="1051560" cy="310896"/>
          </a:xfrm>
          <a:prstGeom prst="roundRect">
            <a:avLst>
              <a:gd name="adj" fmla="val 10000"/>
            </a:avLst>
          </a:prstGeom>
          <a:solidFill>
            <a:srgbClr val="DA4349"/>
          </a:solidFill>
          <a:ln>
            <a:solidFill>
              <a:srgbClr val="DA4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08576" y="5193792"/>
            <a:ext cx="996695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+15 min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879592" y="5138928"/>
            <a:ext cx="1325880" cy="310896"/>
          </a:xfrm>
          <a:prstGeom prst="roundRect">
            <a:avLst>
              <a:gd name="adj" fmla="val 10000"/>
            </a:avLst>
          </a:prstGeom>
          <a:solidFill>
            <a:srgbClr val="23A968"/>
          </a:solidFill>
          <a:ln>
            <a:solidFill>
              <a:srgbClr val="23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07024" y="5193792"/>
            <a:ext cx="1271016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= 5:01 PM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71800" y="5897880"/>
            <a:ext cx="630936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>
                <a:solidFill>
                  <a:srgbClr val="704CBE"/>
                </a:solidFill>
                <a:latin typeface="Aptos"/>
              </a:rPr>
              <a:t>New GPS update → recalculate route progress → refresh ETA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830" b="0">
                <a:solidFill>
                  <a:srgbClr val="5C6C7E"/>
                </a:solidFill>
                <a:latin typeface="Aptos"/>
              </a:rPr>
              <a:t>LogiFlows • Tracking + ETA + AI Delay Prediction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830" b="1">
                <a:solidFill>
                  <a:srgbClr val="5C6C7E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29780"/>
          </a:solidFill>
          <a:ln>
            <a:solidFill>
              <a:srgbClr val="12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51560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091C34"/>
                </a:solidFill>
                <a:latin typeface="Aptos Display"/>
              </a:rPr>
              <a:t>ETA changes throughout the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5156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5C6C7E"/>
                </a:solidFill>
                <a:latin typeface="Aptos"/>
              </a:rPr>
              <a:t>The system exposes the latest expected arrival instead of keeping a stale promise.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5C6C7E"/>
                </a:solidFill>
                <a:latin typeface="Aptos"/>
              </a:rPr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1024128" y="1417320"/>
            <a:ext cx="457200" cy="457200"/>
          </a:xfrm>
          <a:prstGeom prst="ellipse">
            <a:avLst/>
          </a:prstGeom>
          <a:solidFill>
            <a:srgbClr val="23A968"/>
          </a:solidFill>
          <a:ln>
            <a:solidFill>
              <a:srgbClr val="23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426464"/>
            <a:ext cx="457200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90472" y="1645920"/>
            <a:ext cx="777240" cy="0"/>
          </a:xfrm>
          <a:prstGeom prst="line">
            <a:avLst/>
          </a:prstGeom>
          <a:ln w="25400">
            <a:solidFill>
              <a:srgbClr val="00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2011680"/>
            <a:ext cx="16459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091C34"/>
                </a:solidFill>
                <a:latin typeface="Aptos"/>
              </a:rPr>
              <a:t>2:00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423160"/>
            <a:ext cx="164592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0">
                <a:solidFill>
                  <a:srgbClr val="5C6C7E"/>
                </a:solidFill>
                <a:latin typeface="Aptos"/>
              </a:rPr>
              <a:t>Initial plan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" y="3154680"/>
            <a:ext cx="1188720" cy="310896"/>
          </a:xfrm>
          <a:prstGeom prst="roundRect">
            <a:avLst>
              <a:gd name="adj" fmla="val 10000"/>
            </a:avLst>
          </a:prstGeom>
          <a:solidFill>
            <a:srgbClr val="23A968"/>
          </a:solidFill>
          <a:ln>
            <a:solidFill>
              <a:srgbClr val="23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3209544"/>
            <a:ext cx="1133856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4:55 PM</a:t>
            </a:r>
          </a:p>
        </p:txBody>
      </p:sp>
      <p:sp>
        <p:nvSpPr>
          <p:cNvPr id="13" name="Oval 12"/>
          <p:cNvSpPr/>
          <p:nvPr/>
        </p:nvSpPr>
        <p:spPr>
          <a:xfrm>
            <a:off x="2926080" y="1417320"/>
            <a:ext cx="457200" cy="457200"/>
          </a:xfrm>
          <a:prstGeom prst="ellipse">
            <a:avLst/>
          </a:prstGeom>
          <a:solidFill>
            <a:srgbClr val="23A968"/>
          </a:solidFill>
          <a:ln>
            <a:solidFill>
              <a:srgbClr val="23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1426464"/>
            <a:ext cx="457200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92424" y="1645920"/>
            <a:ext cx="777240" cy="0"/>
          </a:xfrm>
          <a:prstGeom prst="line">
            <a:avLst/>
          </a:prstGeom>
          <a:ln w="25400">
            <a:solidFill>
              <a:srgbClr val="00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313432" y="2011680"/>
            <a:ext cx="16459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091C34"/>
                </a:solidFill>
                <a:latin typeface="Aptos"/>
              </a:rPr>
              <a:t>2:40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13432" y="2423160"/>
            <a:ext cx="164592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0">
                <a:solidFill>
                  <a:srgbClr val="5C6C7E"/>
                </a:solidFill>
                <a:latin typeface="Aptos"/>
              </a:rPr>
              <a:t>Normal movement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9464" y="3154680"/>
            <a:ext cx="1188720" cy="310896"/>
          </a:xfrm>
          <a:prstGeom prst="roundRect">
            <a:avLst>
              <a:gd name="adj" fmla="val 10000"/>
            </a:avLst>
          </a:prstGeom>
          <a:solidFill>
            <a:srgbClr val="23A968"/>
          </a:solidFill>
          <a:ln>
            <a:solidFill>
              <a:srgbClr val="23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96896" y="3209544"/>
            <a:ext cx="1133856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5:00 PM</a:t>
            </a:r>
          </a:p>
        </p:txBody>
      </p:sp>
      <p:sp>
        <p:nvSpPr>
          <p:cNvPr id="20" name="Oval 19"/>
          <p:cNvSpPr/>
          <p:nvPr/>
        </p:nvSpPr>
        <p:spPr>
          <a:xfrm>
            <a:off x="4828032" y="1417320"/>
            <a:ext cx="457200" cy="457200"/>
          </a:xfrm>
          <a:prstGeom prst="ellipse">
            <a:avLst/>
          </a:prstGeom>
          <a:solidFill>
            <a:srgbClr val="EF8E23"/>
          </a:solidFill>
          <a:ln>
            <a:solidFill>
              <a:srgbClr val="EF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28032" y="1426464"/>
            <a:ext cx="457200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294376" y="1645920"/>
            <a:ext cx="777240" cy="0"/>
          </a:xfrm>
          <a:prstGeom prst="line">
            <a:avLst/>
          </a:prstGeom>
          <a:ln w="25400">
            <a:solidFill>
              <a:srgbClr val="00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215384" y="2011680"/>
            <a:ext cx="16459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091C34"/>
                </a:solidFill>
                <a:latin typeface="Aptos"/>
              </a:rPr>
              <a:t>3:00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15384" y="2423160"/>
            <a:ext cx="164592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0">
                <a:solidFill>
                  <a:srgbClr val="5C6C7E"/>
                </a:solidFill>
                <a:latin typeface="Aptos"/>
              </a:rPr>
              <a:t>Speed drops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71416" y="3154680"/>
            <a:ext cx="1188720" cy="310896"/>
          </a:xfrm>
          <a:prstGeom prst="roundRect">
            <a:avLst>
              <a:gd name="adj" fmla="val 10000"/>
            </a:avLst>
          </a:prstGeom>
          <a:solidFill>
            <a:srgbClr val="EF8E23"/>
          </a:solidFill>
          <a:ln>
            <a:solidFill>
              <a:srgbClr val="EF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98848" y="3209544"/>
            <a:ext cx="1133856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5:12 PM</a:t>
            </a:r>
          </a:p>
        </p:txBody>
      </p:sp>
      <p:sp>
        <p:nvSpPr>
          <p:cNvPr id="27" name="Oval 26"/>
          <p:cNvSpPr/>
          <p:nvPr/>
        </p:nvSpPr>
        <p:spPr>
          <a:xfrm>
            <a:off x="6729984" y="1417320"/>
            <a:ext cx="457200" cy="457200"/>
          </a:xfrm>
          <a:prstGeom prst="ellipse">
            <a:avLst/>
          </a:prstGeom>
          <a:solidFill>
            <a:srgbClr val="DA4349"/>
          </a:solidFill>
          <a:ln>
            <a:solidFill>
              <a:srgbClr val="DA4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9984" y="1426464"/>
            <a:ext cx="457200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96328" y="1645920"/>
            <a:ext cx="777240" cy="0"/>
          </a:xfrm>
          <a:prstGeom prst="line">
            <a:avLst/>
          </a:prstGeom>
          <a:ln w="25400">
            <a:solidFill>
              <a:srgbClr val="00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117336" y="2011680"/>
            <a:ext cx="16459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091C34"/>
                </a:solidFill>
                <a:latin typeface="Aptos"/>
              </a:rPr>
              <a:t>3:20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17336" y="2423160"/>
            <a:ext cx="164592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0">
                <a:solidFill>
                  <a:srgbClr val="5C6C7E"/>
                </a:solidFill>
                <a:latin typeface="Aptos"/>
              </a:rPr>
              <a:t>Long stop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73368" y="3154680"/>
            <a:ext cx="1188720" cy="310896"/>
          </a:xfrm>
          <a:prstGeom prst="roundRect">
            <a:avLst>
              <a:gd name="adj" fmla="val 10000"/>
            </a:avLst>
          </a:prstGeom>
          <a:solidFill>
            <a:srgbClr val="DA4349"/>
          </a:solidFill>
          <a:ln>
            <a:solidFill>
              <a:srgbClr val="DA4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209544"/>
            <a:ext cx="1133856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5:38 PM</a:t>
            </a:r>
          </a:p>
        </p:txBody>
      </p:sp>
      <p:sp>
        <p:nvSpPr>
          <p:cNvPr id="34" name="Oval 33"/>
          <p:cNvSpPr/>
          <p:nvPr/>
        </p:nvSpPr>
        <p:spPr>
          <a:xfrm>
            <a:off x="8631936" y="1417320"/>
            <a:ext cx="457200" cy="457200"/>
          </a:xfrm>
          <a:prstGeom prst="ellipse">
            <a:avLst/>
          </a:prstGeom>
          <a:solidFill>
            <a:srgbClr val="704CBE"/>
          </a:solidFill>
          <a:ln>
            <a:solidFill>
              <a:srgbClr val="70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31936" y="1426464"/>
            <a:ext cx="457200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098280" y="1645920"/>
            <a:ext cx="777239" cy="0"/>
          </a:xfrm>
          <a:prstGeom prst="line">
            <a:avLst/>
          </a:prstGeom>
          <a:ln w="25400">
            <a:solidFill>
              <a:srgbClr val="00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019288" y="2011680"/>
            <a:ext cx="16459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091C34"/>
                </a:solidFill>
                <a:latin typeface="Aptos"/>
              </a:rPr>
              <a:t>3:25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9288" y="2423160"/>
            <a:ext cx="164592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0">
                <a:solidFill>
                  <a:srgbClr val="5C6C7E"/>
                </a:solidFill>
                <a:latin typeface="Aptos"/>
              </a:rPr>
              <a:t>Intervention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75319" y="3154680"/>
            <a:ext cx="1188720" cy="310896"/>
          </a:xfrm>
          <a:prstGeom prst="roundRect">
            <a:avLst>
              <a:gd name="adj" fmla="val 10000"/>
            </a:avLst>
          </a:prstGeom>
          <a:solidFill>
            <a:srgbClr val="704CBE"/>
          </a:solidFill>
          <a:ln>
            <a:solidFill>
              <a:srgbClr val="70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02751" y="3209544"/>
            <a:ext cx="1133856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5:28 PM</a:t>
            </a:r>
          </a:p>
        </p:txBody>
      </p:sp>
      <p:sp>
        <p:nvSpPr>
          <p:cNvPr id="41" name="Oval 40"/>
          <p:cNvSpPr/>
          <p:nvPr/>
        </p:nvSpPr>
        <p:spPr>
          <a:xfrm>
            <a:off x="10533888" y="1417320"/>
            <a:ext cx="457200" cy="457200"/>
          </a:xfrm>
          <a:prstGeom prst="ellipse">
            <a:avLst/>
          </a:prstGeom>
          <a:solidFill>
            <a:srgbClr val="129780"/>
          </a:solidFill>
          <a:ln>
            <a:solidFill>
              <a:srgbClr val="12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33888" y="1426464"/>
            <a:ext cx="457200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21240" y="2011680"/>
            <a:ext cx="16459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091C34"/>
                </a:solidFill>
                <a:latin typeface="Aptos"/>
              </a:rPr>
              <a:t>4:10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21240" y="2423160"/>
            <a:ext cx="164592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0">
                <a:solidFill>
                  <a:srgbClr val="5C6C7E"/>
                </a:solidFill>
                <a:latin typeface="Aptos"/>
              </a:rPr>
              <a:t>Recovery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77272" y="3154680"/>
            <a:ext cx="1188720" cy="310896"/>
          </a:xfrm>
          <a:prstGeom prst="roundRect">
            <a:avLst>
              <a:gd name="adj" fmla="val 10000"/>
            </a:avLst>
          </a:prstGeom>
          <a:solidFill>
            <a:srgbClr val="129780"/>
          </a:solidFill>
          <a:ln>
            <a:solidFill>
              <a:srgbClr val="12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204703" y="3209544"/>
            <a:ext cx="1133856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5:20 PM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251960"/>
            <a:ext cx="10744200" cy="1234440"/>
          </a:xfrm>
          <a:prstGeom prst="roundRect">
            <a:avLst>
              <a:gd name="adj" fmla="val 10000"/>
            </a:avLst>
          </a:prstGeom>
          <a:solidFill>
            <a:srgbClr val="EAF2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5840" y="4498848"/>
            <a:ext cx="155448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1C5CBE"/>
                </a:solidFill>
                <a:latin typeface="Aptos"/>
              </a:rPr>
              <a:t>Why did ETA change?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97480" y="4425696"/>
            <a:ext cx="832104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1F2B3A"/>
                </a:solidFill>
                <a:latin typeface="Aptos"/>
              </a:rPr>
              <a:t>Actual movement and operational events changed the remaining journey; the ETA engine recalculated the result.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160520" y="5742432"/>
            <a:ext cx="3840480" cy="310896"/>
          </a:xfrm>
          <a:prstGeom prst="roundRect">
            <a:avLst>
              <a:gd name="adj" fmla="val 10000"/>
            </a:avLst>
          </a:prstGeom>
          <a:solidFill>
            <a:srgbClr val="091C34"/>
          </a:solidFill>
          <a:ln>
            <a:solidFill>
              <a:srgbClr val="091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87952" y="5797296"/>
            <a:ext cx="3785616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DYNAMIC ETA ≠ STATIC PROMISE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830" b="0">
                <a:solidFill>
                  <a:srgbClr val="5C6C7E"/>
                </a:solidFill>
                <a:latin typeface="Aptos"/>
              </a:rPr>
              <a:t>LogiFlows • Tracking + ETA + AI Delay Prediction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830" b="1">
                <a:solidFill>
                  <a:srgbClr val="5C6C7E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DA4349"/>
          </a:solidFill>
          <a:ln>
            <a:solidFill>
              <a:srgbClr val="DA4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51560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091C34"/>
                </a:solidFill>
                <a:latin typeface="Aptos Display"/>
              </a:rPr>
              <a:t>AI delay prediction — what the model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5156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5C6C7E"/>
                </a:solidFill>
                <a:latin typeface="Aptos"/>
              </a:rPr>
              <a:t>Delay prediction combines multiple signals instead of relying on one rule.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5C6C7E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256032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4864" cy="1965960"/>
          </a:xfrm>
          <a:prstGeom prst="roundRect">
            <a:avLst>
              <a:gd name="adj" fmla="val 10000"/>
            </a:avLst>
          </a:prstGeom>
          <a:solidFill>
            <a:srgbClr val="1C5CBE"/>
          </a:solidFill>
          <a:ln>
            <a:solidFill>
              <a:srgbClr val="1C5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67512" y="1490472"/>
            <a:ext cx="384048" cy="384048"/>
          </a:xfrm>
          <a:prstGeom prst="ellipse">
            <a:avLst/>
          </a:prstGeom>
          <a:solidFill>
            <a:srgbClr val="1C5CBE"/>
          </a:solidFill>
          <a:ln>
            <a:solidFill>
              <a:srgbClr val="1C5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49961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1453895"/>
            <a:ext cx="17373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091C34"/>
                </a:solidFill>
                <a:latin typeface="Aptos"/>
              </a:rPr>
              <a:t>Movement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892807"/>
            <a:ext cx="2176272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10">
                <a:solidFill>
                  <a:srgbClr val="5C6C7E"/>
                </a:solidFill>
                <a:latin typeface="Aptos"/>
              </a:defRPr>
            </a:pPr>
            <a:r>
              <a:t>• Remaining distance</a:t>
            </a:r>
          </a:p>
          <a:p>
            <a:pPr>
              <a:spcAft>
                <a:spcPts val="300"/>
              </a:spcAft>
              <a:defRPr sz="910">
                <a:solidFill>
                  <a:srgbClr val="5C6C7E"/>
                </a:solidFill>
                <a:latin typeface="Aptos"/>
              </a:defRPr>
            </a:pPr>
            <a:r>
              <a:t>• Current speed</a:t>
            </a:r>
          </a:p>
          <a:p>
            <a:pPr>
              <a:spcAft>
                <a:spcPts val="300"/>
              </a:spcAft>
              <a:defRPr sz="910">
                <a:solidFill>
                  <a:srgbClr val="5C6C7E"/>
                </a:solidFill>
                <a:latin typeface="Aptos"/>
              </a:defRPr>
            </a:pPr>
            <a:r>
              <a:t>• Progress vs plan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325880"/>
            <a:ext cx="256032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3280" y="1325880"/>
            <a:ext cx="54864" cy="1965960"/>
          </a:xfrm>
          <a:prstGeom prst="roundRect">
            <a:avLst>
              <a:gd name="adj" fmla="val 10000"/>
            </a:avLst>
          </a:prstGeom>
          <a:solidFill>
            <a:srgbClr val="129780"/>
          </a:solidFill>
          <a:ln>
            <a:solidFill>
              <a:srgbClr val="12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47872" y="1490472"/>
            <a:ext cx="384048" cy="384048"/>
          </a:xfrm>
          <a:prstGeom prst="ellipse">
            <a:avLst/>
          </a:prstGeom>
          <a:solidFill>
            <a:srgbClr val="129780"/>
          </a:solidFill>
          <a:ln>
            <a:solidFill>
              <a:srgbClr val="12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47872" y="149961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1648" y="1453895"/>
            <a:ext cx="17373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091C34"/>
                </a:solidFill>
                <a:latin typeface="Aptos"/>
              </a:rPr>
              <a:t>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1892807"/>
            <a:ext cx="2176272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10">
                <a:solidFill>
                  <a:srgbClr val="5C6C7E"/>
                </a:solidFill>
                <a:latin typeface="Aptos"/>
              </a:defRPr>
            </a:pPr>
            <a:r>
              <a:t>• Workload</a:t>
            </a:r>
          </a:p>
          <a:p>
            <a:pPr>
              <a:spcAft>
                <a:spcPts val="300"/>
              </a:spcAft>
              <a:defRPr sz="910">
                <a:solidFill>
                  <a:srgbClr val="5C6C7E"/>
                </a:solidFill>
                <a:latin typeface="Aptos"/>
              </a:defRPr>
            </a:pPr>
            <a:r>
              <a:t>• Stops remaining</a:t>
            </a:r>
          </a:p>
          <a:p>
            <a:pPr>
              <a:spcAft>
                <a:spcPts val="300"/>
              </a:spcAft>
              <a:defRPr sz="910">
                <a:solidFill>
                  <a:srgbClr val="5C6C7E"/>
                </a:solidFill>
                <a:latin typeface="Aptos"/>
              </a:defRPr>
            </a:pPr>
            <a:r>
              <a:t>• Resource availability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325880"/>
            <a:ext cx="256032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1325880"/>
            <a:ext cx="54864" cy="1965960"/>
          </a:xfrm>
          <a:prstGeom prst="roundRect">
            <a:avLst>
              <a:gd name="adj" fmla="val 10000"/>
            </a:avLst>
          </a:prstGeom>
          <a:solidFill>
            <a:srgbClr val="704CBE"/>
          </a:solidFill>
          <a:ln>
            <a:solidFill>
              <a:srgbClr val="70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8231" y="1490472"/>
            <a:ext cx="384048" cy="384048"/>
          </a:xfrm>
          <a:prstGeom prst="ellipse">
            <a:avLst/>
          </a:prstGeom>
          <a:solidFill>
            <a:srgbClr val="704CBE"/>
          </a:solidFill>
          <a:ln>
            <a:solidFill>
              <a:srgbClr val="70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1" y="149961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22007" y="1453895"/>
            <a:ext cx="17373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091C34"/>
                </a:solidFill>
                <a:latin typeface="Aptos"/>
              </a:rPr>
              <a:t>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7" y="1892807"/>
            <a:ext cx="2176272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10">
                <a:solidFill>
                  <a:srgbClr val="5C6C7E"/>
                </a:solidFill>
                <a:latin typeface="Aptos"/>
              </a:defRPr>
            </a:pPr>
            <a:r>
              <a:t>• Route duration</a:t>
            </a:r>
          </a:p>
          <a:p>
            <a:pPr>
              <a:spcAft>
                <a:spcPts val="300"/>
              </a:spcAft>
              <a:defRPr sz="910">
                <a:solidFill>
                  <a:srgbClr val="5C6C7E"/>
                </a:solidFill>
                <a:latin typeface="Aptos"/>
              </a:defRPr>
            </a:pPr>
            <a:r>
              <a:t>• Past performance</a:t>
            </a:r>
          </a:p>
          <a:p>
            <a:pPr>
              <a:spcAft>
                <a:spcPts val="300"/>
              </a:spcAft>
              <a:defRPr sz="910">
                <a:solidFill>
                  <a:srgbClr val="5C6C7E"/>
                </a:solidFill>
                <a:latin typeface="Aptos"/>
              </a:defRPr>
            </a:pPr>
            <a:r>
              <a:t>• Time/day patterns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1325880"/>
            <a:ext cx="256032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44000" y="1325880"/>
            <a:ext cx="54864" cy="1965960"/>
          </a:xfrm>
          <a:prstGeom prst="roundRect">
            <a:avLst>
              <a:gd name="adj" fmla="val 10000"/>
            </a:avLst>
          </a:prstGeom>
          <a:solidFill>
            <a:srgbClr val="EF8E23"/>
          </a:solidFill>
          <a:ln>
            <a:solidFill>
              <a:srgbClr val="EF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308592" y="1490472"/>
            <a:ext cx="384048" cy="384048"/>
          </a:xfrm>
          <a:prstGeom prst="ellipse">
            <a:avLst/>
          </a:prstGeom>
          <a:solidFill>
            <a:srgbClr val="EF8E23"/>
          </a:solidFill>
          <a:ln>
            <a:solidFill>
              <a:srgbClr val="EF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08592" y="149961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02368" y="1453895"/>
            <a:ext cx="1737359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091C34"/>
                </a:solidFill>
                <a:latin typeface="Aptos"/>
              </a:rPr>
              <a:t>Context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45168" y="1892807"/>
            <a:ext cx="2176272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10">
                <a:solidFill>
                  <a:srgbClr val="5C6C7E"/>
                </a:solidFill>
                <a:latin typeface="Aptos"/>
              </a:defRPr>
            </a:pPr>
            <a:r>
              <a:t>• Service type</a:t>
            </a:r>
          </a:p>
          <a:p>
            <a:pPr>
              <a:spcAft>
                <a:spcPts val="300"/>
              </a:spcAft>
              <a:defRPr sz="910">
                <a:solidFill>
                  <a:srgbClr val="5C6C7E"/>
                </a:solidFill>
                <a:latin typeface="Aptos"/>
              </a:defRPr>
            </a:pPr>
            <a:r>
              <a:t>• Deadline</a:t>
            </a:r>
          </a:p>
          <a:p>
            <a:pPr>
              <a:spcAft>
                <a:spcPts val="300"/>
              </a:spcAft>
              <a:defRPr sz="910">
                <a:solidFill>
                  <a:srgbClr val="5C6C7E"/>
                </a:solidFill>
                <a:latin typeface="Aptos"/>
              </a:defRPr>
            </a:pPr>
            <a:r>
              <a:t>• Route deviation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60520" y="3794760"/>
            <a:ext cx="3886200" cy="1417320"/>
          </a:xfrm>
          <a:prstGeom prst="roundRect">
            <a:avLst>
              <a:gd name="adj" fmla="val 10000"/>
            </a:avLst>
          </a:prstGeom>
          <a:solidFill>
            <a:srgbClr val="091C34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4069080"/>
            <a:ext cx="3063240" cy="320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 Display"/>
              </a:rPr>
              <a:t>ML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4526280"/>
            <a:ext cx="32461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0">
                <a:solidFill>
                  <a:srgbClr val="CDDEF0"/>
                </a:solidFill>
                <a:latin typeface="Aptos"/>
              </a:rPr>
              <a:t>Risk classifier + delay regression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154680" y="3566160"/>
            <a:ext cx="960120" cy="822960"/>
          </a:xfrm>
          <a:prstGeom prst="line">
            <a:avLst/>
          </a:prstGeom>
          <a:ln w="29209">
            <a:solidFill>
              <a:srgbClr val="704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092440" y="3566160"/>
            <a:ext cx="685800" cy="822960"/>
          </a:xfrm>
          <a:prstGeom prst="line">
            <a:avLst/>
          </a:prstGeom>
          <a:ln w="29209">
            <a:solidFill>
              <a:srgbClr val="DA4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915400" y="3611880"/>
            <a:ext cx="242316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915400" y="3611880"/>
            <a:ext cx="54864" cy="960120"/>
          </a:xfrm>
          <a:prstGeom prst="roundRect">
            <a:avLst>
              <a:gd name="adj" fmla="val 10000"/>
            </a:avLst>
          </a:prstGeom>
          <a:solidFill>
            <a:srgbClr val="DA4349"/>
          </a:solidFill>
          <a:ln>
            <a:solidFill>
              <a:srgbClr val="DA4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16568" y="3739896"/>
            <a:ext cx="2057399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091C34"/>
                </a:solidFill>
                <a:latin typeface="Aptos"/>
              </a:rPr>
              <a:t>Outputs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16568" y="4178808"/>
            <a:ext cx="203911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80">
                <a:solidFill>
                  <a:srgbClr val="5C6C7E"/>
                </a:solidFill>
                <a:latin typeface="Aptos"/>
              </a:defRPr>
            </a:pPr>
            <a:r>
              <a:t>• Risk • probability • minutes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5532120"/>
            <a:ext cx="10698480" cy="475488"/>
          </a:xfrm>
          <a:prstGeom prst="roundRect">
            <a:avLst>
              <a:gd name="adj" fmla="val 10000"/>
            </a:avLst>
          </a:prstGeom>
          <a:solidFill>
            <a:srgbClr val="FFEDEE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5660136"/>
            <a:ext cx="1014984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>
                <a:solidFill>
                  <a:srgbClr val="DA4349"/>
                </a:solidFill>
                <a:latin typeface="Aptos"/>
              </a:rPr>
              <a:t>Example: 82% delay probability • HIGH risk • expected +18 minutes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830" b="0">
                <a:solidFill>
                  <a:srgbClr val="5C6C7E"/>
                </a:solidFill>
                <a:latin typeface="Aptos"/>
              </a:rPr>
              <a:t>LogiFlows • Tracking + ETA + AI Delay Prediction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830" b="1">
                <a:solidFill>
                  <a:srgbClr val="5C6C7E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DA4349"/>
          </a:solidFill>
          <a:ln>
            <a:solidFill>
              <a:srgbClr val="DA4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51560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091C34"/>
                </a:solidFill>
                <a:latin typeface="Aptos Display"/>
              </a:rPr>
              <a:t>AI delay prediction — complete flow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5156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5C6C7E"/>
                </a:solidFill>
                <a:latin typeface="Aptos"/>
              </a:rPr>
              <a:t>From delivery data to risk, expected delay and a new ETA.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5C6C7E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508760"/>
            <a:ext cx="146304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508760"/>
            <a:ext cx="54864" cy="1828800"/>
          </a:xfrm>
          <a:prstGeom prst="roundRect">
            <a:avLst>
              <a:gd name="adj" fmla="val 10000"/>
            </a:avLst>
          </a:prstGeom>
          <a:solidFill>
            <a:srgbClr val="1C5CBE"/>
          </a:solidFill>
          <a:ln>
            <a:solidFill>
              <a:srgbClr val="1C5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6072" y="1673351"/>
            <a:ext cx="384048" cy="384048"/>
          </a:xfrm>
          <a:prstGeom prst="ellipse">
            <a:avLst/>
          </a:prstGeom>
          <a:solidFill>
            <a:srgbClr val="1C5CBE"/>
          </a:solidFill>
          <a:ln>
            <a:solidFill>
              <a:srgbClr val="1C5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682495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636776"/>
            <a:ext cx="64008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19" b="1">
                <a:solidFill>
                  <a:srgbClr val="091C34"/>
                </a:solidFill>
                <a:latin typeface="Aptos"/>
              </a:rPr>
              <a:t>COLLECT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075688"/>
            <a:ext cx="1078992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60">
                <a:solidFill>
                  <a:srgbClr val="5C6C7E"/>
                </a:solidFill>
                <a:latin typeface="Aptos"/>
              </a:defRPr>
            </a:pPr>
            <a:r>
              <a:t>• Live + historical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883664" y="2395728"/>
            <a:ext cx="146304" cy="0"/>
          </a:xfrm>
          <a:prstGeom prst="line">
            <a:avLst/>
          </a:prstGeom>
          <a:ln w="25400">
            <a:solidFill>
              <a:srgbClr val="00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075688" y="1508760"/>
            <a:ext cx="146304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075688" y="1508760"/>
            <a:ext cx="54864" cy="1828800"/>
          </a:xfrm>
          <a:prstGeom prst="roundRect">
            <a:avLst>
              <a:gd name="adj" fmla="val 10000"/>
            </a:avLst>
          </a:prstGeom>
          <a:solidFill>
            <a:srgbClr val="129780"/>
          </a:solidFill>
          <a:ln>
            <a:solidFill>
              <a:srgbClr val="12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240280" y="1673351"/>
            <a:ext cx="384048" cy="384048"/>
          </a:xfrm>
          <a:prstGeom prst="ellipse">
            <a:avLst/>
          </a:prstGeom>
          <a:solidFill>
            <a:srgbClr val="129780"/>
          </a:solidFill>
          <a:ln>
            <a:solidFill>
              <a:srgbClr val="12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40280" y="1682495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34056" y="1636776"/>
            <a:ext cx="64008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19" b="1">
                <a:solidFill>
                  <a:srgbClr val="091C34"/>
                </a:solidFill>
                <a:latin typeface="Aptos"/>
              </a:rPr>
              <a:t>CLEAN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76856" y="2075688"/>
            <a:ext cx="1078992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60">
                <a:solidFill>
                  <a:srgbClr val="5C6C7E"/>
                </a:solidFill>
                <a:latin typeface="Aptos"/>
              </a:defRPr>
            </a:pPr>
            <a:r>
              <a:t>• Validate features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547872" y="2395728"/>
            <a:ext cx="146304" cy="0"/>
          </a:xfrm>
          <a:prstGeom prst="line">
            <a:avLst/>
          </a:prstGeom>
          <a:ln w="25400">
            <a:solidFill>
              <a:srgbClr val="00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739896" y="1508760"/>
            <a:ext cx="146304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739896" y="1508760"/>
            <a:ext cx="54864" cy="1828800"/>
          </a:xfrm>
          <a:prstGeom prst="roundRect">
            <a:avLst>
              <a:gd name="adj" fmla="val 10000"/>
            </a:avLst>
          </a:prstGeom>
          <a:solidFill>
            <a:srgbClr val="704CBE"/>
          </a:solidFill>
          <a:ln>
            <a:solidFill>
              <a:srgbClr val="70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904487" y="1673351"/>
            <a:ext cx="384048" cy="384048"/>
          </a:xfrm>
          <a:prstGeom prst="ellipse">
            <a:avLst/>
          </a:prstGeom>
          <a:solidFill>
            <a:srgbClr val="704CBE"/>
          </a:solidFill>
          <a:ln>
            <a:solidFill>
              <a:srgbClr val="70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04487" y="1682495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98264" y="1636776"/>
            <a:ext cx="64008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19" b="1">
                <a:solidFill>
                  <a:srgbClr val="091C34"/>
                </a:solidFill>
                <a:latin typeface="Aptos"/>
              </a:rPr>
              <a:t>PREDICT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41063" y="2075688"/>
            <a:ext cx="1078992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60">
                <a:solidFill>
                  <a:srgbClr val="5C6C7E"/>
                </a:solidFill>
                <a:latin typeface="Aptos"/>
              </a:defRPr>
            </a:pPr>
            <a:r>
              <a:t>• Risk probability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212080" y="2395728"/>
            <a:ext cx="146303" cy="0"/>
          </a:xfrm>
          <a:prstGeom prst="line">
            <a:avLst/>
          </a:prstGeom>
          <a:ln w="25400">
            <a:solidFill>
              <a:srgbClr val="00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404104" y="1508760"/>
            <a:ext cx="146304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04104" y="1508760"/>
            <a:ext cx="54864" cy="1828800"/>
          </a:xfrm>
          <a:prstGeom prst="roundRect">
            <a:avLst>
              <a:gd name="adj" fmla="val 10000"/>
            </a:avLst>
          </a:prstGeom>
          <a:solidFill>
            <a:srgbClr val="DA4349"/>
          </a:solidFill>
          <a:ln>
            <a:solidFill>
              <a:srgbClr val="DA4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68696" y="1673351"/>
            <a:ext cx="384048" cy="384048"/>
          </a:xfrm>
          <a:prstGeom prst="ellipse">
            <a:avLst/>
          </a:prstGeom>
          <a:solidFill>
            <a:srgbClr val="DA4349"/>
          </a:solidFill>
          <a:ln>
            <a:solidFill>
              <a:srgbClr val="DA4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68696" y="1682495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62472" y="1636776"/>
            <a:ext cx="64008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19" b="1">
                <a:solidFill>
                  <a:srgbClr val="091C34"/>
                </a:solidFill>
                <a:latin typeface="Aptos"/>
              </a:rPr>
              <a:t>ESTIMATE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05272" y="2075688"/>
            <a:ext cx="1078992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60">
                <a:solidFill>
                  <a:srgbClr val="5C6C7E"/>
                </a:solidFill>
                <a:latin typeface="Aptos"/>
              </a:defRPr>
            </a:pPr>
            <a:r>
              <a:t>• Extra minutes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876288" y="2395728"/>
            <a:ext cx="146304" cy="0"/>
          </a:xfrm>
          <a:prstGeom prst="line">
            <a:avLst/>
          </a:prstGeom>
          <a:ln w="25400">
            <a:solidFill>
              <a:srgbClr val="00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068312" y="1508760"/>
            <a:ext cx="146304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068312" y="1508760"/>
            <a:ext cx="54864" cy="1828800"/>
          </a:xfrm>
          <a:prstGeom prst="roundRect">
            <a:avLst>
              <a:gd name="adj" fmla="val 10000"/>
            </a:avLst>
          </a:prstGeom>
          <a:solidFill>
            <a:srgbClr val="EF8E23"/>
          </a:solidFill>
          <a:ln>
            <a:solidFill>
              <a:srgbClr val="EF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232904" y="1673351"/>
            <a:ext cx="384048" cy="384048"/>
          </a:xfrm>
          <a:prstGeom prst="ellipse">
            <a:avLst/>
          </a:prstGeom>
          <a:solidFill>
            <a:srgbClr val="EF8E23"/>
          </a:solidFill>
          <a:ln>
            <a:solidFill>
              <a:srgbClr val="EF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32904" y="1682495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26680" y="1636776"/>
            <a:ext cx="640079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19" b="1">
                <a:solidFill>
                  <a:srgbClr val="091C34"/>
                </a:solidFill>
                <a:latin typeface="Aptos"/>
              </a:rPr>
              <a:t>UPDATE ETA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2075688"/>
            <a:ext cx="1078992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60">
                <a:solidFill>
                  <a:srgbClr val="5C6C7E"/>
                </a:solidFill>
                <a:latin typeface="Aptos"/>
              </a:defRPr>
            </a:pPr>
            <a:r>
              <a:t>• Add delay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540496" y="2395728"/>
            <a:ext cx="146304" cy="0"/>
          </a:xfrm>
          <a:prstGeom prst="line">
            <a:avLst/>
          </a:prstGeom>
          <a:ln w="25400">
            <a:solidFill>
              <a:srgbClr val="00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732519" y="1508760"/>
            <a:ext cx="146304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732519" y="1508760"/>
            <a:ext cx="54864" cy="1828800"/>
          </a:xfrm>
          <a:prstGeom prst="roundRect">
            <a:avLst>
              <a:gd name="adj" fmla="val 10000"/>
            </a:avLst>
          </a:prstGeom>
          <a:solidFill>
            <a:srgbClr val="091C34"/>
          </a:solidFill>
          <a:ln>
            <a:solidFill>
              <a:srgbClr val="091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897111" y="1673351"/>
            <a:ext cx="384048" cy="384048"/>
          </a:xfrm>
          <a:prstGeom prst="ellipse">
            <a:avLst/>
          </a:prstGeom>
          <a:solidFill>
            <a:srgbClr val="091C34"/>
          </a:solidFill>
          <a:ln>
            <a:solidFill>
              <a:srgbClr val="091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97111" y="1682495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90888" y="1636776"/>
            <a:ext cx="640079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19" b="1">
                <a:solidFill>
                  <a:srgbClr val="091C34"/>
                </a:solidFill>
                <a:latin typeface="Aptos"/>
              </a:rPr>
              <a:t>DECIDE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33688" y="2075688"/>
            <a:ext cx="1078992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60">
                <a:solidFill>
                  <a:srgbClr val="5C6C7E"/>
                </a:solidFill>
                <a:latin typeface="Aptos"/>
              </a:defRPr>
            </a:pPr>
            <a:r>
              <a:t>• Choose action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204703" y="2395728"/>
            <a:ext cx="146304" cy="0"/>
          </a:xfrm>
          <a:prstGeom prst="line">
            <a:avLst/>
          </a:prstGeom>
          <a:ln w="25400">
            <a:solidFill>
              <a:srgbClr val="00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0396728" y="1508760"/>
            <a:ext cx="146304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96728" y="1508760"/>
            <a:ext cx="54864" cy="1828800"/>
          </a:xfrm>
          <a:prstGeom prst="roundRect">
            <a:avLst>
              <a:gd name="adj" fmla="val 10000"/>
            </a:avLst>
          </a:prstGeom>
          <a:solidFill>
            <a:srgbClr val="23A968"/>
          </a:solidFill>
          <a:ln>
            <a:solidFill>
              <a:srgbClr val="23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561319" y="1673351"/>
            <a:ext cx="384048" cy="384048"/>
          </a:xfrm>
          <a:prstGeom prst="ellipse">
            <a:avLst/>
          </a:prstGeom>
          <a:solidFill>
            <a:srgbClr val="23A968"/>
          </a:solidFill>
          <a:ln>
            <a:solidFill>
              <a:srgbClr val="23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61319" y="1682495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55096" y="1636776"/>
            <a:ext cx="640079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19" b="1">
                <a:solidFill>
                  <a:srgbClr val="091C34"/>
                </a:solidFill>
                <a:latin typeface="Aptos"/>
              </a:rPr>
              <a:t>LEARN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97896" y="2075688"/>
            <a:ext cx="1078992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60">
                <a:solidFill>
                  <a:srgbClr val="5C6C7E"/>
                </a:solidFill>
                <a:latin typeface="Aptos"/>
              </a:defRPr>
            </a:pPr>
            <a:r>
              <a:t>• Actual outcome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4400" y="4069080"/>
            <a:ext cx="1920240" cy="310896"/>
          </a:xfrm>
          <a:prstGeom prst="roundRect">
            <a:avLst>
              <a:gd name="adj" fmla="val 10000"/>
            </a:avLst>
          </a:prstGeom>
          <a:solidFill>
            <a:srgbClr val="23A968"/>
          </a:solidFill>
          <a:ln>
            <a:solidFill>
              <a:srgbClr val="23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1832" y="4123944"/>
            <a:ext cx="1865376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LOW → NORMAL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200400" y="4069080"/>
            <a:ext cx="2331720" cy="310896"/>
          </a:xfrm>
          <a:prstGeom prst="roundRect">
            <a:avLst>
              <a:gd name="adj" fmla="val 10000"/>
            </a:avLst>
          </a:prstGeom>
          <a:solidFill>
            <a:srgbClr val="EF8E23"/>
          </a:solidFill>
          <a:ln>
            <a:solidFill>
              <a:srgbClr val="EF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27832" y="4123944"/>
            <a:ext cx="2276856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MEDIUM → MONITOR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897880" y="4069080"/>
            <a:ext cx="2240280" cy="310896"/>
          </a:xfrm>
          <a:prstGeom prst="roundRect">
            <a:avLst>
              <a:gd name="adj" fmla="val 10000"/>
            </a:avLst>
          </a:prstGeom>
          <a:solidFill>
            <a:srgbClr val="DA4349"/>
          </a:solidFill>
          <a:ln>
            <a:solidFill>
              <a:srgbClr val="DA4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25312" y="4123944"/>
            <a:ext cx="2185416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HIGH → INTERVENE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549640" y="4069080"/>
            <a:ext cx="2560320" cy="310896"/>
          </a:xfrm>
          <a:prstGeom prst="roundRect">
            <a:avLst>
              <a:gd name="adj" fmla="val 10000"/>
            </a:avLst>
          </a:prstGeom>
          <a:solidFill>
            <a:srgbClr val="704CBE"/>
          </a:solidFill>
          <a:ln>
            <a:solidFill>
              <a:srgbClr val="70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77072" y="4123944"/>
            <a:ext cx="2505456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ACTUAL → TRAINING DATA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05840" y="5074920"/>
            <a:ext cx="10149840" cy="713232"/>
          </a:xfrm>
          <a:prstGeom prst="roundRect">
            <a:avLst>
              <a:gd name="adj" fmla="val 10000"/>
            </a:avLst>
          </a:prstGeom>
          <a:solidFill>
            <a:srgbClr val="091C34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34440" y="5285232"/>
            <a:ext cx="969264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Prediction is valuable because it changes what the operation does next.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830" b="0">
                <a:solidFill>
                  <a:srgbClr val="5C6C7E"/>
                </a:solidFill>
                <a:latin typeface="Aptos"/>
              </a:rPr>
              <a:t>LogiFlows • Tracking + ETA + AI Delay Prediction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830" b="1">
                <a:solidFill>
                  <a:srgbClr val="5C6C7E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EF8E23"/>
          </a:solidFill>
          <a:ln>
            <a:solidFill>
              <a:srgbClr val="EF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51560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091C34"/>
                </a:solidFill>
                <a:latin typeface="Aptos Display"/>
              </a:rPr>
              <a:t>Delay signals and operational meaning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5156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5C6C7E"/>
                </a:solidFill>
                <a:latin typeface="Aptos"/>
              </a:rPr>
              <a:t>Multiple conditions can combine to increase predicted delay.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5C6C7E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80160"/>
            <a:ext cx="521208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280160"/>
            <a:ext cx="54864" cy="1298448"/>
          </a:xfrm>
          <a:prstGeom prst="roundRect">
            <a:avLst>
              <a:gd name="adj" fmla="val 10000"/>
            </a:avLst>
          </a:prstGeom>
          <a:solidFill>
            <a:srgbClr val="1C5CBE"/>
          </a:solidFill>
          <a:ln>
            <a:solidFill>
              <a:srgbClr val="1C5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58952" y="1444751"/>
            <a:ext cx="384048" cy="384048"/>
          </a:xfrm>
          <a:prstGeom prst="ellipse">
            <a:avLst/>
          </a:prstGeom>
          <a:solidFill>
            <a:srgbClr val="1C5CBE"/>
          </a:solidFill>
          <a:ln>
            <a:solidFill>
              <a:srgbClr val="1C5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453895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1408176"/>
            <a:ext cx="438912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091C34"/>
                </a:solidFill>
                <a:latin typeface="Aptos"/>
              </a:rPr>
              <a:t>Slow movement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847088"/>
            <a:ext cx="4828032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5C6C7E"/>
                </a:solidFill>
                <a:latin typeface="Aptos"/>
              </a:defRPr>
            </a:pPr>
            <a:r>
              <a:t>• Actual speed remains below expected progress.</a:t>
            </a:r>
          </a:p>
          <a:p>
            <a:pPr>
              <a:spcAft>
                <a:spcPts val="300"/>
              </a:spcAft>
              <a:defRPr sz="900">
                <a:solidFill>
                  <a:srgbClr val="5C6C7E"/>
                </a:solidFill>
                <a:latin typeface="Aptos"/>
              </a:defRPr>
            </a:pPr>
            <a:r>
              <a:t>• Remaining schedule has less buffer.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21208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54864" cy="1298448"/>
          </a:xfrm>
          <a:prstGeom prst="roundRect">
            <a:avLst>
              <a:gd name="adj" fmla="val 10000"/>
            </a:avLst>
          </a:prstGeom>
          <a:solidFill>
            <a:srgbClr val="EF8E23"/>
          </a:solidFill>
          <a:ln>
            <a:solidFill>
              <a:srgbClr val="EF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82512" y="1444751"/>
            <a:ext cx="384048" cy="384048"/>
          </a:xfrm>
          <a:prstGeom prst="ellipse">
            <a:avLst/>
          </a:prstGeom>
          <a:solidFill>
            <a:srgbClr val="EF8E23"/>
          </a:solidFill>
          <a:ln>
            <a:solidFill>
              <a:srgbClr val="EF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453895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1408176"/>
            <a:ext cx="438912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091C34"/>
                </a:solidFill>
                <a:latin typeface="Aptos"/>
              </a:rPr>
              <a:t>Unexpected stop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847088"/>
            <a:ext cx="4828032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5C6C7E"/>
                </a:solidFill>
                <a:latin typeface="Aptos"/>
              </a:defRPr>
            </a:pPr>
            <a:r>
              <a:t>• Stationary time exceeds expected service.</a:t>
            </a:r>
          </a:p>
          <a:p>
            <a:pPr>
              <a:spcAft>
                <a:spcPts val="300"/>
              </a:spcAft>
              <a:defRPr sz="900">
                <a:solidFill>
                  <a:srgbClr val="5C6C7E"/>
                </a:solidFill>
                <a:latin typeface="Aptos"/>
              </a:defRPr>
            </a:pPr>
            <a:r>
              <a:t>• ETA shifts and risk may rise.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834639"/>
            <a:ext cx="521208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2834639"/>
            <a:ext cx="54864" cy="1298448"/>
          </a:xfrm>
          <a:prstGeom prst="roundRect">
            <a:avLst>
              <a:gd name="adj" fmla="val 10000"/>
            </a:avLst>
          </a:prstGeom>
          <a:solidFill>
            <a:srgbClr val="704CBE"/>
          </a:solidFill>
          <a:ln>
            <a:solidFill>
              <a:srgbClr val="70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8952" y="2999232"/>
            <a:ext cx="384048" cy="384048"/>
          </a:xfrm>
          <a:prstGeom prst="ellipse">
            <a:avLst/>
          </a:prstGeom>
          <a:solidFill>
            <a:srgbClr val="704CBE"/>
          </a:solidFill>
          <a:ln>
            <a:solidFill>
              <a:srgbClr val="70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3008375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2728" y="2962656"/>
            <a:ext cx="438912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091C34"/>
                </a:solidFill>
                <a:latin typeface="Aptos"/>
              </a:rPr>
              <a:t>Route deviation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3401568"/>
            <a:ext cx="4828032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5C6C7E"/>
                </a:solidFill>
                <a:latin typeface="Aptos"/>
              </a:defRPr>
            </a:pPr>
            <a:r>
              <a:t>• Actual path differs from plan.</a:t>
            </a:r>
          </a:p>
          <a:p>
            <a:pPr>
              <a:spcAft>
                <a:spcPts val="300"/>
              </a:spcAft>
              <a:defRPr sz="900">
                <a:solidFill>
                  <a:srgbClr val="5C6C7E"/>
                </a:solidFill>
                <a:latin typeface="Aptos"/>
              </a:defRPr>
            </a:pPr>
            <a:r>
              <a:t>• Remaining distance/time may increase.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834639"/>
            <a:ext cx="521208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17920" y="2834639"/>
            <a:ext cx="54864" cy="1298448"/>
          </a:xfrm>
          <a:prstGeom prst="roundRect">
            <a:avLst>
              <a:gd name="adj" fmla="val 10000"/>
            </a:avLst>
          </a:prstGeom>
          <a:solidFill>
            <a:srgbClr val="DA4349"/>
          </a:solidFill>
          <a:ln>
            <a:solidFill>
              <a:srgbClr val="DA4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82512" y="2999232"/>
            <a:ext cx="384048" cy="384048"/>
          </a:xfrm>
          <a:prstGeom prst="ellipse">
            <a:avLst/>
          </a:prstGeom>
          <a:solidFill>
            <a:srgbClr val="DA4349"/>
          </a:solidFill>
          <a:ln>
            <a:solidFill>
              <a:srgbClr val="DA4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2512" y="3008375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6288" y="2962656"/>
            <a:ext cx="438912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091C34"/>
                </a:solidFill>
                <a:latin typeface="Aptos"/>
              </a:rPr>
              <a:t>High workload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3401568"/>
            <a:ext cx="4828032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5C6C7E"/>
                </a:solidFill>
                <a:latin typeface="Aptos"/>
              </a:defRPr>
            </a:pPr>
            <a:r>
              <a:t>• Too many stops or parcels.</a:t>
            </a:r>
          </a:p>
          <a:p>
            <a:pPr>
              <a:spcAft>
                <a:spcPts val="300"/>
              </a:spcAft>
              <a:defRPr sz="900">
                <a:solidFill>
                  <a:srgbClr val="5C6C7E"/>
                </a:solidFill>
                <a:latin typeface="Aptos"/>
              </a:defRPr>
            </a:pPr>
            <a:r>
              <a:t>• Service time may increase.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389120"/>
            <a:ext cx="521208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94360" y="4389120"/>
            <a:ext cx="54864" cy="1298448"/>
          </a:xfrm>
          <a:prstGeom prst="roundRect">
            <a:avLst>
              <a:gd name="adj" fmla="val 10000"/>
            </a:avLst>
          </a:prstGeom>
          <a:solidFill>
            <a:srgbClr val="129780"/>
          </a:solidFill>
          <a:ln>
            <a:solidFill>
              <a:srgbClr val="12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58952" y="4553712"/>
            <a:ext cx="384048" cy="384048"/>
          </a:xfrm>
          <a:prstGeom prst="ellipse">
            <a:avLst/>
          </a:prstGeom>
          <a:solidFill>
            <a:srgbClr val="129780"/>
          </a:solidFill>
          <a:ln>
            <a:solidFill>
              <a:srgbClr val="12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" y="4562855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52728" y="4517136"/>
            <a:ext cx="438912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091C34"/>
                </a:solidFill>
                <a:latin typeface="Aptos"/>
              </a:rPr>
              <a:t>Late handover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8" y="4956048"/>
            <a:ext cx="4828032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5C6C7E"/>
                </a:solidFill>
                <a:latin typeface="Aptos"/>
              </a:defRPr>
            </a:pPr>
            <a:r>
              <a:t>• Checkpoint is reached later than planned.</a:t>
            </a:r>
          </a:p>
          <a:p>
            <a:pPr>
              <a:spcAft>
                <a:spcPts val="300"/>
              </a:spcAft>
              <a:defRPr sz="900">
                <a:solidFill>
                  <a:srgbClr val="5C6C7E"/>
                </a:solidFill>
                <a:latin typeface="Aptos"/>
              </a:defRPr>
            </a:pPr>
            <a:r>
              <a:t>• Deadline buffer shrinks.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389120"/>
            <a:ext cx="521208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17920" y="4389120"/>
            <a:ext cx="54864" cy="1298448"/>
          </a:xfrm>
          <a:prstGeom prst="roundRect">
            <a:avLst>
              <a:gd name="adj" fmla="val 10000"/>
            </a:avLst>
          </a:prstGeom>
          <a:solidFill>
            <a:srgbClr val="23A968"/>
          </a:solidFill>
          <a:ln>
            <a:solidFill>
              <a:srgbClr val="23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82512" y="4553712"/>
            <a:ext cx="384048" cy="384048"/>
          </a:xfrm>
          <a:prstGeom prst="ellipse">
            <a:avLst/>
          </a:prstGeom>
          <a:solidFill>
            <a:srgbClr val="23A968"/>
          </a:solidFill>
          <a:ln>
            <a:solidFill>
              <a:srgbClr val="23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82512" y="4562855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76288" y="4517136"/>
            <a:ext cx="438912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091C34"/>
                </a:solidFill>
                <a:latin typeface="Aptos"/>
              </a:rPr>
              <a:t>Capacity issue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9088" y="4956048"/>
            <a:ext cx="4828032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5C6C7E"/>
                </a:solidFill>
                <a:latin typeface="Aptos"/>
              </a:defRPr>
            </a:pPr>
            <a:r>
              <a:t>• Resource cannot complete planned batch efficiently.</a:t>
            </a:r>
          </a:p>
          <a:p>
            <a:pPr>
              <a:spcAft>
                <a:spcPts val="300"/>
              </a:spcAft>
              <a:defRPr sz="900">
                <a:solidFill>
                  <a:srgbClr val="5C6C7E"/>
                </a:solidFill>
                <a:latin typeface="Aptos"/>
              </a:defRPr>
            </a:pPr>
            <a:r>
              <a:t>• Reassignment may be needed.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830" b="0">
                <a:solidFill>
                  <a:srgbClr val="5C6C7E"/>
                </a:solidFill>
                <a:latin typeface="Aptos"/>
              </a:rPr>
              <a:t>LogiFlows • Tracking + ETA + AI Delay Prediction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830" b="1">
                <a:solidFill>
                  <a:srgbClr val="5C6C7E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EF8E23"/>
          </a:solidFill>
          <a:ln>
            <a:solidFill>
              <a:srgbClr val="EF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51560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091C34"/>
                </a:solidFill>
                <a:latin typeface="Aptos Display"/>
              </a:rPr>
              <a:t>Delay prediction → operational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5156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5C6C7E"/>
                </a:solidFill>
                <a:latin typeface="Aptos"/>
              </a:rPr>
              <a:t>The model supports decisions; operations remain in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5C6C7E"/>
                </a:solidFill>
                <a:latin typeface="Apto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737360" cy="1051560"/>
          </a:xfrm>
          <a:prstGeom prst="roundRect">
            <a:avLst>
              <a:gd name="adj" fmla="val 10000"/>
            </a:avLst>
          </a:prstGeom>
          <a:solidFill>
            <a:srgbClr val="E7F9F5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46304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800" b="1">
                <a:solidFill>
                  <a:srgbClr val="23A968"/>
                </a:solidFill>
                <a:latin typeface="Aptos"/>
              </a:rPr>
              <a:t>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1417320"/>
            <a:ext cx="32918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97480" y="1417320"/>
            <a:ext cx="54864" cy="1051560"/>
          </a:xfrm>
          <a:prstGeom prst="roundRect">
            <a:avLst>
              <a:gd name="adj" fmla="val 10000"/>
            </a:avLst>
          </a:prstGeom>
          <a:solidFill>
            <a:srgbClr val="23A968"/>
          </a:solidFill>
          <a:ln>
            <a:solidFill>
              <a:srgbClr val="23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98648" y="1545336"/>
            <a:ext cx="2926079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091C34"/>
                </a:solidFill>
                <a:latin typeface="Aptos"/>
              </a:rPr>
              <a:t>Continue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8648" y="1984248"/>
            <a:ext cx="2907792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80">
                <a:solidFill>
                  <a:srgbClr val="5C6C7E"/>
                </a:solidFill>
                <a:latin typeface="Aptos"/>
              </a:defRPr>
            </a:pPr>
            <a:r>
              <a:t>• Refresh ETA + normal monitoring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217920" y="1938528"/>
            <a:ext cx="685800" cy="0"/>
          </a:xfrm>
          <a:prstGeom prst="line">
            <a:avLst/>
          </a:prstGeom>
          <a:ln w="27940">
            <a:solidFill>
              <a:srgbClr val="23A9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132320" y="1417320"/>
            <a:ext cx="429768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0" y="1417320"/>
            <a:ext cx="54864" cy="1051560"/>
          </a:xfrm>
          <a:prstGeom prst="roundRect">
            <a:avLst>
              <a:gd name="adj" fmla="val 10000"/>
            </a:avLst>
          </a:prstGeom>
          <a:solidFill>
            <a:srgbClr val="23A968"/>
          </a:solidFill>
          <a:ln>
            <a:solidFill>
              <a:srgbClr val="23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3488" y="1545336"/>
            <a:ext cx="393192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091C34"/>
                </a:solidFill>
                <a:latin typeface="Aptos"/>
              </a:rPr>
              <a:t>Expected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3488" y="1984248"/>
            <a:ext cx="3913632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60">
                <a:solidFill>
                  <a:srgbClr val="5C6C7E"/>
                </a:solidFill>
                <a:latin typeface="Aptos"/>
              </a:defRPr>
            </a:pPr>
            <a:r>
              <a:t>• Protect deadline where possible</a:t>
            </a:r>
          </a:p>
          <a:p>
            <a:pPr>
              <a:spcAft>
                <a:spcPts val="300"/>
              </a:spcAft>
              <a:defRPr sz="860">
                <a:solidFill>
                  <a:srgbClr val="5C6C7E"/>
                </a:solidFill>
                <a:latin typeface="Aptos"/>
              </a:defRPr>
            </a:pPr>
            <a:r>
              <a:t>• Keep customer status current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34640"/>
            <a:ext cx="1737360" cy="1051560"/>
          </a:xfrm>
          <a:prstGeom prst="roundRect">
            <a:avLst>
              <a:gd name="adj" fmla="val 10000"/>
            </a:avLst>
          </a:prstGeom>
          <a:solidFill>
            <a:srgbClr val="FFF5E7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081528"/>
            <a:ext cx="146304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800" b="1">
                <a:solidFill>
                  <a:srgbClr val="EF8E23"/>
                </a:solidFill>
                <a:latin typeface="Aptos"/>
              </a:rPr>
              <a:t>MEDIUM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97480" y="2834640"/>
            <a:ext cx="32918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697480" y="2834640"/>
            <a:ext cx="54864" cy="1051560"/>
          </a:xfrm>
          <a:prstGeom prst="roundRect">
            <a:avLst>
              <a:gd name="adj" fmla="val 10000"/>
            </a:avLst>
          </a:prstGeom>
          <a:solidFill>
            <a:srgbClr val="EF8E23"/>
          </a:solidFill>
          <a:ln>
            <a:solidFill>
              <a:srgbClr val="EF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98648" y="2962656"/>
            <a:ext cx="2926079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091C34"/>
                </a:solidFill>
                <a:latin typeface="Aptos"/>
              </a:rPr>
              <a:t>Monitor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98648" y="3401568"/>
            <a:ext cx="2907792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80">
                <a:solidFill>
                  <a:srgbClr val="5C6C7E"/>
                </a:solidFill>
                <a:latin typeface="Aptos"/>
              </a:defRPr>
            </a:pPr>
            <a:r>
              <a:t>• Notify employee + prepare fallback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217920" y="3355848"/>
            <a:ext cx="685800" cy="0"/>
          </a:xfrm>
          <a:prstGeom prst="line">
            <a:avLst/>
          </a:prstGeom>
          <a:ln w="27940">
            <a:solidFill>
              <a:srgbClr val="EF8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132320" y="2834640"/>
            <a:ext cx="429768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132320" y="2834640"/>
            <a:ext cx="54864" cy="1051560"/>
          </a:xfrm>
          <a:prstGeom prst="roundRect">
            <a:avLst>
              <a:gd name="adj" fmla="val 10000"/>
            </a:avLst>
          </a:prstGeom>
          <a:solidFill>
            <a:srgbClr val="EF8E23"/>
          </a:solidFill>
          <a:ln>
            <a:solidFill>
              <a:srgbClr val="EF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33488" y="2962656"/>
            <a:ext cx="393192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091C34"/>
                </a:solidFill>
                <a:latin typeface="Aptos"/>
              </a:rPr>
              <a:t>Expected 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3488" y="3401568"/>
            <a:ext cx="3913632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60">
                <a:solidFill>
                  <a:srgbClr val="5C6C7E"/>
                </a:solidFill>
                <a:latin typeface="Aptos"/>
              </a:defRPr>
            </a:pPr>
            <a:r>
              <a:t>• Protect deadline where possible</a:t>
            </a:r>
          </a:p>
          <a:p>
            <a:pPr>
              <a:spcAft>
                <a:spcPts val="300"/>
              </a:spcAft>
              <a:defRPr sz="860">
                <a:solidFill>
                  <a:srgbClr val="5C6C7E"/>
                </a:solidFill>
                <a:latin typeface="Aptos"/>
              </a:defRPr>
            </a:pPr>
            <a:r>
              <a:t>• Keep customer status current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251960"/>
            <a:ext cx="1737360" cy="1051560"/>
          </a:xfrm>
          <a:prstGeom prst="roundRect">
            <a:avLst>
              <a:gd name="adj" fmla="val 10000"/>
            </a:avLst>
          </a:prstGeom>
          <a:solidFill>
            <a:srgbClr val="FFEDEE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498848"/>
            <a:ext cx="146304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800" b="1">
                <a:solidFill>
                  <a:srgbClr val="DA4349"/>
                </a:solidFill>
                <a:latin typeface="Aptos"/>
              </a:rPr>
              <a:t>HIGH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97480" y="4251960"/>
            <a:ext cx="32918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697480" y="4251960"/>
            <a:ext cx="54864" cy="1051560"/>
          </a:xfrm>
          <a:prstGeom prst="roundRect">
            <a:avLst>
              <a:gd name="adj" fmla="val 10000"/>
            </a:avLst>
          </a:prstGeom>
          <a:solidFill>
            <a:srgbClr val="DA4349"/>
          </a:solidFill>
          <a:ln>
            <a:solidFill>
              <a:srgbClr val="DA4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98648" y="4379976"/>
            <a:ext cx="2926079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091C34"/>
                </a:solidFill>
                <a:latin typeface="Aptos"/>
              </a:rPr>
              <a:t>Intervene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98648" y="4818888"/>
            <a:ext cx="2907792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80">
                <a:solidFill>
                  <a:srgbClr val="5C6C7E"/>
                </a:solidFill>
                <a:latin typeface="Aptos"/>
              </a:defRPr>
            </a:pPr>
            <a:r>
              <a:t>• Reroute • reassign • prioritize • notify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217920" y="4773168"/>
            <a:ext cx="685800" cy="0"/>
          </a:xfrm>
          <a:prstGeom prst="line">
            <a:avLst/>
          </a:prstGeom>
          <a:ln w="27940">
            <a:solidFill>
              <a:srgbClr val="DA4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132320" y="4251960"/>
            <a:ext cx="429768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132320" y="4251960"/>
            <a:ext cx="54864" cy="1051560"/>
          </a:xfrm>
          <a:prstGeom prst="roundRect">
            <a:avLst>
              <a:gd name="adj" fmla="val 10000"/>
            </a:avLst>
          </a:prstGeom>
          <a:solidFill>
            <a:srgbClr val="DA4349"/>
          </a:solidFill>
          <a:ln>
            <a:solidFill>
              <a:srgbClr val="DA4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33488" y="4379976"/>
            <a:ext cx="393192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091C34"/>
                </a:solidFill>
                <a:latin typeface="Aptos"/>
              </a:rPr>
              <a:t>Expected result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33488" y="4818888"/>
            <a:ext cx="3913632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60">
                <a:solidFill>
                  <a:srgbClr val="5C6C7E"/>
                </a:solidFill>
                <a:latin typeface="Aptos"/>
              </a:defRPr>
            </a:pPr>
            <a:r>
              <a:t>• Protect deadline where possible</a:t>
            </a:r>
          </a:p>
          <a:p>
            <a:pPr>
              <a:spcAft>
                <a:spcPts val="300"/>
              </a:spcAft>
              <a:defRPr sz="860">
                <a:solidFill>
                  <a:srgbClr val="5C6C7E"/>
                </a:solidFill>
                <a:latin typeface="Aptos"/>
              </a:defRPr>
            </a:pPr>
            <a:r>
              <a:t>• Keep customer status current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97280" y="5760720"/>
            <a:ext cx="9966960" cy="411480"/>
          </a:xfrm>
          <a:prstGeom prst="roundRect">
            <a:avLst>
              <a:gd name="adj" fmla="val 10000"/>
            </a:avLst>
          </a:prstGeom>
          <a:solidFill>
            <a:srgbClr val="091C34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34440" y="5852160"/>
            <a:ext cx="969264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69" b="1">
                <a:solidFill>
                  <a:srgbClr val="FFFFFF"/>
                </a:solidFill>
                <a:latin typeface="Aptos"/>
              </a:rPr>
              <a:t>MODEL → RECOMMENDATION → ACTION → NEW OBSERVATION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830" b="0">
                <a:solidFill>
                  <a:srgbClr val="5C6C7E"/>
                </a:solidFill>
                <a:latin typeface="Aptos"/>
              </a:rPr>
              <a:t>LogiFlows • Tracking + ETA + AI Delay Prediction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830" b="1">
                <a:solidFill>
                  <a:srgbClr val="5C6C7E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C5CBE"/>
          </a:solidFill>
          <a:ln>
            <a:solidFill>
              <a:srgbClr val="1C5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51560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091C34"/>
                </a:solidFill>
                <a:latin typeface="Aptos Display"/>
              </a:rPr>
              <a:t>High-volume parcels — batch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5156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5C6C7E"/>
                </a:solidFill>
                <a:latin typeface="Aptos"/>
              </a:rPr>
              <a:t>When many parcels travel together, one active GPS source can represent the vehicle movement.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5C6C7E"/>
                </a:solidFill>
                <a:latin typeface="Aptos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160020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54864" cy="1508760"/>
          </a:xfrm>
          <a:prstGeom prst="roundRect">
            <a:avLst>
              <a:gd name="adj" fmla="val 10000"/>
            </a:avLst>
          </a:prstGeom>
          <a:solidFill>
            <a:srgbClr val="1C5CBE"/>
          </a:solidFill>
          <a:ln>
            <a:solidFill>
              <a:srgbClr val="1C5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67512" y="1673351"/>
            <a:ext cx="384048" cy="384048"/>
          </a:xfrm>
          <a:prstGeom prst="ellipse">
            <a:avLst/>
          </a:prstGeom>
          <a:solidFill>
            <a:srgbClr val="1C5CBE"/>
          </a:solidFill>
          <a:ln>
            <a:solidFill>
              <a:srgbClr val="1C5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682495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1636776"/>
            <a:ext cx="77724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091C34"/>
                </a:solidFill>
                <a:latin typeface="Aptos"/>
              </a:rPr>
              <a:t>500 parcels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075688"/>
            <a:ext cx="1216152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5C6C7E"/>
                </a:solidFill>
                <a:latin typeface="Aptos"/>
              </a:defRPr>
            </a:pPr>
            <a:r>
              <a:t>• Incoming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12264" y="2258568"/>
            <a:ext cx="219456" cy="0"/>
          </a:xfrm>
          <a:prstGeom prst="line">
            <a:avLst/>
          </a:prstGeom>
          <a:ln w="25400">
            <a:solidFill>
              <a:srgbClr val="00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404872" y="1508760"/>
            <a:ext cx="160020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404872" y="1508760"/>
            <a:ext cx="54864" cy="1508760"/>
          </a:xfrm>
          <a:prstGeom prst="roundRect">
            <a:avLst>
              <a:gd name="adj" fmla="val 10000"/>
            </a:avLst>
          </a:prstGeom>
          <a:solidFill>
            <a:srgbClr val="129780"/>
          </a:solidFill>
          <a:ln>
            <a:solidFill>
              <a:srgbClr val="12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569464" y="1673351"/>
            <a:ext cx="384048" cy="384048"/>
          </a:xfrm>
          <a:prstGeom prst="ellipse">
            <a:avLst/>
          </a:prstGeom>
          <a:solidFill>
            <a:srgbClr val="129780"/>
          </a:solidFill>
          <a:ln>
            <a:solidFill>
              <a:srgbClr val="12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9464" y="1682495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39" y="1636776"/>
            <a:ext cx="77724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091C34"/>
                </a:solidFill>
                <a:latin typeface="Aptos"/>
              </a:rPr>
              <a:t>Group by zone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2075688"/>
            <a:ext cx="1216152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5C6C7E"/>
                </a:solidFill>
                <a:latin typeface="Aptos"/>
              </a:defRPr>
            </a:pPr>
            <a:r>
              <a:t>• Clusters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14215" y="2258568"/>
            <a:ext cx="219457" cy="0"/>
          </a:xfrm>
          <a:prstGeom prst="line">
            <a:avLst/>
          </a:prstGeom>
          <a:ln w="25400">
            <a:solidFill>
              <a:srgbClr val="00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06824" y="1508760"/>
            <a:ext cx="160020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06824" y="1508760"/>
            <a:ext cx="54864" cy="1508760"/>
          </a:xfrm>
          <a:prstGeom prst="roundRect">
            <a:avLst>
              <a:gd name="adj" fmla="val 10000"/>
            </a:avLst>
          </a:prstGeom>
          <a:solidFill>
            <a:srgbClr val="EF8E23"/>
          </a:solidFill>
          <a:ln>
            <a:solidFill>
              <a:srgbClr val="EF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71416" y="1673351"/>
            <a:ext cx="384048" cy="384048"/>
          </a:xfrm>
          <a:prstGeom prst="ellipse">
            <a:avLst/>
          </a:prstGeom>
          <a:solidFill>
            <a:srgbClr val="EF8E23"/>
          </a:solidFill>
          <a:ln>
            <a:solidFill>
              <a:srgbClr val="EF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71416" y="1682495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65192" y="1636776"/>
            <a:ext cx="77724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091C34"/>
                </a:solidFill>
                <a:latin typeface="Aptos"/>
              </a:rPr>
              <a:t>Check capacity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7992" y="2075688"/>
            <a:ext cx="1216152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5C6C7E"/>
                </a:solidFill>
                <a:latin typeface="Aptos"/>
              </a:defRPr>
            </a:pPr>
            <a:r>
              <a:t>• Vehicle + workload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916168" y="2258568"/>
            <a:ext cx="219456" cy="0"/>
          </a:xfrm>
          <a:prstGeom prst="line">
            <a:avLst/>
          </a:prstGeom>
          <a:ln w="25400">
            <a:solidFill>
              <a:srgbClr val="00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208776" y="1508760"/>
            <a:ext cx="160020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08776" y="1508760"/>
            <a:ext cx="54864" cy="1508760"/>
          </a:xfrm>
          <a:prstGeom prst="roundRect">
            <a:avLst>
              <a:gd name="adj" fmla="val 10000"/>
            </a:avLst>
          </a:prstGeom>
          <a:solidFill>
            <a:srgbClr val="704CBE"/>
          </a:solidFill>
          <a:ln>
            <a:solidFill>
              <a:srgbClr val="70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73368" y="1673351"/>
            <a:ext cx="384048" cy="384048"/>
          </a:xfrm>
          <a:prstGeom prst="ellipse">
            <a:avLst/>
          </a:prstGeom>
          <a:solidFill>
            <a:srgbClr val="704CBE"/>
          </a:solidFill>
          <a:ln>
            <a:solidFill>
              <a:srgbClr val="70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682495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67144" y="1636776"/>
            <a:ext cx="77724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091C34"/>
                </a:solidFill>
                <a:latin typeface="Aptos"/>
              </a:rPr>
              <a:t>Create batch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9944" y="2075688"/>
            <a:ext cx="1216152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5C6C7E"/>
                </a:solidFill>
                <a:latin typeface="Aptos"/>
              </a:defRPr>
            </a:pPr>
            <a:r>
              <a:t>• Example batch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818120" y="2258568"/>
            <a:ext cx="219455" cy="0"/>
          </a:xfrm>
          <a:prstGeom prst="line">
            <a:avLst/>
          </a:prstGeom>
          <a:ln w="25400">
            <a:solidFill>
              <a:srgbClr val="00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110728" y="1508760"/>
            <a:ext cx="160020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110728" y="1508760"/>
            <a:ext cx="54864" cy="1508760"/>
          </a:xfrm>
          <a:prstGeom prst="roundRect">
            <a:avLst>
              <a:gd name="adj" fmla="val 10000"/>
            </a:avLst>
          </a:prstGeom>
          <a:solidFill>
            <a:srgbClr val="00AEBE"/>
          </a:solidFill>
          <a:ln>
            <a:solidFill>
              <a:srgbClr val="00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275320" y="1673351"/>
            <a:ext cx="384048" cy="384048"/>
          </a:xfrm>
          <a:prstGeom prst="ellipse">
            <a:avLst/>
          </a:prstGeom>
          <a:solidFill>
            <a:srgbClr val="00AEBE"/>
          </a:solidFill>
          <a:ln>
            <a:solidFill>
              <a:srgbClr val="00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20" y="1682495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69096" y="1636776"/>
            <a:ext cx="777239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091C34"/>
                </a:solidFill>
                <a:latin typeface="Aptos"/>
              </a:rPr>
              <a:t>Track vehicle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11896" y="2075688"/>
            <a:ext cx="1216152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5C6C7E"/>
                </a:solidFill>
                <a:latin typeface="Aptos"/>
              </a:defRPr>
            </a:pPr>
            <a:r>
              <a:t>• One GPS source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720072" y="2258568"/>
            <a:ext cx="219456" cy="0"/>
          </a:xfrm>
          <a:prstGeom prst="line">
            <a:avLst/>
          </a:prstGeom>
          <a:ln w="25400">
            <a:solidFill>
              <a:srgbClr val="00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10012680" y="1508760"/>
            <a:ext cx="160020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012680" y="1508760"/>
            <a:ext cx="54864" cy="1508760"/>
          </a:xfrm>
          <a:prstGeom prst="roundRect">
            <a:avLst>
              <a:gd name="adj" fmla="val 10000"/>
            </a:avLst>
          </a:prstGeom>
          <a:solidFill>
            <a:srgbClr val="23A968"/>
          </a:solidFill>
          <a:ln>
            <a:solidFill>
              <a:srgbClr val="23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177272" y="1673351"/>
            <a:ext cx="384048" cy="384048"/>
          </a:xfrm>
          <a:prstGeom prst="ellipse">
            <a:avLst/>
          </a:prstGeom>
          <a:solidFill>
            <a:srgbClr val="23A968"/>
          </a:solidFill>
          <a:ln>
            <a:solidFill>
              <a:srgbClr val="23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177272" y="1682495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71048" y="1636776"/>
            <a:ext cx="777239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091C34"/>
                </a:solidFill>
                <a:latin typeface="Aptos"/>
              </a:rPr>
              <a:t>Complete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13848" y="2075688"/>
            <a:ext cx="1216152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5C6C7E"/>
                </a:solidFill>
                <a:latin typeface="Aptos"/>
              </a:defRPr>
            </a:pPr>
            <a:r>
              <a:t>• Remove delivered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" y="3794760"/>
            <a:ext cx="516636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85800" y="3794760"/>
            <a:ext cx="54864" cy="1417320"/>
          </a:xfrm>
          <a:prstGeom prst="roundRect">
            <a:avLst>
              <a:gd name="adj" fmla="val 10000"/>
            </a:avLst>
          </a:prstGeom>
          <a:solidFill>
            <a:srgbClr val="129780"/>
          </a:solidFill>
          <a:ln>
            <a:solidFill>
              <a:srgbClr val="12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6968" y="3922776"/>
            <a:ext cx="48006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091C34"/>
                </a:solidFill>
                <a:latin typeface="Aptos"/>
              </a:rPr>
              <a:t>Why this matters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968" y="4361688"/>
            <a:ext cx="4782312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40">
                <a:solidFill>
                  <a:srgbClr val="5C6C7E"/>
                </a:solidFill>
                <a:latin typeface="Aptos"/>
              </a:defRPr>
            </a:pPr>
            <a:r>
              <a:t>• Lower tracking overhead</a:t>
            </a:r>
          </a:p>
          <a:p>
            <a:pPr>
              <a:spcAft>
                <a:spcPts val="300"/>
              </a:spcAft>
              <a:defRPr sz="940">
                <a:solidFill>
                  <a:srgbClr val="5C6C7E"/>
                </a:solidFill>
                <a:latin typeface="Aptos"/>
              </a:defRPr>
            </a:pPr>
            <a:r>
              <a:t>• One movement source can update many active parcels</a:t>
            </a:r>
          </a:p>
          <a:p>
            <a:pPr>
              <a:spcAft>
                <a:spcPts val="300"/>
              </a:spcAft>
              <a:defRPr sz="940">
                <a:solidFill>
                  <a:srgbClr val="5C6C7E"/>
                </a:solidFill>
                <a:latin typeface="Aptos"/>
              </a:defRPr>
            </a:pPr>
            <a:r>
              <a:t>• Completed parcels retain history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3794760"/>
            <a:ext cx="525780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217920" y="3794760"/>
            <a:ext cx="54864" cy="1417320"/>
          </a:xfrm>
          <a:prstGeom prst="roundRect">
            <a:avLst>
              <a:gd name="adj" fmla="val 10000"/>
            </a:avLst>
          </a:prstGeom>
          <a:solidFill>
            <a:srgbClr val="704CBE"/>
          </a:solidFill>
          <a:ln>
            <a:solidFill>
              <a:srgbClr val="70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19088" y="3922776"/>
            <a:ext cx="489204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091C34"/>
                </a:solidFill>
                <a:latin typeface="Aptos"/>
              </a:rPr>
              <a:t>Parcel-specific ETA still works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19088" y="4361688"/>
            <a:ext cx="4873752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40">
                <a:solidFill>
                  <a:srgbClr val="5C6C7E"/>
                </a:solidFill>
                <a:latin typeface="Aptos"/>
              </a:defRPr>
            </a:pPr>
            <a:r>
              <a:t>• Shared batch location</a:t>
            </a:r>
          </a:p>
          <a:p>
            <a:pPr>
              <a:spcAft>
                <a:spcPts val="300"/>
              </a:spcAft>
              <a:defRPr sz="940">
                <a:solidFill>
                  <a:srgbClr val="5C6C7E"/>
                </a:solidFill>
                <a:latin typeface="Aptos"/>
              </a:defRPr>
            </a:pPr>
            <a:r>
              <a:t>• Individual stops, service time and deadlines remain parcel-specific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830" b="0">
                <a:solidFill>
                  <a:srgbClr val="5C6C7E"/>
                </a:solidFill>
                <a:latin typeface="Aptos"/>
              </a:rPr>
              <a:t>LogiFlows • Tracking + ETA + AI Delay Prediction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830" b="1">
                <a:solidFill>
                  <a:srgbClr val="5C6C7E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29780"/>
          </a:solidFill>
          <a:ln>
            <a:solidFill>
              <a:srgbClr val="12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51560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091C34"/>
                </a:solidFill>
                <a:latin typeface="Aptos Display"/>
              </a:rPr>
              <a:t>Edge cases — what happens when reality breaks the ideal flow?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5156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5C6C7E"/>
                </a:solidFill>
                <a:latin typeface="Aptos"/>
              </a:rPr>
              <a:t>Production behavior must be defined for GPS, network, assignment and vehicle failures.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5C6C7E"/>
                </a:solidFill>
                <a:latin typeface="Aptos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88720"/>
            <a:ext cx="521208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188720"/>
            <a:ext cx="54864" cy="960120"/>
          </a:xfrm>
          <a:prstGeom prst="roundRect">
            <a:avLst>
              <a:gd name="adj" fmla="val 10000"/>
            </a:avLst>
          </a:prstGeom>
          <a:solidFill>
            <a:srgbClr val="1C5CBE"/>
          </a:solidFill>
          <a:ln>
            <a:solidFill>
              <a:srgbClr val="1C5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58952" y="1353312"/>
            <a:ext cx="384048" cy="384048"/>
          </a:xfrm>
          <a:prstGeom prst="ellipse">
            <a:avLst/>
          </a:prstGeom>
          <a:solidFill>
            <a:srgbClr val="1C5CBE"/>
          </a:solidFill>
          <a:ln>
            <a:solidFill>
              <a:srgbClr val="1C5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36245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1316736"/>
            <a:ext cx="438912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80" b="1">
                <a:solidFill>
                  <a:srgbClr val="091C34"/>
                </a:solidFill>
                <a:latin typeface="Aptos"/>
              </a:rPr>
              <a:t>GPS off / poor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755648"/>
            <a:ext cx="482803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5C6C7E"/>
                </a:solidFill>
                <a:latin typeface="Aptos"/>
              </a:defRPr>
            </a:pPr>
            <a:r>
              <a:t>• Show last known state + freshness.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21208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188720"/>
            <a:ext cx="54864" cy="960120"/>
          </a:xfrm>
          <a:prstGeom prst="roundRect">
            <a:avLst>
              <a:gd name="adj" fmla="val 10000"/>
            </a:avLst>
          </a:prstGeom>
          <a:solidFill>
            <a:srgbClr val="00AEBE"/>
          </a:solidFill>
          <a:ln>
            <a:solidFill>
              <a:srgbClr val="00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82512" y="1353312"/>
            <a:ext cx="384048" cy="384048"/>
          </a:xfrm>
          <a:prstGeom prst="ellipse">
            <a:avLst/>
          </a:prstGeom>
          <a:solidFill>
            <a:srgbClr val="00AEBE"/>
          </a:solidFill>
          <a:ln>
            <a:solidFill>
              <a:srgbClr val="00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36245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1316736"/>
            <a:ext cx="438912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80" b="1">
                <a:solidFill>
                  <a:srgbClr val="091C34"/>
                </a:solidFill>
                <a:latin typeface="Aptos"/>
              </a:rPr>
              <a:t>Internet lost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755648"/>
            <a:ext cx="482803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5C6C7E"/>
                </a:solidFill>
                <a:latin typeface="Aptos"/>
              </a:defRPr>
            </a:pPr>
            <a:r>
              <a:t>• Queue points and sync later.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377440"/>
            <a:ext cx="521208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2377440"/>
            <a:ext cx="54864" cy="960120"/>
          </a:xfrm>
          <a:prstGeom prst="roundRect">
            <a:avLst>
              <a:gd name="adj" fmla="val 10000"/>
            </a:avLst>
          </a:prstGeom>
          <a:solidFill>
            <a:srgbClr val="EF8E23"/>
          </a:solidFill>
          <a:ln>
            <a:solidFill>
              <a:srgbClr val="EF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8952" y="2542032"/>
            <a:ext cx="384048" cy="384048"/>
          </a:xfrm>
          <a:prstGeom prst="ellipse">
            <a:avLst/>
          </a:prstGeom>
          <a:solidFill>
            <a:srgbClr val="EF8E23"/>
          </a:solidFill>
          <a:ln>
            <a:solidFill>
              <a:srgbClr val="EF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255117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2728" y="2505456"/>
            <a:ext cx="438912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80" b="1">
                <a:solidFill>
                  <a:srgbClr val="091C34"/>
                </a:solidFill>
                <a:latin typeface="Aptos"/>
              </a:rPr>
              <a:t>Employee rejects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2944368"/>
            <a:ext cx="482803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5C6C7E"/>
                </a:solidFill>
                <a:latin typeface="Aptos"/>
              </a:defRPr>
            </a:pPr>
            <a:r>
              <a:t>• Close assignment and reassign.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377440"/>
            <a:ext cx="521208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17920" y="2377440"/>
            <a:ext cx="54864" cy="960120"/>
          </a:xfrm>
          <a:prstGeom prst="roundRect">
            <a:avLst>
              <a:gd name="adj" fmla="val 10000"/>
            </a:avLst>
          </a:prstGeom>
          <a:solidFill>
            <a:srgbClr val="DA4349"/>
          </a:solidFill>
          <a:ln>
            <a:solidFill>
              <a:srgbClr val="DA4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82512" y="2542032"/>
            <a:ext cx="384048" cy="384048"/>
          </a:xfrm>
          <a:prstGeom prst="ellipse">
            <a:avLst/>
          </a:prstGeom>
          <a:solidFill>
            <a:srgbClr val="DA4349"/>
          </a:solidFill>
          <a:ln>
            <a:solidFill>
              <a:srgbClr val="DA4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2512" y="255117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6288" y="2505456"/>
            <a:ext cx="438912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80" b="1">
                <a:solidFill>
                  <a:srgbClr val="091C34"/>
                </a:solidFill>
                <a:latin typeface="Aptos"/>
              </a:rPr>
              <a:t>Wrong QR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2944368"/>
            <a:ext cx="482803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5C6C7E"/>
                </a:solidFill>
                <a:latin typeface="Aptos"/>
              </a:defRPr>
            </a:pPr>
            <a:r>
              <a:t>• Reject unauthorized transition.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3566160"/>
            <a:ext cx="521208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94360" y="3566160"/>
            <a:ext cx="54864" cy="960120"/>
          </a:xfrm>
          <a:prstGeom prst="roundRect">
            <a:avLst>
              <a:gd name="adj" fmla="val 10000"/>
            </a:avLst>
          </a:prstGeom>
          <a:solidFill>
            <a:srgbClr val="704CBE"/>
          </a:solidFill>
          <a:ln>
            <a:solidFill>
              <a:srgbClr val="70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58952" y="3730752"/>
            <a:ext cx="384048" cy="384048"/>
          </a:xfrm>
          <a:prstGeom prst="ellipse">
            <a:avLst/>
          </a:prstGeom>
          <a:solidFill>
            <a:srgbClr val="704CBE"/>
          </a:solidFill>
          <a:ln>
            <a:solidFill>
              <a:srgbClr val="70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" y="373989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52728" y="3694176"/>
            <a:ext cx="438912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80" b="1">
                <a:solidFill>
                  <a:srgbClr val="091C34"/>
                </a:solidFill>
                <a:latin typeface="Aptos"/>
              </a:rPr>
              <a:t>Duplicate scan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8" y="4133088"/>
            <a:ext cx="482803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5C6C7E"/>
                </a:solidFill>
                <a:latin typeface="Aptos"/>
              </a:defRPr>
            </a:pPr>
            <a:r>
              <a:t>• Allow one active custody session.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3566160"/>
            <a:ext cx="521208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17920" y="3566160"/>
            <a:ext cx="54864" cy="960120"/>
          </a:xfrm>
          <a:prstGeom prst="roundRect">
            <a:avLst>
              <a:gd name="adj" fmla="val 10000"/>
            </a:avLst>
          </a:prstGeom>
          <a:solidFill>
            <a:srgbClr val="129780"/>
          </a:solidFill>
          <a:ln>
            <a:solidFill>
              <a:srgbClr val="12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82512" y="3730752"/>
            <a:ext cx="384048" cy="384048"/>
          </a:xfrm>
          <a:prstGeom prst="ellipse">
            <a:avLst/>
          </a:prstGeom>
          <a:solidFill>
            <a:srgbClr val="129780"/>
          </a:solidFill>
          <a:ln>
            <a:solidFill>
              <a:srgbClr val="12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82512" y="373989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76288" y="3694176"/>
            <a:ext cx="438912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80" b="1">
                <a:solidFill>
                  <a:srgbClr val="091C34"/>
                </a:solidFill>
                <a:latin typeface="Aptos"/>
              </a:rPr>
              <a:t>Vehicle breakdown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9088" y="4133088"/>
            <a:ext cx="482803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5C6C7E"/>
                </a:solidFill>
                <a:latin typeface="Aptos"/>
              </a:defRPr>
            </a:pPr>
            <a:r>
              <a:t>• Flag stall and redistribute.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4754880"/>
            <a:ext cx="521208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94360" y="4754880"/>
            <a:ext cx="54864" cy="960120"/>
          </a:xfrm>
          <a:prstGeom prst="roundRect">
            <a:avLst>
              <a:gd name="adj" fmla="val 10000"/>
            </a:avLst>
          </a:prstGeom>
          <a:solidFill>
            <a:srgbClr val="23A968"/>
          </a:solidFill>
          <a:ln>
            <a:solidFill>
              <a:srgbClr val="23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58952" y="4919472"/>
            <a:ext cx="384048" cy="384048"/>
          </a:xfrm>
          <a:prstGeom prst="ellipse">
            <a:avLst/>
          </a:prstGeom>
          <a:solidFill>
            <a:srgbClr val="23A968"/>
          </a:solidFill>
          <a:ln>
            <a:solidFill>
              <a:srgbClr val="23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8952" y="492861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52728" y="4882896"/>
            <a:ext cx="438912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80" b="1">
                <a:solidFill>
                  <a:srgbClr val="091C34"/>
                </a:solidFill>
                <a:latin typeface="Aptos"/>
              </a:rPr>
              <a:t>App closed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8" y="5321808"/>
            <a:ext cx="482803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5C6C7E"/>
                </a:solidFill>
                <a:latin typeface="Aptos"/>
              </a:defRPr>
            </a:pPr>
            <a:r>
              <a:t>• Follow authorized background-location behavior.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4754880"/>
            <a:ext cx="521208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217920" y="4754880"/>
            <a:ext cx="54864" cy="960120"/>
          </a:xfrm>
          <a:prstGeom prst="roundRect">
            <a:avLst>
              <a:gd name="adj" fmla="val 10000"/>
            </a:avLst>
          </a:prstGeom>
          <a:solidFill>
            <a:srgbClr val="091C34"/>
          </a:solidFill>
          <a:ln>
            <a:solidFill>
              <a:srgbClr val="091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382512" y="4919472"/>
            <a:ext cx="384048" cy="384048"/>
          </a:xfrm>
          <a:prstGeom prst="ellipse">
            <a:avLst/>
          </a:prstGeom>
          <a:solidFill>
            <a:srgbClr val="091C34"/>
          </a:solidFill>
          <a:ln>
            <a:solidFill>
              <a:srgbClr val="091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82512" y="492861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76288" y="4882896"/>
            <a:ext cx="438912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80" b="1">
                <a:solidFill>
                  <a:srgbClr val="091C34"/>
                </a:solidFill>
                <a:latin typeface="Aptos"/>
              </a:rPr>
              <a:t>Already delivered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19088" y="5321808"/>
            <a:ext cx="482803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5C6C7E"/>
                </a:solidFill>
                <a:latin typeface="Aptos"/>
              </a:defRPr>
            </a:pPr>
            <a:r>
              <a:t>• Lock delivery state.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830" b="0">
                <a:solidFill>
                  <a:srgbClr val="5C6C7E"/>
                </a:solidFill>
                <a:latin typeface="Aptos"/>
              </a:rPr>
              <a:t>LogiFlows • Tracking + ETA + AI Delay Prediction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830" b="1">
                <a:solidFill>
                  <a:srgbClr val="5C6C7E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91C34"/>
          </a:solidFill>
          <a:ln>
            <a:solidFill>
              <a:srgbClr val="091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51560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 Display"/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5156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CDDCF0"/>
                </a:solidFill>
                <a:latin typeface="Aptos"/>
              </a:rPr>
              <a:t>Tracking, ETA and prediction share one event and data foundation.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AEBE"/>
                </a:solidFill>
                <a:latin typeface="Aptos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234440"/>
            <a:ext cx="10287000" cy="566928"/>
          </a:xfrm>
          <a:prstGeom prst="roundRect">
            <a:avLst>
              <a:gd name="adj" fmla="val 10000"/>
            </a:avLst>
          </a:prstGeom>
          <a:solidFill>
            <a:srgbClr val="142B4B"/>
          </a:solidFill>
          <a:ln>
            <a:solidFill>
              <a:srgbClr val="3A5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234440"/>
            <a:ext cx="1691640" cy="566928"/>
          </a:xfrm>
          <a:prstGeom prst="roundRect">
            <a:avLst/>
          </a:prstGeom>
          <a:solidFill>
            <a:srgbClr val="00AEBE"/>
          </a:solidFill>
          <a:ln>
            <a:solidFill>
              <a:srgbClr val="00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371600"/>
            <a:ext cx="1545336" cy="2468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371600"/>
            <a:ext cx="8046720" cy="2468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30" b="1">
                <a:solidFill>
                  <a:srgbClr val="FFFFFF"/>
                </a:solidFill>
                <a:latin typeface="Aptos"/>
              </a:rPr>
              <a:t>React + TypeScript • Customer • Employee • Admin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993392"/>
            <a:ext cx="10287000" cy="566928"/>
          </a:xfrm>
          <a:prstGeom prst="roundRect">
            <a:avLst>
              <a:gd name="adj" fmla="val 10000"/>
            </a:avLst>
          </a:prstGeom>
          <a:solidFill>
            <a:srgbClr val="142B4B"/>
          </a:solidFill>
          <a:ln>
            <a:solidFill>
              <a:srgbClr val="3A5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1993392"/>
            <a:ext cx="1691640" cy="566928"/>
          </a:xfrm>
          <a:prstGeom prst="roundRect">
            <a:avLst/>
          </a:prstGeom>
          <a:solidFill>
            <a:srgbClr val="1C5CBE"/>
          </a:solidFill>
          <a:ln>
            <a:solidFill>
              <a:srgbClr val="1C5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130552"/>
            <a:ext cx="1545336" cy="2468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REAL-TIME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130552"/>
            <a:ext cx="8046720" cy="2468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30" b="1">
                <a:solidFill>
                  <a:srgbClr val="FFFFFF"/>
                </a:solidFill>
                <a:latin typeface="Aptos"/>
              </a:rPr>
              <a:t>GPS sessions • WebSockets • live location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752344"/>
            <a:ext cx="10287000" cy="566928"/>
          </a:xfrm>
          <a:prstGeom prst="roundRect">
            <a:avLst>
              <a:gd name="adj" fmla="val 10000"/>
            </a:avLst>
          </a:prstGeom>
          <a:solidFill>
            <a:srgbClr val="142B4B"/>
          </a:solidFill>
          <a:ln>
            <a:solidFill>
              <a:srgbClr val="3A5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2752344"/>
            <a:ext cx="1691640" cy="566928"/>
          </a:xfrm>
          <a:prstGeom prst="roundRect">
            <a:avLst/>
          </a:prstGeom>
          <a:solidFill>
            <a:srgbClr val="129780"/>
          </a:solidFill>
          <a:ln>
            <a:solidFill>
              <a:srgbClr val="12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2889503"/>
            <a:ext cx="1545336" cy="2468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ETA 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889503"/>
            <a:ext cx="8046720" cy="2468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30" b="1">
                <a:solidFill>
                  <a:srgbClr val="FFFFFF"/>
                </a:solidFill>
                <a:latin typeface="Aptos"/>
              </a:rPr>
              <a:t>Route progress • travel time • service • deadline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511296"/>
            <a:ext cx="10287000" cy="566928"/>
          </a:xfrm>
          <a:prstGeom prst="roundRect">
            <a:avLst>
              <a:gd name="adj" fmla="val 10000"/>
            </a:avLst>
          </a:prstGeom>
          <a:solidFill>
            <a:srgbClr val="142B4B"/>
          </a:solidFill>
          <a:ln>
            <a:solidFill>
              <a:srgbClr val="3A5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3511296"/>
            <a:ext cx="1691640" cy="566928"/>
          </a:xfrm>
          <a:prstGeom prst="roundRect">
            <a:avLst/>
          </a:prstGeom>
          <a:solidFill>
            <a:srgbClr val="704CBE"/>
          </a:solidFill>
          <a:ln>
            <a:solidFill>
              <a:srgbClr val="70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3648456"/>
            <a:ext cx="1545336" cy="2468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AI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3648456"/>
            <a:ext cx="8046720" cy="2468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30" b="1">
                <a:solidFill>
                  <a:srgbClr val="FFFFFF"/>
                </a:solidFill>
                <a:latin typeface="Aptos"/>
              </a:rPr>
              <a:t>Feature builder • risk model • delay regression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270248"/>
            <a:ext cx="10287000" cy="566928"/>
          </a:xfrm>
          <a:prstGeom prst="roundRect">
            <a:avLst>
              <a:gd name="adj" fmla="val 10000"/>
            </a:avLst>
          </a:prstGeom>
          <a:solidFill>
            <a:srgbClr val="142B4B"/>
          </a:solidFill>
          <a:ln>
            <a:solidFill>
              <a:srgbClr val="3A5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4400" y="4270248"/>
            <a:ext cx="1691640" cy="566928"/>
          </a:xfrm>
          <a:prstGeom prst="roundRect">
            <a:avLst/>
          </a:prstGeom>
          <a:solidFill>
            <a:srgbClr val="EF8E23"/>
          </a:solidFill>
          <a:ln>
            <a:solidFill>
              <a:srgbClr val="EF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4407408"/>
            <a:ext cx="1545336" cy="2468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4407408"/>
            <a:ext cx="8046720" cy="2468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30" b="1">
                <a:solidFill>
                  <a:srgbClr val="FFFFFF"/>
                </a:solidFill>
                <a:latin typeface="Aptos"/>
              </a:rPr>
              <a:t>PostgreSQL • parcel events • location history • predictions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029200"/>
            <a:ext cx="10287000" cy="566928"/>
          </a:xfrm>
          <a:prstGeom prst="roundRect">
            <a:avLst>
              <a:gd name="adj" fmla="val 10000"/>
            </a:avLst>
          </a:prstGeom>
          <a:solidFill>
            <a:srgbClr val="142B4B"/>
          </a:solidFill>
          <a:ln>
            <a:solidFill>
              <a:srgbClr val="3A5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5029200"/>
            <a:ext cx="1691640" cy="566928"/>
          </a:xfrm>
          <a:prstGeom prst="roundRect">
            <a:avLst/>
          </a:prstGeom>
          <a:solidFill>
            <a:srgbClr val="DA4349"/>
          </a:solidFill>
          <a:ln>
            <a:solidFill>
              <a:srgbClr val="DA4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" y="5166360"/>
            <a:ext cx="1545336" cy="2468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8920" y="5166360"/>
            <a:ext cx="8046720" cy="2468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30" b="1">
                <a:solidFill>
                  <a:srgbClr val="FFFFFF"/>
                </a:solidFill>
                <a:latin typeface="Aptos"/>
              </a:rPr>
              <a:t>Alerts • reroute • reassign • customer updates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830" b="0">
                <a:solidFill>
                  <a:srgbClr val="5C6C7E"/>
                </a:solidFill>
                <a:latin typeface="Aptos"/>
              </a:rPr>
              <a:t>LogiFlows • Tracking + ETA + AI Delay Prediction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830" b="1">
                <a:solidFill>
                  <a:srgbClr val="5C6C7E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704CBE"/>
          </a:solidFill>
          <a:ln>
            <a:solidFill>
              <a:srgbClr val="70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51560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091C34"/>
                </a:solidFill>
                <a:latin typeface="Aptos Display"/>
              </a:rPr>
              <a:t>Data model behind the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5156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5C6C7E"/>
                </a:solidFill>
                <a:latin typeface="Aptos"/>
              </a:rPr>
              <a:t>Separate permanent identity, current state and historical events.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5C6C7E"/>
                </a:solidFill>
                <a:latin typeface="Aptos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5166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188720"/>
            <a:ext cx="54864" cy="914400"/>
          </a:xfrm>
          <a:prstGeom prst="roundRect">
            <a:avLst>
              <a:gd name="adj" fmla="val 10000"/>
            </a:avLst>
          </a:prstGeom>
          <a:solidFill>
            <a:srgbClr val="1C5CBE"/>
          </a:solidFill>
          <a:ln>
            <a:solidFill>
              <a:srgbClr val="1C5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1" y="1353312"/>
            <a:ext cx="384048" cy="384048"/>
          </a:xfrm>
          <a:prstGeom prst="ellipse">
            <a:avLst/>
          </a:prstGeom>
          <a:solidFill>
            <a:srgbClr val="1C5CBE"/>
          </a:solidFill>
          <a:ln>
            <a:solidFill>
              <a:srgbClr val="1C5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36245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316736"/>
            <a:ext cx="43434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091C34"/>
                </a:solidFill>
                <a:latin typeface="Aptos"/>
              </a:rPr>
              <a:t>PARCEL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755648"/>
            <a:ext cx="47823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5C6C7E"/>
                </a:solidFill>
                <a:latin typeface="Aptos"/>
              </a:defRPr>
            </a:pPr>
            <a:r>
              <a:t>• tracking_id • status • deadline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188720"/>
            <a:ext cx="5166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1188720"/>
            <a:ext cx="54864" cy="914400"/>
          </a:xfrm>
          <a:prstGeom prst="roundRect">
            <a:avLst>
              <a:gd name="adj" fmla="val 10000"/>
            </a:avLst>
          </a:prstGeom>
          <a:solidFill>
            <a:srgbClr val="129780"/>
          </a:solidFill>
          <a:ln>
            <a:solidFill>
              <a:srgbClr val="12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36792" y="1353312"/>
            <a:ext cx="384048" cy="384048"/>
          </a:xfrm>
          <a:prstGeom prst="ellipse">
            <a:avLst/>
          </a:prstGeom>
          <a:solidFill>
            <a:srgbClr val="129780"/>
          </a:solidFill>
          <a:ln>
            <a:solidFill>
              <a:srgbClr val="12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136245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1316736"/>
            <a:ext cx="43434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091C34"/>
                </a:solidFill>
                <a:latin typeface="Aptos"/>
              </a:rPr>
              <a:t>CUSTODY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755648"/>
            <a:ext cx="47823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5C6C7E"/>
                </a:solidFill>
                <a:latin typeface="Aptos"/>
              </a:defRPr>
            </a:pPr>
            <a:r>
              <a:t>• holder • started_at • ended_at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331720"/>
            <a:ext cx="5166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2331720"/>
            <a:ext cx="54864" cy="914400"/>
          </a:xfrm>
          <a:prstGeom prst="roundRect">
            <a:avLst>
              <a:gd name="adj" fmla="val 10000"/>
            </a:avLst>
          </a:prstGeom>
          <a:solidFill>
            <a:srgbClr val="00AEBE"/>
          </a:solidFill>
          <a:ln>
            <a:solidFill>
              <a:srgbClr val="00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4671" y="2496312"/>
            <a:ext cx="384048" cy="384048"/>
          </a:xfrm>
          <a:prstGeom prst="ellipse">
            <a:avLst/>
          </a:prstGeom>
          <a:solidFill>
            <a:srgbClr val="00AEBE"/>
          </a:solidFill>
          <a:ln>
            <a:solidFill>
              <a:srgbClr val="00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250545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2459736"/>
            <a:ext cx="43434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091C34"/>
                </a:solidFill>
                <a:latin typeface="Aptos"/>
              </a:rPr>
              <a:t>LOCATION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2898648"/>
            <a:ext cx="47823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5C6C7E"/>
                </a:solidFill>
                <a:latin typeface="Aptos"/>
              </a:defRPr>
            </a:pPr>
            <a:r>
              <a:t>• lat • lon • speed • accuracy • timestamp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31720"/>
            <a:ext cx="5166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72200" y="2331720"/>
            <a:ext cx="54864" cy="914400"/>
          </a:xfrm>
          <a:prstGeom prst="roundRect">
            <a:avLst>
              <a:gd name="adj" fmla="val 10000"/>
            </a:avLst>
          </a:prstGeom>
          <a:solidFill>
            <a:srgbClr val="EF8E23"/>
          </a:solidFill>
          <a:ln>
            <a:solidFill>
              <a:srgbClr val="EF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2496312"/>
            <a:ext cx="384048" cy="384048"/>
          </a:xfrm>
          <a:prstGeom prst="ellipse">
            <a:avLst/>
          </a:prstGeom>
          <a:solidFill>
            <a:srgbClr val="EF8E23"/>
          </a:solidFill>
          <a:ln>
            <a:solidFill>
              <a:srgbClr val="EF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250545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2459736"/>
            <a:ext cx="43434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091C34"/>
                </a:solidFill>
                <a:latin typeface="Aptos"/>
              </a:rPr>
              <a:t>ROUTE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2898648"/>
            <a:ext cx="47823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5C6C7E"/>
                </a:solidFill>
                <a:latin typeface="Aptos"/>
              </a:defRPr>
            </a:pPr>
            <a:r>
              <a:t>• stops • distance • duration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474720"/>
            <a:ext cx="5166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" y="3474720"/>
            <a:ext cx="54864" cy="914400"/>
          </a:xfrm>
          <a:prstGeom prst="roundRect">
            <a:avLst>
              <a:gd name="adj" fmla="val 10000"/>
            </a:avLst>
          </a:prstGeom>
          <a:solidFill>
            <a:srgbClr val="704CBE"/>
          </a:solidFill>
          <a:ln>
            <a:solidFill>
              <a:srgbClr val="70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04671" y="3639312"/>
            <a:ext cx="384048" cy="384048"/>
          </a:xfrm>
          <a:prstGeom prst="ellipse">
            <a:avLst/>
          </a:prstGeom>
          <a:solidFill>
            <a:srgbClr val="704CBE"/>
          </a:solidFill>
          <a:ln>
            <a:solidFill>
              <a:srgbClr val="70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1" y="364845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8448" y="3602736"/>
            <a:ext cx="43434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091C34"/>
                </a:solidFill>
                <a:latin typeface="Aptos"/>
              </a:rPr>
              <a:t>ETA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7" y="4041648"/>
            <a:ext cx="47823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5C6C7E"/>
                </a:solidFill>
                <a:latin typeface="Aptos"/>
              </a:defRPr>
            </a:pPr>
            <a:r>
              <a:t>• ETA • travel_time • service_time • delay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474720"/>
            <a:ext cx="5166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172200" y="3474720"/>
            <a:ext cx="54864" cy="914400"/>
          </a:xfrm>
          <a:prstGeom prst="roundRect">
            <a:avLst>
              <a:gd name="adj" fmla="val 10000"/>
            </a:avLst>
          </a:prstGeom>
          <a:solidFill>
            <a:srgbClr val="DA4349"/>
          </a:solidFill>
          <a:ln>
            <a:solidFill>
              <a:srgbClr val="DA4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36792" y="3639312"/>
            <a:ext cx="384048" cy="384048"/>
          </a:xfrm>
          <a:prstGeom prst="ellipse">
            <a:avLst/>
          </a:prstGeom>
          <a:solidFill>
            <a:srgbClr val="DA4349"/>
          </a:solidFill>
          <a:ln>
            <a:solidFill>
              <a:srgbClr val="DA4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36792" y="364845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0568" y="3602736"/>
            <a:ext cx="43434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091C34"/>
                </a:solidFill>
                <a:latin typeface="Aptos"/>
              </a:rPr>
              <a:t>PREDICTION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73368" y="4041648"/>
            <a:ext cx="47823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5C6C7E"/>
                </a:solidFill>
                <a:latin typeface="Aptos"/>
              </a:defRPr>
            </a:pPr>
            <a:r>
              <a:t>• risk • probability • delay • model_version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4617720"/>
            <a:ext cx="5166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40080" y="4617720"/>
            <a:ext cx="54864" cy="914400"/>
          </a:xfrm>
          <a:prstGeom prst="roundRect">
            <a:avLst>
              <a:gd name="adj" fmla="val 10000"/>
            </a:avLst>
          </a:prstGeom>
          <a:solidFill>
            <a:srgbClr val="23A968"/>
          </a:solidFill>
          <a:ln>
            <a:solidFill>
              <a:srgbClr val="23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04671" y="4782312"/>
            <a:ext cx="384048" cy="384048"/>
          </a:xfrm>
          <a:prstGeom prst="ellipse">
            <a:avLst/>
          </a:prstGeom>
          <a:solidFill>
            <a:srgbClr val="23A968"/>
          </a:solidFill>
          <a:ln>
            <a:solidFill>
              <a:srgbClr val="23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1" y="4791455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98448" y="4745736"/>
            <a:ext cx="43434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091C34"/>
                </a:solidFill>
                <a:latin typeface="Aptos"/>
              </a:rPr>
              <a:t>EVENT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7" y="5184648"/>
            <a:ext cx="47823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5C6C7E"/>
                </a:solidFill>
                <a:latin typeface="Aptos"/>
              </a:defRPr>
            </a:pPr>
            <a:r>
              <a:t>• scan • handover • assignment • timestamp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72200" y="4617720"/>
            <a:ext cx="5166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172200" y="4617720"/>
            <a:ext cx="54864" cy="914400"/>
          </a:xfrm>
          <a:prstGeom prst="roundRect">
            <a:avLst>
              <a:gd name="adj" fmla="val 10000"/>
            </a:avLst>
          </a:prstGeom>
          <a:solidFill>
            <a:srgbClr val="091C34"/>
          </a:solidFill>
          <a:ln>
            <a:solidFill>
              <a:srgbClr val="091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336792" y="4782312"/>
            <a:ext cx="384048" cy="384048"/>
          </a:xfrm>
          <a:prstGeom prst="ellipse">
            <a:avLst/>
          </a:prstGeom>
          <a:solidFill>
            <a:srgbClr val="091C34"/>
          </a:solidFill>
          <a:ln>
            <a:solidFill>
              <a:srgbClr val="091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36792" y="4791455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30568" y="4745736"/>
            <a:ext cx="43434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091C34"/>
                </a:solidFill>
                <a:latin typeface="Aptos"/>
              </a:rPr>
              <a:t>OUTCOME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73368" y="5184648"/>
            <a:ext cx="47823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5C6C7E"/>
                </a:solidFill>
                <a:latin typeface="Aptos"/>
              </a:defRPr>
            </a:pPr>
            <a:r>
              <a:t>• actual arrival • prediction error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830" b="0">
                <a:solidFill>
                  <a:srgbClr val="5C6C7E"/>
                </a:solidFill>
                <a:latin typeface="Aptos"/>
              </a:rPr>
              <a:t>LogiFlows • Tracking + ETA + AI Delay Prediction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830" b="1">
                <a:solidFill>
                  <a:srgbClr val="5C6C7E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3A968"/>
          </a:solidFill>
          <a:ln>
            <a:solidFill>
              <a:srgbClr val="23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51560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091C34"/>
                </a:solidFill>
                <a:latin typeface="Aptos Display"/>
              </a:rPr>
              <a:t>One parcel — complete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5156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5C6C7E"/>
                </a:solidFill>
                <a:latin typeface="Aptos"/>
              </a:rPr>
              <a:t>Tracking, ETA and delay prediction working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5C6C7E"/>
                </a:solidFill>
                <a:latin typeface="Aptos"/>
              </a:rPr>
              <a:t>19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1371600"/>
            <a:ext cx="393192" cy="393192"/>
          </a:xfrm>
          <a:prstGeom prst="ellipse">
            <a:avLst/>
          </a:prstGeom>
          <a:solidFill>
            <a:srgbClr val="23A968"/>
          </a:solidFill>
          <a:ln>
            <a:solidFill>
              <a:srgbClr val="23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80744"/>
            <a:ext cx="393192" cy="3749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344168"/>
            <a:ext cx="6858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091C34"/>
                </a:solidFill>
                <a:latin typeface="Aptos"/>
              </a:rPr>
              <a:t>2:00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344168"/>
            <a:ext cx="18288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1F2B3A"/>
                </a:solidFill>
                <a:latin typeface="Aptos"/>
              </a:rPr>
              <a:t>Pickup 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344168"/>
            <a:ext cx="214884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C6C7E"/>
                </a:solidFill>
                <a:latin typeface="Aptos"/>
              </a:rPr>
              <a:t>GPS starts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07592"/>
            <a:ext cx="1234440" cy="310896"/>
          </a:xfrm>
          <a:prstGeom prst="roundRect">
            <a:avLst>
              <a:gd name="adj" fmla="val 10000"/>
            </a:avLst>
          </a:prstGeom>
          <a:solidFill>
            <a:srgbClr val="23A968"/>
          </a:solidFill>
          <a:ln>
            <a:solidFill>
              <a:srgbClr val="23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1362456"/>
            <a:ext cx="1179576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4:55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307592"/>
            <a:ext cx="1051560" cy="310896"/>
          </a:xfrm>
          <a:prstGeom prst="roundRect">
            <a:avLst>
              <a:gd name="adj" fmla="val 10000"/>
            </a:avLst>
          </a:prstGeom>
          <a:solidFill>
            <a:srgbClr val="23A968"/>
          </a:solidFill>
          <a:ln>
            <a:solidFill>
              <a:srgbClr val="23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62671" y="1362456"/>
            <a:ext cx="996695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LOW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2130552"/>
            <a:ext cx="393192" cy="393192"/>
          </a:xfrm>
          <a:prstGeom prst="ellipse">
            <a:avLst/>
          </a:prstGeom>
          <a:solidFill>
            <a:srgbClr val="23A968"/>
          </a:solidFill>
          <a:ln>
            <a:solidFill>
              <a:srgbClr val="23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139696"/>
            <a:ext cx="393192" cy="3749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103120"/>
            <a:ext cx="6858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091C34"/>
                </a:solidFill>
                <a:latin typeface="Aptos"/>
              </a:rPr>
              <a:t>2:40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103120"/>
            <a:ext cx="18288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1F2B3A"/>
                </a:solidFill>
                <a:latin typeface="Aptos"/>
              </a:rPr>
              <a:t>Normal movement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103120"/>
            <a:ext cx="214884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C6C7E"/>
                </a:solidFill>
                <a:latin typeface="Aptos"/>
              </a:rPr>
              <a:t>On route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066544"/>
            <a:ext cx="1234440" cy="310896"/>
          </a:xfrm>
          <a:prstGeom prst="roundRect">
            <a:avLst>
              <a:gd name="adj" fmla="val 10000"/>
            </a:avLst>
          </a:prstGeom>
          <a:solidFill>
            <a:srgbClr val="23A968"/>
          </a:solidFill>
          <a:ln>
            <a:solidFill>
              <a:srgbClr val="23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2" y="2121408"/>
            <a:ext cx="1179576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5:00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2066544"/>
            <a:ext cx="1051560" cy="310896"/>
          </a:xfrm>
          <a:prstGeom prst="roundRect">
            <a:avLst>
              <a:gd name="adj" fmla="val 10000"/>
            </a:avLst>
          </a:prstGeom>
          <a:solidFill>
            <a:srgbClr val="23A968"/>
          </a:solidFill>
          <a:ln>
            <a:solidFill>
              <a:srgbClr val="23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62671" y="2121408"/>
            <a:ext cx="996695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LOW</a:t>
            </a:r>
          </a:p>
        </p:txBody>
      </p:sp>
      <p:sp>
        <p:nvSpPr>
          <p:cNvPr id="24" name="Oval 23"/>
          <p:cNvSpPr/>
          <p:nvPr/>
        </p:nvSpPr>
        <p:spPr>
          <a:xfrm>
            <a:off x="594360" y="2889503"/>
            <a:ext cx="393192" cy="393192"/>
          </a:xfrm>
          <a:prstGeom prst="ellipse">
            <a:avLst/>
          </a:prstGeom>
          <a:solidFill>
            <a:srgbClr val="EF8E23"/>
          </a:solidFill>
          <a:ln>
            <a:solidFill>
              <a:srgbClr val="EF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898647"/>
            <a:ext cx="393192" cy="3749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2862072"/>
            <a:ext cx="6858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091C34"/>
                </a:solidFill>
                <a:latin typeface="Aptos"/>
              </a:rPr>
              <a:t>3:00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862072"/>
            <a:ext cx="18288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1F2B3A"/>
                </a:solidFill>
                <a:latin typeface="Aptos"/>
              </a:rPr>
              <a:t>Speed drops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2862072"/>
            <a:ext cx="214884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C6C7E"/>
                </a:solidFill>
                <a:latin typeface="Aptos"/>
              </a:rPr>
              <a:t>Risk rises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2825496"/>
            <a:ext cx="1234440" cy="310896"/>
          </a:xfrm>
          <a:prstGeom prst="roundRect">
            <a:avLst>
              <a:gd name="adj" fmla="val 10000"/>
            </a:avLst>
          </a:prstGeom>
          <a:solidFill>
            <a:srgbClr val="EF8E23"/>
          </a:solidFill>
          <a:ln>
            <a:solidFill>
              <a:srgbClr val="EF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9632" y="2880360"/>
            <a:ext cx="1179576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5:12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35240" y="2825496"/>
            <a:ext cx="1051560" cy="310896"/>
          </a:xfrm>
          <a:prstGeom prst="roundRect">
            <a:avLst>
              <a:gd name="adj" fmla="val 10000"/>
            </a:avLst>
          </a:prstGeom>
          <a:solidFill>
            <a:srgbClr val="EF8E23"/>
          </a:solidFill>
          <a:ln>
            <a:solidFill>
              <a:srgbClr val="EF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62671" y="2880360"/>
            <a:ext cx="996695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MEDIUM</a:t>
            </a:r>
          </a:p>
        </p:txBody>
      </p:sp>
      <p:sp>
        <p:nvSpPr>
          <p:cNvPr id="33" name="Oval 32"/>
          <p:cNvSpPr/>
          <p:nvPr/>
        </p:nvSpPr>
        <p:spPr>
          <a:xfrm>
            <a:off x="594360" y="3648456"/>
            <a:ext cx="393192" cy="393192"/>
          </a:xfrm>
          <a:prstGeom prst="ellipse">
            <a:avLst/>
          </a:prstGeom>
          <a:solidFill>
            <a:srgbClr val="DA4349"/>
          </a:solidFill>
          <a:ln>
            <a:solidFill>
              <a:srgbClr val="DA4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3657599"/>
            <a:ext cx="393192" cy="3749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3621024"/>
            <a:ext cx="6858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091C34"/>
                </a:solidFill>
                <a:latin typeface="Aptos"/>
              </a:rPr>
              <a:t>3:20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621024"/>
            <a:ext cx="18288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1F2B3A"/>
                </a:solidFill>
                <a:latin typeface="Aptos"/>
              </a:rPr>
              <a:t>Long stop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3621024"/>
            <a:ext cx="214884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C6C7E"/>
                </a:solidFill>
                <a:latin typeface="Aptos"/>
              </a:rPr>
              <a:t>Predicted +18m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3584448"/>
            <a:ext cx="1234440" cy="310896"/>
          </a:xfrm>
          <a:prstGeom prst="roundRect">
            <a:avLst>
              <a:gd name="adj" fmla="val 10000"/>
            </a:avLst>
          </a:prstGeom>
          <a:solidFill>
            <a:srgbClr val="DA4349"/>
          </a:solidFill>
          <a:ln>
            <a:solidFill>
              <a:srgbClr val="DA4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99632" y="3639312"/>
            <a:ext cx="1179576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5:38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35240" y="3584448"/>
            <a:ext cx="1051560" cy="310896"/>
          </a:xfrm>
          <a:prstGeom prst="roundRect">
            <a:avLst>
              <a:gd name="adj" fmla="val 10000"/>
            </a:avLst>
          </a:prstGeom>
          <a:solidFill>
            <a:srgbClr val="DA4349"/>
          </a:solidFill>
          <a:ln>
            <a:solidFill>
              <a:srgbClr val="DA4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62671" y="3639312"/>
            <a:ext cx="996695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HIGH</a:t>
            </a:r>
          </a:p>
        </p:txBody>
      </p:sp>
      <p:sp>
        <p:nvSpPr>
          <p:cNvPr id="42" name="Oval 41"/>
          <p:cNvSpPr/>
          <p:nvPr/>
        </p:nvSpPr>
        <p:spPr>
          <a:xfrm>
            <a:off x="594360" y="4407408"/>
            <a:ext cx="393192" cy="393192"/>
          </a:xfrm>
          <a:prstGeom prst="ellipse">
            <a:avLst/>
          </a:prstGeom>
          <a:solidFill>
            <a:srgbClr val="704CBE"/>
          </a:solidFill>
          <a:ln>
            <a:solidFill>
              <a:srgbClr val="70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4416552"/>
            <a:ext cx="393192" cy="3749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4379976"/>
            <a:ext cx="6858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091C34"/>
                </a:solidFill>
                <a:latin typeface="Aptos"/>
              </a:rPr>
              <a:t>3:25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20240" y="4379976"/>
            <a:ext cx="18288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1F2B3A"/>
                </a:solidFill>
                <a:latin typeface="Aptos"/>
              </a:rPr>
              <a:t>Ops reroutes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0" y="4379976"/>
            <a:ext cx="214884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C6C7E"/>
                </a:solidFill>
                <a:latin typeface="Aptos"/>
              </a:rPr>
              <a:t>New route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72200" y="4343400"/>
            <a:ext cx="1234440" cy="310896"/>
          </a:xfrm>
          <a:prstGeom prst="roundRect">
            <a:avLst>
              <a:gd name="adj" fmla="val 10000"/>
            </a:avLst>
          </a:prstGeom>
          <a:solidFill>
            <a:srgbClr val="704CBE"/>
          </a:solidFill>
          <a:ln>
            <a:solidFill>
              <a:srgbClr val="70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99632" y="4398264"/>
            <a:ext cx="1179576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5:28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635240" y="4343400"/>
            <a:ext cx="1051560" cy="310896"/>
          </a:xfrm>
          <a:prstGeom prst="roundRect">
            <a:avLst>
              <a:gd name="adj" fmla="val 10000"/>
            </a:avLst>
          </a:prstGeom>
          <a:solidFill>
            <a:srgbClr val="704CBE"/>
          </a:solidFill>
          <a:ln>
            <a:solidFill>
              <a:srgbClr val="70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62671" y="4398264"/>
            <a:ext cx="996695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MEDIUM</a:t>
            </a:r>
          </a:p>
        </p:txBody>
      </p:sp>
      <p:sp>
        <p:nvSpPr>
          <p:cNvPr id="51" name="Oval 50"/>
          <p:cNvSpPr/>
          <p:nvPr/>
        </p:nvSpPr>
        <p:spPr>
          <a:xfrm>
            <a:off x="594360" y="5166360"/>
            <a:ext cx="393192" cy="393192"/>
          </a:xfrm>
          <a:prstGeom prst="ellipse">
            <a:avLst/>
          </a:prstGeom>
          <a:solidFill>
            <a:srgbClr val="129780"/>
          </a:solidFill>
          <a:ln>
            <a:solidFill>
              <a:srgbClr val="12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" y="5175504"/>
            <a:ext cx="393192" cy="3749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3000" y="5138928"/>
            <a:ext cx="6858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091C34"/>
                </a:solidFill>
                <a:latin typeface="Aptos"/>
              </a:rPr>
              <a:t>4:10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20240" y="5138928"/>
            <a:ext cx="18288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1F2B3A"/>
                </a:solidFill>
                <a:latin typeface="Aptos"/>
              </a:rPr>
              <a:t>Delivery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40480" y="5138928"/>
            <a:ext cx="214884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C6C7E"/>
                </a:solidFill>
                <a:latin typeface="Aptos"/>
              </a:rPr>
              <a:t>OTP/POD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72200" y="5102352"/>
            <a:ext cx="1234440" cy="310896"/>
          </a:xfrm>
          <a:prstGeom prst="roundRect">
            <a:avLst>
              <a:gd name="adj" fmla="val 10000"/>
            </a:avLst>
          </a:prstGeom>
          <a:solidFill>
            <a:srgbClr val="129780"/>
          </a:solidFill>
          <a:ln>
            <a:solidFill>
              <a:srgbClr val="12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99632" y="5157216"/>
            <a:ext cx="1179576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DONE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635240" y="5102352"/>
            <a:ext cx="1051560" cy="310896"/>
          </a:xfrm>
          <a:prstGeom prst="roundRect">
            <a:avLst>
              <a:gd name="adj" fmla="val 10000"/>
            </a:avLst>
          </a:prstGeom>
          <a:solidFill>
            <a:srgbClr val="129780"/>
          </a:solidFill>
          <a:ln>
            <a:solidFill>
              <a:srgbClr val="12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62671" y="5157216"/>
            <a:ext cx="996695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CLOSED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961120" y="1234440"/>
            <a:ext cx="2423160" cy="4526280"/>
          </a:xfrm>
          <a:prstGeom prst="roundRect">
            <a:avLst>
              <a:gd name="adj" fmla="val 10000"/>
            </a:avLst>
          </a:prstGeom>
          <a:solidFill>
            <a:srgbClr val="EAF2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89720" y="1508760"/>
            <a:ext cx="1965960" cy="320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1C5CBE"/>
                </a:solidFill>
                <a:latin typeface="Aptos"/>
              </a:rPr>
              <a:t>CUSTOMER VIEW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9720" y="2148840"/>
            <a:ext cx="1965960" cy="2743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>
                <a:solidFill>
                  <a:srgbClr val="1F2B3A"/>
                </a:solidFill>
                <a:latin typeface="Aptos"/>
              </a:rPr>
              <a:t>📍 Current status
🟢 Live / verified
🕐 Updated ETA
⚠️ Delay warning
📦 Delivery confirmation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830" b="0">
                <a:solidFill>
                  <a:srgbClr val="5C6C7E"/>
                </a:solidFill>
                <a:latin typeface="Aptos"/>
              </a:rPr>
              <a:t>LogiFlows • Tracking + ETA + AI Delay Prediction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830" b="1">
                <a:solidFill>
                  <a:srgbClr val="5C6C7E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C5CBE"/>
          </a:solidFill>
          <a:ln>
            <a:solidFill>
              <a:srgbClr val="1C5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51560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091C34"/>
                </a:solidFill>
                <a:latin typeface="Aptos Display"/>
              </a:rPr>
              <a:t>How we measure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5156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5C6C7E"/>
                </a:solidFill>
                <a:latin typeface="Aptos"/>
              </a:rPr>
              <a:t>Measure prediction quality and operational impact, not just whether a map is visible.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5C6C7E"/>
                </a:solidFill>
                <a:latin typeface="Aptos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42900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54864" cy="1463040"/>
          </a:xfrm>
          <a:prstGeom prst="roundRect">
            <a:avLst>
              <a:gd name="adj" fmla="val 10000"/>
            </a:avLst>
          </a:prstGeom>
          <a:solidFill>
            <a:srgbClr val="00AEBE"/>
          </a:solidFill>
          <a:ln>
            <a:solidFill>
              <a:srgbClr val="00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58952" y="1490472"/>
            <a:ext cx="384048" cy="384048"/>
          </a:xfrm>
          <a:prstGeom prst="ellipse">
            <a:avLst/>
          </a:prstGeom>
          <a:solidFill>
            <a:srgbClr val="00AEBE"/>
          </a:solidFill>
          <a:ln>
            <a:solidFill>
              <a:srgbClr val="00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49961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1453895"/>
            <a:ext cx="2606039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091C34"/>
                </a:solidFill>
                <a:latin typeface="Aptos"/>
              </a:rPr>
              <a:t>Tracking freshness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892807"/>
            <a:ext cx="304495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5C6C7E"/>
                </a:solidFill>
                <a:latin typeface="Aptos"/>
              </a:defRPr>
            </a:pPr>
            <a:r>
              <a:t>• How recently was valid location received?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25880"/>
            <a:ext cx="342900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325880"/>
            <a:ext cx="54864" cy="1463040"/>
          </a:xfrm>
          <a:prstGeom prst="roundRect">
            <a:avLst>
              <a:gd name="adj" fmla="val 10000"/>
            </a:avLst>
          </a:prstGeom>
          <a:solidFill>
            <a:srgbClr val="704CBE"/>
          </a:solidFill>
          <a:ln>
            <a:solidFill>
              <a:srgbClr val="70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53712" y="1490472"/>
            <a:ext cx="384048" cy="384048"/>
          </a:xfrm>
          <a:prstGeom prst="ellipse">
            <a:avLst/>
          </a:prstGeom>
          <a:solidFill>
            <a:srgbClr val="704CBE"/>
          </a:solidFill>
          <a:ln>
            <a:solidFill>
              <a:srgbClr val="70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49961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1453895"/>
            <a:ext cx="260604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091C34"/>
                </a:solidFill>
                <a:latin typeface="Aptos"/>
              </a:rPr>
              <a:t>ETA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1892807"/>
            <a:ext cx="304495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5C6C7E"/>
                </a:solidFill>
                <a:latin typeface="Aptos"/>
              </a:defRPr>
            </a:pPr>
            <a:r>
              <a:t>• Predicted arrival vs actual arrival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1325880"/>
            <a:ext cx="342900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83880" y="1325880"/>
            <a:ext cx="54864" cy="1463040"/>
          </a:xfrm>
          <a:prstGeom prst="roundRect">
            <a:avLst>
              <a:gd name="adj" fmla="val 10000"/>
            </a:avLst>
          </a:prstGeom>
          <a:solidFill>
            <a:srgbClr val="DA4349"/>
          </a:solidFill>
          <a:ln>
            <a:solidFill>
              <a:srgbClr val="DA4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48472" y="1490472"/>
            <a:ext cx="384048" cy="384048"/>
          </a:xfrm>
          <a:prstGeom prst="ellipse">
            <a:avLst/>
          </a:prstGeom>
          <a:solidFill>
            <a:srgbClr val="DA4349"/>
          </a:solidFill>
          <a:ln>
            <a:solidFill>
              <a:srgbClr val="DA4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2" y="149961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42248" y="1453895"/>
            <a:ext cx="2606039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091C34"/>
                </a:solidFill>
                <a:latin typeface="Aptos"/>
              </a:rPr>
              <a:t>Delay model quality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8" y="1892807"/>
            <a:ext cx="304495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5C6C7E"/>
                </a:solidFill>
                <a:latin typeface="Aptos"/>
              </a:defRPr>
            </a:pPr>
            <a:r>
              <a:t>• How well does the model identify delay events?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154680"/>
            <a:ext cx="342900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360" y="3154680"/>
            <a:ext cx="54864" cy="1463040"/>
          </a:xfrm>
          <a:prstGeom prst="roundRect">
            <a:avLst>
              <a:gd name="adj" fmla="val 10000"/>
            </a:avLst>
          </a:prstGeom>
          <a:solidFill>
            <a:srgbClr val="EF8E23"/>
          </a:solidFill>
          <a:ln>
            <a:solidFill>
              <a:srgbClr val="EF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58952" y="3319272"/>
            <a:ext cx="384048" cy="384048"/>
          </a:xfrm>
          <a:prstGeom prst="ellipse">
            <a:avLst/>
          </a:prstGeom>
          <a:solidFill>
            <a:srgbClr val="EF8E23"/>
          </a:solidFill>
          <a:ln>
            <a:solidFill>
              <a:srgbClr val="EF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332841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52728" y="3282696"/>
            <a:ext cx="2606039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091C34"/>
                </a:solidFill>
                <a:latin typeface="Aptos"/>
              </a:rPr>
              <a:t>Prediction error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" y="3721608"/>
            <a:ext cx="304495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5C6C7E"/>
                </a:solidFill>
                <a:latin typeface="Aptos"/>
              </a:defRPr>
            </a:pPr>
            <a:r>
              <a:t>• Predicted delay vs actual delay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3154680"/>
            <a:ext cx="342900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89120" y="3154680"/>
            <a:ext cx="54864" cy="1463040"/>
          </a:xfrm>
          <a:prstGeom prst="roundRect">
            <a:avLst>
              <a:gd name="adj" fmla="val 10000"/>
            </a:avLst>
          </a:prstGeom>
          <a:solidFill>
            <a:srgbClr val="129780"/>
          </a:solidFill>
          <a:ln>
            <a:solidFill>
              <a:srgbClr val="12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53712" y="3319272"/>
            <a:ext cx="384048" cy="384048"/>
          </a:xfrm>
          <a:prstGeom prst="ellipse">
            <a:avLst/>
          </a:prstGeom>
          <a:solidFill>
            <a:srgbClr val="129780"/>
          </a:solidFill>
          <a:ln>
            <a:solidFill>
              <a:srgbClr val="12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53712" y="332841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3282696"/>
            <a:ext cx="260604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091C34"/>
                </a:solidFill>
                <a:latin typeface="Aptos"/>
              </a:rPr>
              <a:t>Reassignment time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0288" y="3721608"/>
            <a:ext cx="304495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5C6C7E"/>
                </a:solidFill>
                <a:latin typeface="Aptos"/>
              </a:defRPr>
            </a:pPr>
            <a:r>
              <a:t>• Exception detected → new assignment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80" y="3154680"/>
            <a:ext cx="342900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183880" y="3154680"/>
            <a:ext cx="54864" cy="1463040"/>
          </a:xfrm>
          <a:prstGeom prst="roundRect">
            <a:avLst>
              <a:gd name="adj" fmla="val 10000"/>
            </a:avLst>
          </a:prstGeom>
          <a:solidFill>
            <a:srgbClr val="23A968"/>
          </a:solidFill>
          <a:ln>
            <a:solidFill>
              <a:srgbClr val="23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348472" y="3319272"/>
            <a:ext cx="384048" cy="384048"/>
          </a:xfrm>
          <a:prstGeom prst="ellipse">
            <a:avLst/>
          </a:prstGeom>
          <a:solidFill>
            <a:srgbClr val="23A968"/>
          </a:solidFill>
          <a:ln>
            <a:solidFill>
              <a:srgbClr val="23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48472" y="332841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42248" y="3282696"/>
            <a:ext cx="2606039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091C34"/>
                </a:solidFill>
                <a:latin typeface="Aptos"/>
              </a:rPr>
              <a:t>On-time delivery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5048" y="3721608"/>
            <a:ext cx="304495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5C6C7E"/>
                </a:solidFill>
                <a:latin typeface="Aptos"/>
              </a:defRPr>
            </a:pPr>
            <a:r>
              <a:t>• Deliveries meeting promised window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" y="5212080"/>
            <a:ext cx="10332720" cy="685800"/>
          </a:xfrm>
          <a:prstGeom prst="roundRect">
            <a:avLst>
              <a:gd name="adj" fmla="val 10000"/>
            </a:avLst>
          </a:prstGeom>
          <a:solidFill>
            <a:srgbClr val="E7F9F5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7280" y="5413248"/>
            <a:ext cx="996696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>
                <a:solidFill>
                  <a:srgbClr val="129780"/>
                </a:solidFill>
                <a:latin typeface="Aptos"/>
              </a:rPr>
              <a:t>Prediction → action → actual outcome → evaluation → improvement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830" b="0">
                <a:solidFill>
                  <a:srgbClr val="5C6C7E"/>
                </a:solidFill>
                <a:latin typeface="Aptos"/>
              </a:rPr>
              <a:t>LogiFlows • Tracking + ETA + AI Delay Prediction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830" b="1">
                <a:solidFill>
                  <a:srgbClr val="5C6C7E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EF8E23"/>
          </a:solidFill>
          <a:ln>
            <a:solidFill>
              <a:srgbClr val="EF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51560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091C34"/>
                </a:solidFill>
                <a:latin typeface="Aptos Display"/>
              </a:rPr>
              <a:t>Security and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5156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5C6C7E"/>
                </a:solidFill>
                <a:latin typeface="Aptos"/>
              </a:rPr>
              <a:t>Tracking is session-based, role-controlled and auditable.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5C6C7E"/>
                </a:solidFill>
                <a:latin typeface="Aptos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516636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54864" cy="1280160"/>
          </a:xfrm>
          <a:prstGeom prst="roundRect">
            <a:avLst>
              <a:gd name="adj" fmla="val 10000"/>
            </a:avLst>
          </a:prstGeom>
          <a:solidFill>
            <a:srgbClr val="1C5CBE"/>
          </a:solidFill>
          <a:ln>
            <a:solidFill>
              <a:srgbClr val="1C5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1" y="1444751"/>
            <a:ext cx="384048" cy="384048"/>
          </a:xfrm>
          <a:prstGeom prst="ellipse">
            <a:avLst/>
          </a:prstGeom>
          <a:solidFill>
            <a:srgbClr val="1C5CBE"/>
          </a:solidFill>
          <a:ln>
            <a:solidFill>
              <a:srgbClr val="1C5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453895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408176"/>
            <a:ext cx="43434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091C34"/>
                </a:solidFill>
                <a:latin typeface="Aptos"/>
              </a:rPr>
              <a:t>Authorized sessions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847088"/>
            <a:ext cx="4782312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10">
                <a:solidFill>
                  <a:srgbClr val="5C6C7E"/>
                </a:solidFill>
                <a:latin typeface="Aptos"/>
              </a:defRPr>
            </a:pPr>
            <a:r>
              <a:t>• GPS collection only during an authorized active movement session.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16636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54864" cy="1280160"/>
          </a:xfrm>
          <a:prstGeom prst="roundRect">
            <a:avLst>
              <a:gd name="adj" fmla="val 10000"/>
            </a:avLst>
          </a:prstGeom>
          <a:solidFill>
            <a:srgbClr val="704CBE"/>
          </a:solidFill>
          <a:ln>
            <a:solidFill>
              <a:srgbClr val="70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82512" y="1444751"/>
            <a:ext cx="384048" cy="384048"/>
          </a:xfrm>
          <a:prstGeom prst="ellipse">
            <a:avLst/>
          </a:prstGeom>
          <a:solidFill>
            <a:srgbClr val="704CBE"/>
          </a:solidFill>
          <a:ln>
            <a:solidFill>
              <a:srgbClr val="70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453895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1408176"/>
            <a:ext cx="43434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091C34"/>
                </a:solidFill>
                <a:latin typeface="Aptos"/>
              </a:rPr>
              <a:t>Role-based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847088"/>
            <a:ext cx="4782312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10">
                <a:solidFill>
                  <a:srgbClr val="5C6C7E"/>
                </a:solidFill>
                <a:latin typeface="Aptos"/>
              </a:defRPr>
            </a:pPr>
            <a:r>
              <a:t>• Customer / employee / admin views are separated.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788920"/>
            <a:ext cx="516636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2788920"/>
            <a:ext cx="54864" cy="1280160"/>
          </a:xfrm>
          <a:prstGeom prst="roundRect">
            <a:avLst>
              <a:gd name="adj" fmla="val 10000"/>
            </a:avLst>
          </a:prstGeom>
          <a:solidFill>
            <a:srgbClr val="129780"/>
          </a:solidFill>
          <a:ln>
            <a:solidFill>
              <a:srgbClr val="12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4671" y="2953512"/>
            <a:ext cx="384048" cy="384048"/>
          </a:xfrm>
          <a:prstGeom prst="ellipse">
            <a:avLst/>
          </a:prstGeom>
          <a:solidFill>
            <a:srgbClr val="129780"/>
          </a:solidFill>
          <a:ln>
            <a:solidFill>
              <a:srgbClr val="12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296265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2916936"/>
            <a:ext cx="43434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091C34"/>
                </a:solidFill>
                <a:latin typeface="Aptos"/>
              </a:rPr>
              <a:t>Tenant isolation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3355848"/>
            <a:ext cx="4782312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10">
                <a:solidFill>
                  <a:srgbClr val="5C6C7E"/>
                </a:solidFill>
                <a:latin typeface="Aptos"/>
              </a:defRPr>
            </a:pPr>
            <a:r>
              <a:t>• Partner organizations only access permitted operational data.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788920"/>
            <a:ext cx="516636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17920" y="2788920"/>
            <a:ext cx="54864" cy="1280160"/>
          </a:xfrm>
          <a:prstGeom prst="roundRect">
            <a:avLst>
              <a:gd name="adj" fmla="val 10000"/>
            </a:avLst>
          </a:prstGeom>
          <a:solidFill>
            <a:srgbClr val="EF8E23"/>
          </a:solidFill>
          <a:ln>
            <a:solidFill>
              <a:srgbClr val="EF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82512" y="2953512"/>
            <a:ext cx="384048" cy="384048"/>
          </a:xfrm>
          <a:prstGeom prst="ellipse">
            <a:avLst/>
          </a:prstGeom>
          <a:solidFill>
            <a:srgbClr val="EF8E23"/>
          </a:solidFill>
          <a:ln>
            <a:solidFill>
              <a:srgbClr val="EF8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2512" y="2962656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6288" y="2916936"/>
            <a:ext cx="43434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091C34"/>
                </a:solidFill>
                <a:latin typeface="Aptos"/>
              </a:rPr>
              <a:t>Audit 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3355848"/>
            <a:ext cx="4782312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10">
                <a:solidFill>
                  <a:srgbClr val="5C6C7E"/>
                </a:solidFill>
                <a:latin typeface="Aptos"/>
              </a:defRPr>
            </a:pPr>
            <a:r>
              <a:t>• Scans, handovers, predictions and state changes are recorded.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297679"/>
            <a:ext cx="516636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" y="4297679"/>
            <a:ext cx="54864" cy="1280160"/>
          </a:xfrm>
          <a:prstGeom prst="roundRect">
            <a:avLst>
              <a:gd name="adj" fmla="val 10000"/>
            </a:avLst>
          </a:prstGeom>
          <a:solidFill>
            <a:srgbClr val="00AEBE"/>
          </a:solidFill>
          <a:ln>
            <a:solidFill>
              <a:srgbClr val="00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04671" y="4462271"/>
            <a:ext cx="384048" cy="384048"/>
          </a:xfrm>
          <a:prstGeom prst="ellipse">
            <a:avLst/>
          </a:prstGeom>
          <a:solidFill>
            <a:srgbClr val="00AEBE"/>
          </a:solidFill>
          <a:ln>
            <a:solidFill>
              <a:srgbClr val="00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1" y="4471415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8448" y="4425695"/>
            <a:ext cx="43434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091C34"/>
                </a:solidFill>
                <a:latin typeface="Aptos"/>
              </a:rPr>
              <a:t>Data quality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7" y="4864607"/>
            <a:ext cx="4782312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10">
                <a:solidFill>
                  <a:srgbClr val="5C6C7E"/>
                </a:solidFill>
                <a:latin typeface="Aptos"/>
              </a:defRPr>
            </a:pPr>
            <a:r>
              <a:t>• Timestamp and accuracy make stale data visible.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297679"/>
            <a:ext cx="516636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17920" y="4297679"/>
            <a:ext cx="54864" cy="1280160"/>
          </a:xfrm>
          <a:prstGeom prst="roundRect">
            <a:avLst>
              <a:gd name="adj" fmla="val 10000"/>
            </a:avLst>
          </a:prstGeom>
          <a:solidFill>
            <a:srgbClr val="23A968"/>
          </a:solidFill>
          <a:ln>
            <a:solidFill>
              <a:srgbClr val="23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82512" y="4462271"/>
            <a:ext cx="384048" cy="384048"/>
          </a:xfrm>
          <a:prstGeom prst="ellipse">
            <a:avLst/>
          </a:prstGeom>
          <a:solidFill>
            <a:srgbClr val="23A968"/>
          </a:solidFill>
          <a:ln>
            <a:solidFill>
              <a:srgbClr val="23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82512" y="4471415"/>
            <a:ext cx="384048" cy="36575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76288" y="4425695"/>
            <a:ext cx="43434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091C34"/>
                </a:solidFill>
                <a:latin typeface="Aptos"/>
              </a:rPr>
              <a:t>Controlled retention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9088" y="4864607"/>
            <a:ext cx="4782312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10">
                <a:solidFill>
                  <a:srgbClr val="5C6C7E"/>
                </a:solidFill>
                <a:latin typeface="Aptos"/>
              </a:defRPr>
            </a:pPr>
            <a:r>
              <a:t>• Retain location history according to operational needs and policy.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830" b="0">
                <a:solidFill>
                  <a:srgbClr val="5C6C7E"/>
                </a:solidFill>
                <a:latin typeface="Aptos"/>
              </a:rPr>
              <a:t>LogiFlows • Tracking + ETA + AI Delay Prediction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830" b="1">
                <a:solidFill>
                  <a:srgbClr val="5C6C7E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AEBE"/>
          </a:solidFill>
          <a:ln>
            <a:solidFill>
              <a:srgbClr val="00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51560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 Display"/>
              </a:rPr>
              <a:t>The complete feature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5156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CDDCF0"/>
                </a:solidFill>
                <a:latin typeface="Aptos"/>
              </a:rPr>
              <a:t>One event stream powers visibility, prediction and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00AEBE"/>
                </a:solidFill>
                <a:latin typeface="Aptos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965960"/>
            <a:ext cx="3657600" cy="1828800"/>
          </a:xfrm>
          <a:prstGeom prst="roundRect">
            <a:avLst>
              <a:gd name="adj" fmla="val 10000"/>
            </a:avLst>
          </a:prstGeom>
          <a:solidFill>
            <a:srgbClr val="142D4E"/>
          </a:solidFill>
          <a:ln>
            <a:solidFill>
              <a:srgbClr val="436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331720"/>
            <a:ext cx="3017520" cy="6858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 Display"/>
              </a:rPr>
              <a:t>ONE PARCEL
EVENT STREAM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17320"/>
            <a:ext cx="2468880" cy="1051560"/>
          </a:xfrm>
          <a:prstGeom prst="roundRect">
            <a:avLst>
              <a:gd name="adj" fmla="val 10000"/>
            </a:avLst>
          </a:prstGeom>
          <a:solidFill>
            <a:srgbClr val="142D4E"/>
          </a:solidFill>
          <a:ln>
            <a:solidFill>
              <a:srgbClr val="436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73352"/>
            <a:ext cx="21031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REAL-TIME
TRACKING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1417320"/>
            <a:ext cx="2468880" cy="1051560"/>
          </a:xfrm>
          <a:prstGeom prst="roundRect">
            <a:avLst>
              <a:gd name="adj" fmla="val 10000"/>
            </a:avLst>
          </a:prstGeom>
          <a:solidFill>
            <a:srgbClr val="142D4E"/>
          </a:solidFill>
          <a:ln>
            <a:solidFill>
              <a:srgbClr val="436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5400" y="1673352"/>
            <a:ext cx="21031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DYNAMIC
ETA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297680"/>
            <a:ext cx="2468880" cy="1051560"/>
          </a:xfrm>
          <a:prstGeom prst="roundRect">
            <a:avLst>
              <a:gd name="adj" fmla="val 10000"/>
            </a:avLst>
          </a:prstGeom>
          <a:solidFill>
            <a:srgbClr val="142D4E"/>
          </a:solidFill>
          <a:ln>
            <a:solidFill>
              <a:srgbClr val="436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553712"/>
            <a:ext cx="21031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AI DELAY
PREDICTION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4297680"/>
            <a:ext cx="2468880" cy="1051560"/>
          </a:xfrm>
          <a:prstGeom prst="roundRect">
            <a:avLst>
              <a:gd name="adj" fmla="val 10000"/>
            </a:avLst>
          </a:prstGeom>
          <a:solidFill>
            <a:srgbClr val="142D4E"/>
          </a:solidFill>
          <a:ln>
            <a:solidFill>
              <a:srgbClr val="436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4553712"/>
            <a:ext cx="21031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PROACTIVE
ACTION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83280" y="1920240"/>
            <a:ext cx="777240" cy="640080"/>
          </a:xfrm>
          <a:prstGeom prst="line">
            <a:avLst/>
          </a:prstGeom>
          <a:ln w="27940">
            <a:solidFill>
              <a:srgbClr val="00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1920240"/>
            <a:ext cx="228600" cy="640080"/>
          </a:xfrm>
          <a:prstGeom prst="line">
            <a:avLst/>
          </a:prstGeom>
          <a:ln w="27940">
            <a:solidFill>
              <a:srgbClr val="704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383280" y="3246120"/>
            <a:ext cx="777240" cy="1554480"/>
          </a:xfrm>
          <a:prstGeom prst="line">
            <a:avLst/>
          </a:prstGeom>
          <a:ln w="27940">
            <a:solidFill>
              <a:srgbClr val="DA4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955279" y="3246120"/>
            <a:ext cx="228600" cy="1554480"/>
          </a:xfrm>
          <a:prstGeom prst="line">
            <a:avLst/>
          </a:prstGeom>
          <a:ln w="27940">
            <a:solidFill>
              <a:srgbClr val="EF8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971800" y="5623560"/>
            <a:ext cx="6309360" cy="310896"/>
          </a:xfrm>
          <a:prstGeom prst="roundRect">
            <a:avLst>
              <a:gd name="adj" fmla="val 10000"/>
            </a:avLst>
          </a:prstGeom>
          <a:solidFill>
            <a:srgbClr val="129780"/>
          </a:solidFill>
          <a:ln>
            <a:solidFill>
              <a:srgbClr val="12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99232" y="5678424"/>
            <a:ext cx="6254496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OBSERVE → UNDERSTAND → PREDICT → 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830" b="0">
                <a:solidFill>
                  <a:srgbClr val="5C6C7E"/>
                </a:solidFill>
                <a:latin typeface="Aptos"/>
              </a:rPr>
              <a:t>LogiFlows • Tracking + ETA + AI Delay Prediction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830" b="1">
                <a:solidFill>
                  <a:srgbClr val="5C6C7E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AEBE"/>
          </a:solidFill>
          <a:ln>
            <a:solidFill>
              <a:srgbClr val="00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10896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 Display"/>
              </a:rPr>
              <a:t>LOGIFLOWS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8778240" cy="1645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 Display"/>
              </a:rPr>
              <a:t>Real-time visibility.
Predictive delivery intelligence.
Proactive logistics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57600"/>
            <a:ext cx="877824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50" b="0">
                <a:solidFill>
                  <a:srgbClr val="CDDEF0"/>
                </a:solidFill>
                <a:latin typeface="Aptos"/>
              </a:rPr>
              <a:t>The parcel keeps one identity. The system continuously understands where it is, when it should arrive, and what action may be needed next.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892040"/>
            <a:ext cx="4297680" cy="310896"/>
          </a:xfrm>
          <a:prstGeom prst="roundRect">
            <a:avLst>
              <a:gd name="adj" fmla="val 10000"/>
            </a:avLst>
          </a:prstGeom>
          <a:solidFill>
            <a:srgbClr val="129780"/>
          </a:solidFill>
          <a:ln>
            <a:solidFill>
              <a:srgbClr val="12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4946903"/>
            <a:ext cx="4242816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TRACK • CALCULATE • PREDICT • 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97880"/>
            <a:ext cx="3840480" cy="2286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9BBCDC"/>
                </a:solidFill>
                <a:latin typeface="Aptos"/>
              </a:rPr>
              <a:t>Feature walkthrough • Client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5257800"/>
            <a:ext cx="21031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5779008"/>
            <a:ext cx="2834640" cy="2286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0">
                <a:solidFill>
                  <a:srgbClr val="BED2EB"/>
                </a:solidFill>
                <a:latin typeface="Aptos"/>
              </a:rPr>
              <a:t>Questions &amp; discussion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