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ETA</c:v>
                </c:pt>
              </c:strCache>
            </c:strRef>
          </c:tx>
          <c:spPr>
            <a:solidFill>
              <a:srgbClr val="27477F"/>
            </a:solidFill>
            <a:ln w="31750" cap="flat">
              <a:solidFill>
                <a:srgbClr val="2747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7477F"/>
              </a:solidFill>
              <a:ln w="9525" cap="flat">
                <a:solidFill>
                  <a:srgbClr val="2747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2:00 PM</c:v>
                  </c:pt>
                  <c:pt idx="1">
                    <c:v>2:40 PM</c:v>
                  </c:pt>
                  <c:pt idx="2">
                    <c:v>3:00 PM</c:v>
                  </c:pt>
                  <c:pt idx="3">
                    <c:v>3:20 PM</c:v>
                  </c:pt>
                  <c:pt idx="4">
                    <c:v>3:25 PM</c:v>
                  </c:pt>
                  <c:pt idx="5">
                    <c:v>4:10 PM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172</c:v>
                </c:pt>
                <c:pt idx="1">
                  <c:v>178</c:v>
                </c:pt>
                <c:pt idx="2">
                  <c:v>188</c:v>
                </c:pt>
                <c:pt idx="3">
                  <c:v>220</c:v>
                </c:pt>
                <c:pt idx="4">
                  <c:v>210</c:v>
                </c:pt>
                <c:pt idx="5">
                  <c:v>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B2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16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5"/>
          <c:min val="160"/>
        </c:scaling>
        <c:delete val="0"/>
        <c:axPos val="l"/>
        <c:majorGridlines>
          <c:spPr>
            <a:ln w="6350" cap="flat">
              <a:solidFill>
                <a:srgbClr val="D6D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16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core concept preserved from the LogiFlows PPT; B2B positioning and enhanced features added. Feature status labels appear on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PPT concept: one permanent tracking identity across all courier partners. Extended with the B2B API entry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LogiFlows is not a marketplace. The business keeps selling on its own site; LogiFlows provides the logistics layer through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Modular Go backend first; independent services only when there is a clear technical reason. Foundation (Phase 0) is being validated on branch feature/phase-0-foundation.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PPT workflow (Book to Delivered) preserved; booking now starts from the partner's backend API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names are illustrative; the final state machine is defined in Phase 3 and invalid transitions are rejected by the service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PPT states: Live, Verified, Estimated, Last Known. UNAVAILABLE added for no authorized session or no data. Tracking only during authorized custody.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is the illustrative example from the original PPT, not measured results. ETA accuracy is reported only after evaluation against actual deliveries.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model accuracy is claimed until evaluated. Baseline candidates: Logistic Regression and Random Forest, chosen from evaluation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 method is chosen to suit the selected model. Feature importance is not proof of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 rule-based engine before any complex AI ranking. Output is a recommendation to an authorized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recommends; an authorized operator decides. Sensitive actions require explicit authorization and approval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names beyond the specified entities are proposed. Final schema and ERD follow the Phase 0 repository review; changes go through migrations.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is set conservatively. Phase 0 is on the active branch; nothing is labelled Implemented until the repository audit and test evidence confirm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from the original LogiFlows PPT.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the approximate estimates from the original PPT; re-check against the Go and Flutter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31089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5486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ORCHESTRATION PLATFORM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LogiFlows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37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End-to-End Logistics Coordination and Delivery Management System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journey. Many logistics partners.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926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B2B platform for API-driven shipment booking, partner coordination, QR custody, real-time tracking, dynamic ETA, AI delay-risk prediction, and exception management.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977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71600" y="39776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14600" y="39776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14600" y="39776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566160" y="39776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39776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6177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|  Enhanced B2B edition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154680"/>
          </a:xfrm>
          <a:prstGeom prst="roundRect">
            <a:avLst>
              <a:gd name="adj" fmla="val 1739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Businesses that sell through their own websites still depend on courier operations that are fragmented, opaque and reactive.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26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shared coordination layer between the business, its courier partners, branches and delivery employees.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parcel has a journey — but the systems do not always hold that journey together.”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4293" y="1429573"/>
            <a:ext cx="176662" cy="17666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800600" y="1810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0574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Pickup, transport and last-mile run on separate systems with no shared record.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20840" y="1188720"/>
            <a:ext cx="1920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0" y="1325880"/>
            <a:ext cx="384048" cy="384048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693" y="1429573"/>
            <a:ext cx="176662" cy="17666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858000" y="1810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parcel identity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20574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courier issues its own reference, so the journey breaks at every handover.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2788920"/>
            <a:ext cx="1920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00600" y="2926080"/>
            <a:ext cx="384048" cy="384048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93" y="3029773"/>
            <a:ext cx="176662" cy="17666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00600" y="3410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unreliable ETA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800600" y="36576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rarely change when position, route or stop time changes.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720840" y="2788920"/>
            <a:ext cx="1920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58000" y="2926080"/>
            <a:ext cx="384048" cy="384048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693" y="3029773"/>
            <a:ext cx="176662" cy="17666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858000" y="3410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exceptions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36576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Delays, failed deliveries and missed scans are handled after they happen.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Logistics Limitations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" y="1466880"/>
            <a:ext cx="193487" cy="19348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1792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28600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of branches, employees and vehicles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workflows with no shared coordination layer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capacity decisions made without live 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118872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24912" y="1353312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80" y="1466880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24912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724912" y="228600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parcel status; disconnected, delayed notifications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journey view across partners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communication on delays or exceptions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18872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28032" y="1353312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600" y="1466880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28032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28032" y="228600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parcel identity across courier partners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handoffs with manual exception handling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optimization from uncoordinated data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66560" y="118872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31152" y="1353312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720" y="1466880"/>
            <a:ext cx="193487" cy="19348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31152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931152" y="228600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courier needs a custom integration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shipment API for partner websites</a:t>
            </a:r>
            <a:endParaRPr lang="en-US" sz="1000" dirty="0"/>
          </a:p>
          <a:p>
            <a:pPr marL="139700" indent="-1397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visibility into courier-side events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parcel has a journey — but the systems do not always hold that journey together.”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 Proposed Solution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7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LogiFlows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 information is spread across stages and partners.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permanent Tracking ID, QR code and timeline.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connected parcel journey.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Businesses need custom integrations per courier.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multi-tenant B2B API with signed webhooks.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once, track everything.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assignment can be manual.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by availability, location and workload; operator-approved reassignment.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manual coordination.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does not change when conditions change.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ETA recalculated from GPS, route and handovers.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useful delivery estimates.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Delays are handled after they happen.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delay-risk prediction with an explanation.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warning of possible delays.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Exceptions are handled ad hoc.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Copilot with operator approval and audit.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Faster, accountable response.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connects the important stages of parcel delivery into one intelligent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Parcel. One Identity. One Timeline.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website / app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23444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29184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325880" y="1737360"/>
            <a:ext cx="868680" cy="411480"/>
          </a:xfrm>
          <a:prstGeom prst="line">
            <a:avLst/>
          </a:prstGeom>
          <a:noFill/>
          <a:ln w="15875">
            <a:solidFill>
              <a:srgbClr val="B4C2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3291840" y="1737360"/>
            <a:ext cx="868680" cy="411480"/>
          </a:xfrm>
          <a:prstGeom prst="line">
            <a:avLst/>
          </a:prstGeom>
          <a:noFill/>
          <a:ln w="15875">
            <a:solidFill>
              <a:srgbClr val="B4C2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71600" y="21488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 w="9525">
            <a:solidFill>
              <a:srgbClr val="FFB02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71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LogiFlows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Parcel 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 tracking identity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 flipH="1">
            <a:off x="1143000" y="3063240"/>
            <a:ext cx="685800" cy="548640"/>
          </a:xfrm>
          <a:prstGeom prst="line">
            <a:avLst/>
          </a:prstGeom>
          <a:noFill/>
          <a:ln w="15875">
            <a:solidFill>
              <a:srgbClr val="B4C2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3063240"/>
            <a:ext cx="0" cy="548640"/>
          </a:xfrm>
          <a:prstGeom prst="line">
            <a:avLst/>
          </a:prstGeom>
          <a:noFill/>
          <a:ln w="15875">
            <a:solidFill>
              <a:srgbClr val="B4C2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0" y="3063240"/>
            <a:ext cx="685800" cy="548640"/>
          </a:xfrm>
          <a:prstGeom prst="line">
            <a:avLst/>
          </a:prstGeom>
          <a:noFill/>
          <a:ln w="15875">
            <a:solidFill>
              <a:srgbClr val="B4C2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6118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7200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leg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057400" y="36118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2057400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205740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leg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0" y="361188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657600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365760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leg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349240" y="118872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553212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14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719072"/>
            <a:ext cx="182880" cy="18288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833872" y="169164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 Tracking ID and QR code for the entire journey</a:t>
            </a:r>
            <a:endParaRPr lang="en-US" sz="10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67128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833872" y="213969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B2B API for partner websites and applications</a:t>
            </a:r>
            <a:endParaRPr lang="en-US" sz="10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615184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833872" y="258775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Multi-partner coordination without sacrificing operational control</a:t>
            </a:r>
            <a:endParaRPr lang="en-US" sz="10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063240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833872" y="3035808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 with AI-assisted delay-risk prediction</a:t>
            </a:r>
            <a:endParaRPr lang="en-US" sz="10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511296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833872" y="3483864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prioritization and exception recommendations for operators</a:t>
            </a:r>
            <a:endParaRPr lang="en-US" sz="10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59352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833872" y="39319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delivery history with proof of delivery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BUSINESS MODEL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Business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463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1280160"/>
            <a:ext cx="274320" cy="274320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partner company's own website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148840" y="1188720"/>
            <a:ext cx="1463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258568" y="1280160"/>
            <a:ext cx="274320" cy="274320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5856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258568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calls API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258568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/api/v1/shipments with an idempotency key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61188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840480" y="1188720"/>
            <a:ext cx="1463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950208" y="1280160"/>
            <a:ext cx="274320" cy="274320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95020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950208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orchestrates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950208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QR, assignment, custody, ETA, risk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30352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532120" y="1188720"/>
            <a:ext cx="1463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41848" y="1280160"/>
            <a:ext cx="274320" cy="274320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64184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641848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 deliver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641848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partners scan, track and deliver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99516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223760" y="1188720"/>
            <a:ext cx="1463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333488" y="1280160"/>
            <a:ext cx="274320" cy="274320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33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333488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returns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333488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 and the tracking API update the partner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" y="260604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400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partner company keeps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3017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website and product catalogue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customer relationship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payments and order management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260604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484632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LogiFlows provides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4846320" y="3017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booking and parcel management</a:t>
            </a:r>
            <a:endParaRPr lang="en-US" sz="10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Courier, branch and employee coordination</a:t>
            </a:r>
            <a:endParaRPr lang="en-US" sz="10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ETA, delay-risk and priority</a:t>
            </a:r>
            <a:endParaRPr lang="en-US" sz="10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Exceptions, proof of delivery and audit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marketplace like Amazon or Flipkart — the logistics layer behind a business's own store.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353312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" y="1466880"/>
            <a:ext cx="193487" cy="19348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1353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business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company; manages API credentials, webhooks, users and reports.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10712" y="1353312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80" y="1466880"/>
            <a:ext cx="193487" cy="19348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977640" y="1353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410712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tenants, courier partners, branches, the live map, risk and audit logs.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1353312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200" y="1466880"/>
            <a:ext cx="193487" cy="19348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66560" y="1353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partner / branch operator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199632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branch queues, handovers, employee workload and exceptions.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792" y="2953512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60" y="3067080"/>
            <a:ext cx="193487" cy="19348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88720" y="2953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employee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21792" y="3520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QR, shares GPS during custody, updates status and captures proof of delivery.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46120" y="278892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10712" y="2953512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80" y="3067080"/>
            <a:ext cx="193487" cy="19348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977640" y="2953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and receiver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3410712" y="3520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through the partner's site, follow one tracking journey and confirm delivery.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99632" y="2953512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200" y="3067080"/>
            <a:ext cx="193487" cy="19348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2953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developer</a:t>
            </a:r>
            <a:endParaRPr lang="en-US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6199632" y="3520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through REST APIs, OpenAPI documentation and signed webhooks.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works from the same LogiFlows tracking ID, with resource-level authorization.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88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965960"/>
            <a:ext cx="777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4290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06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280160" y="11887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32588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Portal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88920" y="11887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83464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97680" y="11887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34340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Branch Portal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06440" y="11887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85216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App (Flutter)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0" y="11887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36092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systems (API + webhooks)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280160" y="196596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17320" y="2029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modular backend  ·  Gin  ·  REST  ·  JWT  ·  RBAC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371600" y="242316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37160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377440" y="242316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37744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383280" y="242316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38328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Branches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389120" y="242316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394960" y="242316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39496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371600" y="27889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37160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377440" y="27889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37744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383280" y="27889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38328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389120" y="27889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38912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394960" y="27889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39496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537960" y="19659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132A4F"/>
          </a:solidFill>
          <a:ln w="9525">
            <a:solidFill>
              <a:srgbClr val="FFB02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656832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AI service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656832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model</a:t>
            </a:r>
            <a:endParaRPr lang="en-US" sz="950" dirty="0"/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output</a:t>
            </a:r>
            <a:endParaRPr lang="en-US" sz="950" dirty="0"/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models</a:t>
            </a:r>
            <a:endParaRPr lang="en-US" sz="950" dirty="0"/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only by Go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1280160" y="3429000"/>
            <a:ext cx="1783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128016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154680" y="3429000"/>
            <a:ext cx="1783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315468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029200" y="3429000"/>
            <a:ext cx="1783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502920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gateway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903720" y="3429000"/>
            <a:ext cx="1783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Text 52"/>
          <p:cNvSpPr txBox="1"/>
          <p:nvPr/>
        </p:nvSpPr>
        <p:spPr>
          <a:xfrm>
            <a:off x="690372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routing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280160" y="4206240"/>
            <a:ext cx="7406640" cy="365760"/>
          </a:xfrm>
          <a:prstGeom prst="roundRect">
            <a:avLst>
              <a:gd name="adj" fmla="val 15000"/>
            </a:avLst>
          </a:prstGeom>
          <a:solidFill>
            <a:srgbClr val="132A4F"/>
          </a:solidFill>
          <a:ln w="3175">
            <a:solidFill>
              <a:srgbClr val="132A4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280160" y="4206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Docker Compose  ·  GitHub Actions CI  ·  Structured logs  ·  Request IDs  ·  OpenAPI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Parcel Journey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B4C2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042416" y="1874520"/>
            <a:ext cx="7059168" cy="0"/>
          </a:xfrm>
          <a:prstGeom prst="line">
            <a:avLst/>
          </a:prstGeom>
          <a:noFill/>
          <a:ln w="25400">
            <a:solidFill>
              <a:srgbClr val="2747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" y="1591056"/>
            <a:ext cx="566928" cy="566928"/>
          </a:xfrm>
          <a:prstGeom prst="ellipse">
            <a:avLst/>
          </a:prstGeom>
          <a:solidFill>
            <a:srgbClr val="132A4F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3776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12064" y="256032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backend submits the shipment; Tracking ID and QR generated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669694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934870" y="1591056"/>
            <a:ext cx="566928" cy="566928"/>
          </a:xfrm>
          <a:prstGeom prst="ellipse">
            <a:avLst/>
          </a:prstGeom>
          <a:solidFill>
            <a:srgbClr val="132A4F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174" y="17373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69694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687982" y="256032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scans the QR and takes custody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2845613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110789" y="1591056"/>
            <a:ext cx="566928" cy="566928"/>
          </a:xfrm>
          <a:prstGeom prst="ellipse">
            <a:avLst/>
          </a:prstGeom>
          <a:solidFill>
            <a:srgbClr val="132A4F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093" y="17373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845613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Hub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2863901" y="256032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verifies the parcel and batches shipments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021531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286707" y="1591056"/>
            <a:ext cx="566928" cy="566928"/>
          </a:xfrm>
          <a:prstGeom prst="ellipse">
            <a:avLst/>
          </a:prstGeom>
          <a:solidFill>
            <a:srgbClr val="132A4F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011" y="17373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021531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039819" y="256032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session with dynamic ETA updates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5197450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462626" y="1591056"/>
            <a:ext cx="566928" cy="566928"/>
          </a:xfrm>
          <a:prstGeom prst="ellipse">
            <a:avLst/>
          </a:prstGeom>
          <a:solidFill>
            <a:srgbClr val="132A4F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930" y="17373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19745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Dest. Hub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215738" y="256032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the destination branch or partner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6373368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638544" y="1591056"/>
            <a:ext cx="566928" cy="566928"/>
          </a:xfrm>
          <a:prstGeom prst="ellipse">
            <a:avLst/>
          </a:prstGeom>
          <a:solidFill>
            <a:srgbClr val="132A4F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173736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73368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Mile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6391656" y="256032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employee navigates the final route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7549286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7814462" y="1591056"/>
            <a:ext cx="566928" cy="566928"/>
          </a:xfrm>
          <a:prstGeom prst="ellipse">
            <a:avLst/>
          </a:prstGeom>
          <a:solidFill>
            <a:srgbClr val="132A4F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0766" y="1737360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549286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7567574" y="256032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signature or proof of delivery confirms receipt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</a:t>
            </a:r>
            <a:pPr indent="0" marL="0">
              <a:buNone/>
            </a:pPr>
            <a:r>
              <a:rPr lang="en-US" sz="10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status update, scan, assignment change, notification — is recorded against the same parcel ID, creating an auditable history from booking to proof of delivery. The partner is notified by signed webhook at each major transition.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PARCEL IDENTITY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Parcel Identity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374904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1325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IDENTITY (EXAMPLE FORMAT)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LF-2026-000001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6228" y="169026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008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ID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2487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Permanent; never changes across handovers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27889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reference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29900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the business and receiver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34930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at every custody change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references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3995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ID, never replacing it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4434840" y="11887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(ILLUSTRATIVE)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434840" y="146304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34840" y="1463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504688" y="146304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504688" y="1463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6574536" y="146304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74536" y="1463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PICKED_UP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7644384" y="146304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644384" y="1463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IN_TRANSIT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4434840" y="18288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434840" y="1828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AT_HUB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504688" y="18288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504688" y="1828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OUT_FOR_DELIVERY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6574536" y="18288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3175">
            <a:solidFill>
              <a:srgbClr val="0F766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574536" y="1828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434840" y="219456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 w="3175">
            <a:solidFill>
              <a:srgbClr val="C2410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434840" y="21945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FAILED_ATTEMPT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5504688" y="219456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51607A"/>
          </a:solidFill>
          <a:ln w="3175">
            <a:solidFill>
              <a:srgbClr val="51607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504688" y="21945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6574536" y="219456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51607A"/>
          </a:solidFill>
          <a:ln w="3175">
            <a:solidFill>
              <a:srgbClr val="51607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574536" y="21945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4434840" y="2606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transitions are rejected by the service layer; every valid transition is audited.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4434840" y="3017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records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4434840" y="3310128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shipment_items — contents of the parcel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shipment_identifiers — ID, tracking ref, QR, partner refs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shipment_events — full event timeline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shipment_status_history — every status change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custody_sessions — who held the parcel, and when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MULTI-PARTNER CUSTODY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Multi-Partner Custody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436980"/>
            <a:ext cx="189281" cy="18928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1298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554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196596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E7C2"/>
          </a:solidFill>
          <a:ln w="6350">
            <a:solidFill>
              <a:srgbClr val="FDE7C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SESSION 1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880360" y="1783080"/>
            <a:ext cx="457200" cy="0"/>
          </a:xfrm>
          <a:prstGeom prst="line">
            <a:avLst/>
          </a:prstGeom>
          <a:noFill/>
          <a:ln w="15875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834640" y="1536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3383280" y="118872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20440" y="1325880"/>
            <a:ext cx="411480" cy="41148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540" y="1436980"/>
            <a:ext cx="189281" cy="18928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069080" y="1298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069080" y="1554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transport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520440" y="196596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E7C2"/>
          </a:solidFill>
          <a:ln w="6350">
            <a:solidFill>
              <a:srgbClr val="FDE7C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52044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SESSION 2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806440" y="1783080"/>
            <a:ext cx="457200" cy="0"/>
          </a:xfrm>
          <a:prstGeom prst="line">
            <a:avLst/>
          </a:prstGeom>
          <a:noFill/>
          <a:ln w="15875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5" name="Text 21"/>
          <p:cNvSpPr txBox="1"/>
          <p:nvPr/>
        </p:nvSpPr>
        <p:spPr>
          <a:xfrm>
            <a:off x="5760720" y="1536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6309360" y="118872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46520" y="1325880"/>
            <a:ext cx="411480" cy="41148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620" y="1436980"/>
            <a:ext cx="189281" cy="189281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95160" y="1298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995160" y="1554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446520" y="196596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E7C2"/>
          </a:solidFill>
          <a:ln w="6350">
            <a:solidFill>
              <a:srgbClr val="FDE7C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44652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SESSION 3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457200" y="26060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LF-2026-000001</a:t>
            </a:r>
            <a:pPr indent="0" marL="0">
              <a:buNone/>
            </a:pPr>
            <a:r>
              <a:rPr lang="en-US" sz="11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stays constant; each partner's own shipment reference is mapped to it.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57200" y="3291840"/>
            <a:ext cx="1517904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502920" y="32918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handover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2130552" y="3291840"/>
            <a:ext cx="1517904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2176272" y="32918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confirmation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3803904" y="3291840"/>
            <a:ext cx="1517904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5"/>
          <p:cNvSpPr txBox="1"/>
          <p:nvPr/>
        </p:nvSpPr>
        <p:spPr>
          <a:xfrm>
            <a:off x="3849624" y="32918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5477256" y="3291840"/>
            <a:ext cx="1517904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7"/>
          <p:cNvSpPr txBox="1"/>
          <p:nvPr/>
        </p:nvSpPr>
        <p:spPr>
          <a:xfrm>
            <a:off x="5522976" y="32918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custody session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7150608" y="3291840"/>
            <a:ext cx="1517904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39"/>
          <p:cNvSpPr txBox="1"/>
          <p:nvPr/>
        </p:nvSpPr>
        <p:spPr>
          <a:xfrm>
            <a:off x="7196328" y="32918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next session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recorded: handover location, timestamp, parcel condition and partner shipment reference. A failed handover raises an exception record.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Tracking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captures GPS: latitude, longitude, time, accuracy, speed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1280160"/>
            <a:ext cx="304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590495" y="11887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81935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validates session, employee, timestamp and accuracy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419295" y="1280160"/>
            <a:ext cx="304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723790" y="11887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1523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updates stored; impossible jumps flagged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552590" y="1280160"/>
            <a:ext cx="304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857086" y="11887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8526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publishes to authorized viewers only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210312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" y="2212848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22128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60604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GPS from the employee or vehicle in an active custody session.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125980" y="210312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235708" y="2212848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235708" y="22128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2235708" y="260604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recent branch checkpoint or scan confirmed the position.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794760" y="210312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904488" y="2212848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04488" y="22128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3904488" y="260604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inferred from the route between updates.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63540" y="210312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573268" y="2212848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73268" y="22128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LAST_KNOWN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5573268" y="260604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or disconnected; shown with its timestamp.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132320" y="210312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242048" y="2212848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51607A"/>
          </a:solidFill>
          <a:ln w="6350">
            <a:solidFill>
              <a:srgbClr val="51607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242048" y="22128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7242048" y="260604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authorized session or no location data.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 an old location as live.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runs only inside an authorized custody session — no GPS hardware is placed inside parcels.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ETA: Not a Static Promise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325880"/>
            <a:ext cx="329184" cy="32918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2984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ETA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15544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remaining route distance, travel time, stops left, service time and operational buffer.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2377440"/>
            <a:ext cx="329184" cy="32918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26060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on GPS change, route change, reassignment, a longer stop, handover or new delay information.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329184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429000"/>
            <a:ext cx="329184" cy="32918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4015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ETA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36576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service supplies expected delay; Go validates it and applies business rules before updating the ETA.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1188720"/>
            <a:ext cx="39319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892040" y="1261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arrival, minutes from start</a:t>
            </a:r>
            <a:endParaRPr 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846320" y="1481328"/>
          <a:ext cx="37490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4892040" y="3364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not measured results.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754880" y="37033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 ETA: value · timestamp · method · route reference · model version · confidence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reported only after evaluation against actual delivery outcomes.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DELAY-RISK PREDICTION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Delay-Risk Prediction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B4C2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651760" cy="2834640"/>
          </a:xfrm>
          <a:prstGeom prst="roundRect">
            <a:avLst>
              <a:gd name="adj" fmla="val 206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1645920"/>
            <a:ext cx="237744" cy="23774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645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16276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movement, workload, history and context signals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2121408"/>
            <a:ext cx="237744" cy="23774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121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normalize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2596896"/>
            <a:ext cx="237744" cy="23774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596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5786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baseline: Logistic Regression or Random Forest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3072384"/>
            <a:ext cx="237744" cy="23774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054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 level and delay minutes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3547872"/>
            <a:ext cx="237744" cy="23774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87552" y="35295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model version and feature snapshot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46120" y="1188720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06101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64992" y="12435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RESPONSE (ILLUSTRATIVE)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3364992" y="1463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"shipment_id": "LF-2026-000001",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"HIGH",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"expected_delay_minutes": 35,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"model_version": "delay-model-v1",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"recommendation":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"REVIEW_ASSIGNMENT"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246120" y="3108960"/>
            <a:ext cx="850392" cy="914400"/>
          </a:xfrm>
          <a:prstGeom prst="roundRect">
            <a:avLst>
              <a:gd name="adj" fmla="val 6452"/>
            </a:avLst>
          </a:prstGeom>
          <a:solidFill>
            <a:srgbClr val="0F766E"/>
          </a:solidFill>
          <a:ln w="317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46120" y="317296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3300984" y="3401568"/>
            <a:ext cx="74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normal operation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192524" y="3108960"/>
            <a:ext cx="850392" cy="914400"/>
          </a:xfrm>
          <a:prstGeom prst="roundRect">
            <a:avLst>
              <a:gd name="adj" fmla="val 6452"/>
            </a:avLst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192524" y="317296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247388" y="3401568"/>
            <a:ext cx="74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Monitor; prepare fallback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138928" y="3108960"/>
            <a:ext cx="850392" cy="914400"/>
          </a:xfrm>
          <a:prstGeom prst="roundRect">
            <a:avLst>
              <a:gd name="adj" fmla="val 6452"/>
            </a:avLst>
          </a:prstGeom>
          <a:solidFill>
            <a:srgbClr val="B91C1C"/>
          </a:solidFill>
          <a:ln w="317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38928" y="317296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193792" y="3401568"/>
            <a:ext cx="74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reassign or notify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126480" y="11887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09360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before any claim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1645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training and test data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F1-score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reported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version stored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personal data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30936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accuracy is claimed until evaluated.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decision replacement. Python never bypasses Go authorization.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393192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Risk: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874520" y="1371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74520" y="1371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contributing factors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17627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employee workload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remaining route distance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delivery window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route duration above average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the model version and prediction timestamp. Feature importance is not proof of causation.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1188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THREE SEPARATE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63440" y="1444752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463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explanation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weighted for this prediction.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2221992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84632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association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found in historical data.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2999232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84632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cause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happened, confirmed by people.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379476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0060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response: risk category · factors · model version · timestamp · limitations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PRIORITIZATION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Parcel Prioritization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3774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1280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627632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deadline urgency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level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distance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workload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constraints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commitments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108960" y="1188720"/>
            <a:ext cx="2377440" cy="2377440"/>
          </a:xfrm>
          <a:prstGeom prst="roundRect">
            <a:avLst>
              <a:gd name="adj" fmla="val 2308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46120" y="1280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rule engine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169164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rule set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for every result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or category stored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black-box ranking at first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760720" y="1188720"/>
            <a:ext cx="29260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94360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0" y="16459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0" y="1645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830568" y="16459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30568" y="1645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717536" y="16459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17536" y="1645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43600" y="20574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06101F"/>
          </a:solidFill>
          <a:ln w="3175">
            <a:solidFill>
              <a:srgbClr val="0610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35040" y="212140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 "CRITICAL",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"reason_codes":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"DEADLINE_NEAR",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"HIGH_DELAY_RISK"],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"requires_review":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4904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94360" y="3749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authorized operator reviews and may override. Override history and responsible user are stored.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374904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DE7C2"/>
          </a:solidFill>
          <a:ln w="9525">
            <a:solidFill>
              <a:srgbClr val="FDE7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800600" y="3749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reassignment without route feasibility, business rules and authorization.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MANAGEMENT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Management Copilot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2801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signals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30552" y="11887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21992" y="12801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221992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514600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record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221992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delivery_exceptions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803904" y="11887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895344" y="12801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95344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187952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3895344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type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77256" y="11887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68696" y="12801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568696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5861304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severity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56869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rules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50608" y="11887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242048" y="12801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42048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7534656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242048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21031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48640" y="2194560"/>
            <a:ext cx="237744" cy="23774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841248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operator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130552" y="21031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221992" y="2194560"/>
            <a:ext cx="237744" cy="23774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221992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2514600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decides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2221992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reject, modify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803904" y="21031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895344" y="21945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895344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4187952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decision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3895344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exception_actions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477256" y="21031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5568696" y="21945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568696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5861304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resolution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5568696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kept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7150608" y="2103120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7242048" y="2194560"/>
            <a:ext cx="237744" cy="23774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242048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7534656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7242048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review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457200" y="3108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EXCEPTION TYPES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3364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5720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pickup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847088" y="3364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847088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branch scan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3236976" y="3364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236976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delay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626864" y="3364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626864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unavailable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6016752" y="3364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016752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unavailable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7406640" y="3364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40664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deviation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457200" y="371246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5720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disconnected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1847088" y="371246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847088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at risk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3236976" y="371246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3236976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unavailable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4626864" y="371246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626864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issue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6016752" y="371246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016752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delivery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7406640" y="371246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4C2D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40664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handover failure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Reassignment, cancellation and return-to-origin require explicit authorization and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DELIVERY AND PROOF OF DELIVERY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Delivery, NDR &amp; Proof of Delivery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4932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delivery and NDR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96596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codes: customer unavailable, incorrect address, refusal, restricted access, reschedule request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history for every delivery try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 and address-correction workflow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Return-to-origin workflow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notification and employee instruction updates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only within permitted limits and business rules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1449324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4068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delivery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196596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capture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 where legally and operationally appropriate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timestamp, employee identity and location confirmation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confirmation</a:t>
            </a:r>
            <a:endParaRPr lang="en-US" sz="11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securely; never exposed to other tenants or unauthorized users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INTEGRATION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API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743200"/>
                <a:gridCol w="1965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/api/v1/shipments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shipment (idempotent)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7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/api/v1/shipments/{id}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shipment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7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/api/v1/shipments/{id}/tracking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/api/v1/shipments/{id}/cancel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shipment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7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/api/v1/shipments/{id}/events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/api/v1/webhooks/delivery-status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Delivery-status webhook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0" y="1188720"/>
            <a:ext cx="2743200" cy="2615184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108192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controls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108192" y="164592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tenant scoping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validation, standard errors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on booking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webhooks, retries, history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documentation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create and track shipments without seeing internal logistics data.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SECURITY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B4C2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A cannot access Company B's data.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874520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784" y="1988088"/>
            <a:ext cx="193487" cy="19348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5568" y="1801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2057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tokens on every protected endpoint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46120" y="1691640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74136" y="1874520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704" y="1988088"/>
            <a:ext cx="193487" cy="19348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04488" y="1801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resource checks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904488" y="2057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role and the specific record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35040" y="1691640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63056" y="1874520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624" y="1988088"/>
            <a:ext cx="193487" cy="19348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693408" y="1801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6693408" y="2057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on every resource, with isolation tests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2587752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85216" y="2770632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84" y="2884200"/>
            <a:ext cx="193487" cy="19348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15568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credentials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115568" y="29535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hashed; rotation supported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46120" y="2587752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374136" y="2770632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7704" y="2884200"/>
            <a:ext cx="193487" cy="19348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904488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rate limits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3904488" y="29535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external input validated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035040" y="2587752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163056" y="2770632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624" y="2884200"/>
            <a:ext cx="193487" cy="19348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693408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6693408" y="29535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signature verification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57200" y="3483864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85216" y="3666744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784" y="3780312"/>
            <a:ext cx="193487" cy="19348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115568" y="35935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1115568" y="38496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Actor, action, before/after, request ID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3246120" y="3483864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3374136" y="3666744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7704" y="3780312"/>
            <a:ext cx="193487" cy="193487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3904488" y="35935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 logging</a:t>
            </a:r>
            <a:endParaRPr lang="en-US" sz="1050" dirty="0"/>
          </a:p>
        </p:txBody>
      </p:sp>
      <p:sp>
        <p:nvSpPr>
          <p:cNvPr id="48" name="Text 38"/>
          <p:cNvSpPr txBox="1"/>
          <p:nvPr/>
        </p:nvSpPr>
        <p:spPr>
          <a:xfrm>
            <a:off x="3904488" y="38496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masked in logs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035040" y="3483864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6163056" y="3666744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6624" y="3780312"/>
            <a:ext cx="193487" cy="193487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6693408" y="35935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bypass rules</a:t>
            </a:r>
            <a:endParaRPr lang="en-US" sz="1050" dirty="0"/>
          </a:p>
        </p:txBody>
      </p:sp>
      <p:sp>
        <p:nvSpPr>
          <p:cNvPr id="53" name="Text 42"/>
          <p:cNvSpPr txBox="1"/>
          <p:nvPr/>
        </p:nvSpPr>
        <p:spPr>
          <a:xfrm>
            <a:off x="6693408" y="38496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never overrides Go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21792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Tenancy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16002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tenant_users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tenant_api_credentials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tenant_settings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10712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10712" y="16002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courier_partners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partner_service_areas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partner_shipment_references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199632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99632" y="16002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shipment_items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shipment_identifiers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shipment_events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shipment_status_history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1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custody_sessions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and exceptions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3337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delay_predictions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eta_records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priority_assessments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delivery_exceptions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2395728" y="3337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exception_actions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exception_comments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exception_resolution_history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63440" y="29260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28032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Tracking, audit and integration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828032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tracking_sessions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location_updates (PostGIS)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delivery_proofs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3337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webhook_deliveries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idempotency_keys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for spatial data  ·  tenant-first indexes  ·  foreign keys and constraints  ·  versioned migrations with rollback guidance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and Mobile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92024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8448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412016"/>
            <a:ext cx="193487" cy="19348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4360" y="181051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Portal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317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creation and list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view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credentials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configuration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and reports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60320" y="1188720"/>
            <a:ext cx="192024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1298448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048" y="1412016"/>
            <a:ext cx="193487" cy="19348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97480" y="181051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269748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2697480" y="23317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and partners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and employees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dashboard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and priority review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logs, system health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1188720"/>
            <a:ext cx="192024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00600" y="1298448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168" y="1412016"/>
            <a:ext cx="193487" cy="19348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00600" y="181051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Branch Portal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480060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4800600" y="23317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shipments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scanning workflow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and handover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workload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queue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766560" y="1188720"/>
            <a:ext cx="192024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03720" y="1298448"/>
            <a:ext cx="420624" cy="420624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288" y="1412016"/>
            <a:ext cx="193487" cy="19348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903720" y="181051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App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690372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Dart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6903720" y="23317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deliveries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and pickup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session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view and status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reason and POD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Offline-aware event queue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is connected to a tested backend API — no static mock-ups presented as finished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30352" y="12435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408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18872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719072" y="12435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719072" y="1408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18872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07792" y="12435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1408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23360" y="118872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096512" y="12435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096512" y="1408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DTO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118872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285232" y="12435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285232" y="1408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18872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73952" y="12435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1408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118872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662672" y="12435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7662672" y="1408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192024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30352" y="1975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30352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45920" y="192024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719072" y="1975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719072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34640" y="192024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907792" y="1975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2907792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023360" y="192024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096512" y="1975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4096512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API integration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192024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85232" y="1975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5285232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testing, bug fixing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192024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473952" y="1975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6473952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89520" y="1920240"/>
            <a:ext cx="10972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662672" y="1975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7662672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evidence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2743200"/>
            <a:ext cx="26517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21792" y="28346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slices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21792" y="31272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ships backend, UI and tests together; no all-backend-first approach.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46120" y="2743200"/>
            <a:ext cx="26517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3410712" y="28346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completion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3410712" y="31272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complete only with test results; unresolved critical issues block the next module.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35040" y="2743200"/>
            <a:ext cx="26517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6199632" y="28346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journal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6199632" y="31272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commands, errors, root causes, fixes and commits recorded per module.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41148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STATUS LABELS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3159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720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645920" y="43159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64592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DESIGN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834640" y="43159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83464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023360" y="43159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02336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TESTING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212080" y="43159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21208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400800" y="43159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40080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REVIEW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589520" y="43159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58952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COMPLETE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FEATURE STATUS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and Feature Status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66928" y="12161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627632" y="120700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27632" y="1207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14356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validation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Go, Docker, DB, Redis, CI checks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42032" y="11430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651760" y="12161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712464" y="120700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12464" y="1207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14356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multi-tenancy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65176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tenant isolation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1430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736592" y="12161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97296" y="120700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97296" y="1207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23" name="Text 20"/>
          <p:cNvSpPr txBox="1"/>
          <p:nvPr/>
        </p:nvSpPr>
        <p:spPr>
          <a:xfrm>
            <a:off x="4736592" y="14356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and operations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736592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Partners, branches, employees, vehicles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711696" y="11430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821424" y="12161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882128" y="120700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82128" y="1207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29" name="Text 26"/>
          <p:cNvSpPr txBox="1"/>
          <p:nvPr/>
        </p:nvSpPr>
        <p:spPr>
          <a:xfrm>
            <a:off x="6821424" y="14356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shipment booking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821424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API, idempotency, QR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7200" y="219456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566928" y="22677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627632" y="225856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27632" y="22585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24871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lifecycle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Custody, handover, POD, audit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542032" y="219456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2651760" y="22677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712464" y="225856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712464" y="22585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41" name="Text 38"/>
          <p:cNvSpPr txBox="1"/>
          <p:nvPr/>
        </p:nvSpPr>
        <p:spPr>
          <a:xfrm>
            <a:off x="2651760" y="24871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26517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GPS, WebSocket, stale state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626864" y="219456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4736592" y="22677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797296" y="225856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797296" y="22585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47" name="Text 44"/>
          <p:cNvSpPr txBox="1"/>
          <p:nvPr/>
        </p:nvSpPr>
        <p:spPr>
          <a:xfrm>
            <a:off x="4736592" y="24871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ETA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4736592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dynamic ETA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711696" y="219456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6821424" y="22677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882128" y="225856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882128" y="22585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53" name="Text 50"/>
          <p:cNvSpPr txBox="1"/>
          <p:nvPr/>
        </p:nvSpPr>
        <p:spPr>
          <a:xfrm>
            <a:off x="6821424" y="24871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prioritization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6821424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model, XAI, priority engine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57200" y="324612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566928" y="3319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1627632" y="331012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627632" y="3310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3538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management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NDR, failed delivery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2542032" y="324612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2" name="Text 59"/>
          <p:cNvSpPr txBox="1"/>
          <p:nvPr/>
        </p:nvSpPr>
        <p:spPr>
          <a:xfrm>
            <a:off x="2651760" y="3319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712464" y="331012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712464" y="3310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65" name="Text 62"/>
          <p:cNvSpPr txBox="1"/>
          <p:nvPr/>
        </p:nvSpPr>
        <p:spPr>
          <a:xfrm>
            <a:off x="2651760" y="3538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Multi-partner coordination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2651760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Handover, partner refs, reports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626864" y="324612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8" name="Text 65"/>
          <p:cNvSpPr txBox="1"/>
          <p:nvPr/>
        </p:nvSpPr>
        <p:spPr>
          <a:xfrm>
            <a:off x="4736592" y="3319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797296" y="3310128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27477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797296" y="3310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50" dirty="0"/>
          </a:p>
        </p:txBody>
      </p:sp>
      <p:sp>
        <p:nvSpPr>
          <p:cNvPr id="71" name="Text 68"/>
          <p:cNvSpPr txBox="1"/>
          <p:nvPr/>
        </p:nvSpPr>
        <p:spPr>
          <a:xfrm>
            <a:off x="4736592" y="35387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4736592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load tests, deployment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6711696" y="324612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821424" y="329184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6821424" y="3456432"/>
            <a:ext cx="1737360" cy="1554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6350">
            <a:solidFill>
              <a:srgbClr val="B4C2D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821424" y="345643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600" dirty="0"/>
          </a:p>
        </p:txBody>
      </p:sp>
      <p:sp>
        <p:nvSpPr>
          <p:cNvPr id="77" name="Shape 74"/>
          <p:cNvSpPr/>
          <p:nvPr/>
        </p:nvSpPr>
        <p:spPr>
          <a:xfrm>
            <a:off x="6821424" y="3630168"/>
            <a:ext cx="1737360" cy="15544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6350">
            <a:solidFill>
              <a:srgbClr val="B4C2D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6821424" y="3630168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600" dirty="0"/>
          </a:p>
        </p:txBody>
      </p:sp>
      <p:sp>
        <p:nvSpPr>
          <p:cNvPr id="79" name="Shape 76"/>
          <p:cNvSpPr/>
          <p:nvPr/>
        </p:nvSpPr>
        <p:spPr>
          <a:xfrm>
            <a:off x="6821424" y="3803904"/>
            <a:ext cx="1737360" cy="155448"/>
          </a:xfrm>
          <a:prstGeom prst="roundRect">
            <a:avLst>
              <a:gd name="adj" fmla="val 50000"/>
            </a:avLst>
          </a:prstGeom>
          <a:solidFill>
            <a:srgbClr val="27477F"/>
          </a:solidFill>
          <a:ln w="6350">
            <a:solidFill>
              <a:srgbClr val="B4C2D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6821424" y="380390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600" dirty="0"/>
          </a:p>
        </p:txBody>
      </p:sp>
      <p:sp>
        <p:nvSpPr>
          <p:cNvPr id="81" name="Shape 78"/>
          <p:cNvSpPr/>
          <p:nvPr/>
        </p:nvSpPr>
        <p:spPr>
          <a:xfrm>
            <a:off x="6821424" y="3977640"/>
            <a:ext cx="1737360" cy="1554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6350">
            <a:solidFill>
              <a:srgbClr val="B4C2D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821424" y="3977640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600" dirty="0"/>
          </a:p>
        </p:txBody>
      </p:sp>
      <p:sp>
        <p:nvSpPr>
          <p:cNvPr id="83" name="Text 80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are set conservatively. A feature is upgraded only after the repository audit and test evidence confirm it.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167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" y="1415491"/>
            <a:ext cx="168250" cy="1682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316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105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services and Python model code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0" y="11887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13167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35" y="1415491"/>
            <a:ext cx="168250" cy="168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54680" y="1316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18105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Redis and API flows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11887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13167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55" y="1415491"/>
            <a:ext cx="168250" cy="1682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7800" y="1316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tests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18105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resource and tenant-isolation checks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766560" y="11887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03720" y="13167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475" y="1415491"/>
            <a:ext cx="168250" cy="16825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1316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tests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18105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test ./... -race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25603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26883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" y="2787091"/>
            <a:ext cx="168250" cy="16825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51560" y="26883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tests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594360" y="31821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errors checked against OpenAPI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2560320" y="25603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697480" y="26883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6235" y="2787091"/>
            <a:ext cx="168250" cy="16825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154680" y="26883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2697480" y="31821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confusion matrix, train/test split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4663440" y="25603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00600" y="26883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9355" y="2787091"/>
            <a:ext cx="168250" cy="16825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257800" y="26883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evaluation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4800600" y="31821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ETA compared with actual delivery outcomes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6766560" y="256032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903720" y="26883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475" y="2787091"/>
            <a:ext cx="168250" cy="16825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360920" y="26883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security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6903720" y="318211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limits, rate limits, unauthorized access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commands and screenshots go into the project journal. A feature is called complete only with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CONTRIBUTION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and Contribution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61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foundation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361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routing, ETA prediction and decision support are well established.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261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integration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361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unifies them into one connected parcel lifecycle.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261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workflow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5361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end-to-end, multi-partner platform with a B2B API.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317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CAPABILITIES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5786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parcel 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257860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25786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custody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57860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25786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257860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25786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8152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delay-risk + explanation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308152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engine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08152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Copilot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08152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7477F"/>
          </a:solidFill>
          <a:ln w="3175">
            <a:solidFill>
              <a:srgbClr val="27477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B2B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integration, architecture, decision-support workflow, implementation and measurable evaluation — not novelty in any single feature.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3167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" y="1415491"/>
            <a:ext cx="168250" cy="1682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316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GPS dependence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175564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on GPS availability, accuracy and battery.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74136" y="13167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891" y="1415491"/>
            <a:ext cx="168250" cy="168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840480" y="1316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374136" y="175564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need a network; offline events sync later.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5040" y="118872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131673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811" y="1415491"/>
            <a:ext cx="168250" cy="1682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29400" y="1316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API dependency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163056" y="175564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map APIs bring limits, outages or usage costs.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228600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85216" y="241401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" y="2512771"/>
            <a:ext cx="168250" cy="16825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51560" y="24140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requirement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85216" y="28529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need historical data; accuracy is unproven until evaluated.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246120" y="228600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74136" y="241401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2891" y="2512771"/>
            <a:ext cx="168250" cy="16825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840480" y="24140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3374136" y="28529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courier systems make onboarding more complex.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035040" y="228600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63056" y="241401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811" y="2512771"/>
            <a:ext cx="168250" cy="16825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629400" y="24140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exceptions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6163056" y="28529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Breakdowns, rejections and bad addresses still need humans.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57200" y="338328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85216" y="351129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71" y="3610051"/>
            <a:ext cx="168250" cy="16825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51560" y="35112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security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585216" y="39502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limited to authorized custody; proof data protected.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3246120" y="338328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374136" y="351129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2891" y="3610051"/>
            <a:ext cx="168250" cy="16825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3840480" y="35112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cost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3374136" y="39502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parcels, GPS updates and partners raise infrastructure cost.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035040" y="338328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DE7C2"/>
          </a:solidFill>
          <a:ln w="9525">
            <a:solidFill>
              <a:srgbClr val="FDE7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6163056" y="3511296"/>
            <a:ext cx="365760" cy="365760"/>
          </a:xfrm>
          <a:prstGeom prst="ellipse">
            <a:avLst/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1811" y="3610051"/>
            <a:ext cx="168250" cy="16825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629400" y="35112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050" dirty="0"/>
          </a:p>
        </p:txBody>
      </p:sp>
      <p:sp>
        <p:nvSpPr>
          <p:cNvPr id="50" name="Text 39"/>
          <p:cNvSpPr txBox="1"/>
          <p:nvPr/>
        </p:nvSpPr>
        <p:spPr>
          <a:xfrm>
            <a:off x="6163056" y="39502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foundation work is in development; other features are proposed until tested.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32918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329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33502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448592"/>
            <a:ext cx="193487" cy="19348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11887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delay prediction with larger datasets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33502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448592"/>
            <a:ext cx="193487" cy="19348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94960" y="11887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route optimization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01168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15798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271552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20116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mobile tracking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01168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15798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271552"/>
            <a:ext cx="193487" cy="19348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394960" y="20116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routing provider options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283464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" y="298094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3094512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88720" y="28346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anomaly detection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663440" y="283464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00600" y="298094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3094512"/>
            <a:ext cx="193487" cy="19348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94960" y="28346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external courier API integrations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57200" y="365760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594360" y="380390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28" y="3917472"/>
            <a:ext cx="193487" cy="193487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188720" y="3657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and forecasting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663440" y="365760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800600" y="3803904"/>
            <a:ext cx="420624" cy="420624"/>
          </a:xfrm>
          <a:prstGeom prst="ellipse">
            <a:avLst/>
          </a:prstGeom>
          <a:solidFill>
            <a:srgbClr val="6D28D9"/>
          </a:solidFill>
          <a:ln w="3175">
            <a:solidFill>
              <a:srgbClr val="6D28D9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168" y="3917472"/>
            <a:ext cx="193487" cy="193487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394960" y="3657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ranking to complement rule-based prioritization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logistics network. One parcel journey.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2216688"/>
            <a:ext cx="193487" cy="1934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first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8950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websites integrate through secure, versioned APIs.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196596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97480" y="2103120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048" y="2216688"/>
            <a:ext cx="193487" cy="19348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9748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288950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parcel ID, QR code and timeline across all partners.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196596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2103120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168" y="2216688"/>
            <a:ext cx="193487" cy="1934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0060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288950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ETA, delay risk and priority advise operators; humans decide.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66560" y="196596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03720" y="2103120"/>
            <a:ext cx="420624" cy="420624"/>
          </a:xfrm>
          <a:prstGeom prst="ellipse">
            <a:avLst/>
          </a:prstGeom>
          <a:solidFill>
            <a:srgbClr val="FFB020"/>
          </a:solidFill>
          <a:ln w="3175">
            <a:solidFill>
              <a:srgbClr val="FFB02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288" y="2216688"/>
            <a:ext cx="193487" cy="19348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design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88950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isolation, authorization and audit throughout.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</a:t>
            </a:r>
            <a:pPr indent="0" marL="0">
              <a:buNone/>
            </a:pPr>
            <a:r>
              <a:rPr lang="en-US" sz="11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Phase 0 repository audit and validation, then begin Phase 1 — Identity and Multi-Tenancy.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2062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57200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371600" y="4206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371600" y="4206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2514600" y="42062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2514600" y="4206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566160" y="42062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3566160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Foundation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298448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 w="6350">
            <a:solidFill>
              <a:srgbClr val="0A1A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1298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164592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Prediction Using Large-Scale Graph Structure Learning Based on Quantile Regression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7432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ICDE 2023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1089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10.1109/ICDE55515.2023.00261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3566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Dynamic ETA and AI prediction layer.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60320" y="1188720"/>
            <a:ext cx="192024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70048" y="1298448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 w="6350">
            <a:solidFill>
              <a:srgbClr val="0A1A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70048" y="1298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2670048" y="164592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Global Parcel Tracking System in the Supply Chain Using RFID and GPS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670048" y="27432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IITCEE 2025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2670048" y="31089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10.1109/IITCEE64140.2025.10915357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2670048" y="3566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real-time tracking foundation.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1188720"/>
            <a:ext cx="192024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73168" y="1298448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 w="6350">
            <a:solidFill>
              <a:srgbClr val="0A1A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73168" y="1298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4773168" y="164592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A* Algorithm With Neuralized Variational Heuristics for Fastest Route Recommendation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773168" y="27432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Knowledge and Data Eng., 2023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773168" y="3566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route and travel-time layer.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766560" y="1188720"/>
            <a:ext cx="192024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876288" y="1298448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 w="6350">
            <a:solidFill>
              <a:srgbClr val="0A1A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76288" y="1298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6876288" y="164592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Blockchain-based Decision Support System for E-commerce Order Prediction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876288" y="27432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ICAIIC 2023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876288" y="31089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10.1109/ICAIIC57133.2023.10067036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6876288" y="3566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data-driven decision layer.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Project Cost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software and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– ₹1,000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stack: Go, Python, React, Flutter, Git, PostgreSQL, Docker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database and hosting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– ₹2,000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tiers for development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and routing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– ₹2,000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OpenStreetMap, OpenRouteService; depends on usage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machine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– ₹1,000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Scikit-learn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and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– ₹1,000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or student tiers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 – ₹1,500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Domain, test devices, demo setup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hardware / demo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₹1,000 – ₹3,000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test device, QR printing, demo materials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1188720"/>
            <a:ext cx="2377440" cy="3054096"/>
          </a:xfrm>
          <a:prstGeom prst="roundRect">
            <a:avLst>
              <a:gd name="adj" fmla="val 2308"/>
            </a:avLst>
          </a:prstGeom>
          <a:solidFill>
            <a:srgbClr val="0A1A33"/>
          </a:solidFill>
          <a:ln w="3175">
            <a:solidFill>
              <a:srgbClr val="0A1A3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TOTAL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572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₹1,500 – ₹11,500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2240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IT AFFORDABLE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5146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technologies</a:t>
            </a:r>
            <a:endParaRPr lang="en-US" sz="10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student cloud tiers</a:t>
            </a:r>
            <a:endParaRPr lang="en-US" sz="10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 GPS</a:t>
            </a:r>
            <a:endParaRPr lang="en-US" sz="10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ML with Scikit-learn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4348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approximate.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LogiFlows - Final Presentation</dc:title>
  <dc:subject>PptxGenJS Presentation</dc:subject>
  <dc:creator>LogiFlows</dc:creator>
  <cp:lastModifiedBy>LogiFlows</cp:lastModifiedBy>
  <cp:revision>1</cp:revision>
  <dcterms:created xsi:type="dcterms:W3CDTF">2026-09-20T16:39:18Z</dcterms:created>
  <dcterms:modified xsi:type="dcterms:W3CDTF">2026-09-20T16:39:18Z</dcterms:modified>
</cp:coreProperties>
</file>