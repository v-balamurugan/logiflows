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51607A"/>
                </a:solidFill>
                <a:latin typeface="Calibri"/>
              </a:defRPr>
            </a:pPr>
            <a:r>
              <a:rPr sz="1100" b="0" i="0" u="none" strike="noStrike">
                <a:solidFill>
                  <a:srgbClr val="51607A"/>
                </a:solidFill>
                <a:latin typeface="Calibri"/>
              </a:rPr>
              <a:t>Estimated arrival, min from start (illustrative)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Estimated arrival (min from start)</c:v>
                </c:pt>
              </c:strCache>
            </c:strRef>
          </c:tx>
          <c:spPr>
            <a:solidFill>
              <a:srgbClr val="27477F"/>
            </a:solidFill>
            <a:ln w="38100" cap="flat">
              <a:solidFill>
                <a:srgbClr val="27477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0A1A33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27477F"/>
              </a:solidFill>
              <a:ln w="9525" cap="flat">
                <a:solidFill>
                  <a:srgbClr val="27477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2:00 PM</c:v>
                  </c:pt>
                  <c:pt idx="1">
                    <c:v>2:40 PM</c:v>
                  </c:pt>
                  <c:pt idx="2">
                    <c:v>3:00 PM</c:v>
                  </c:pt>
                  <c:pt idx="3">
                    <c:v>3:20 PM</c:v>
                  </c:pt>
                  <c:pt idx="4">
                    <c:v>3:25 PM</c:v>
                  </c:pt>
                  <c:pt idx="5">
                    <c:v>4:10 PM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172</c:v>
                </c:pt>
                <c:pt idx="1">
                  <c:v>178</c:v>
                </c:pt>
                <c:pt idx="2">
                  <c:v>188</c:v>
                </c:pt>
                <c:pt idx="3">
                  <c:v>220</c:v>
                </c:pt>
                <c:pt idx="4">
                  <c:v>210</c:v>
                </c:pt>
                <c:pt idx="5">
                  <c:v>200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1" i="0" strike="noStrike" sz="1000" u="none">
                  <a:solidFill>
                    <a:srgbClr val="0A1A33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160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30"/>
          <c:min val="160"/>
        </c:scaling>
        <c:delete val="0"/>
        <c:axPos val="l"/>
        <c:majorGridlines>
          <c:spPr>
            <a:ln w="9525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160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4C2D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4C2D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10-1.png"/><Relationship Id="rId3" Type="http://schemas.openxmlformats.org/officeDocument/2006/relationships/image" Target="../media/image-10-2.png"/><Relationship Id="rId4" Type="http://schemas.openxmlformats.org/officeDocument/2006/relationships/image" Target="../media/image-10-3.png"/><Relationship Id="rId5" Type="http://schemas.openxmlformats.org/officeDocument/2006/relationships/image" Target="../media/image-10-4.png"/><Relationship Id="rId6" Type="http://schemas.openxmlformats.org/officeDocument/2006/relationships/image" Target="../media/image-10-5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image" Target="../media/image-15-8.png"/><Relationship Id="rId9" Type="http://schemas.openxmlformats.org/officeDocument/2006/relationships/image" Target="../media/image-15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image" Target="../media/image-17-7.png"/><Relationship Id="rId8" Type="http://schemas.openxmlformats.org/officeDocument/2006/relationships/image" Target="../media/image-17-8.png"/><Relationship Id="rId9" Type="http://schemas.openxmlformats.org/officeDocument/2006/relationships/image" Target="../media/image-17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itl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0" y="0"/>
            <a:ext cx="329184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858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ORCHESTRATION PLATFORM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00584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LogiFlows</a:t>
            </a:r>
            <a:endParaRPr lang="en-US" sz="5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96596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DC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End-to-End Logistics Coordination and Delivery Management System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7432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FFB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connected journey. Many logistics partners.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15468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4C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unified web + Android platform for parcel booking, partner coordination, intelligent assignment, route optimization, real-time tracking, dynamic ETA, AI delay-risk prediction, and automated communication.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4297680"/>
            <a:ext cx="1097280" cy="329184"/>
          </a:xfrm>
          <a:prstGeom prst="roundRect">
            <a:avLst>
              <a:gd name="adj" fmla="val 50000"/>
            </a:avLst>
          </a:prstGeom>
          <a:solidFill>
            <a:srgbClr val="132A4F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429768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1755648" y="4297680"/>
            <a:ext cx="1097280" cy="329184"/>
          </a:xfrm>
          <a:prstGeom prst="roundRect">
            <a:avLst>
              <a:gd name="adj" fmla="val 50000"/>
            </a:avLst>
          </a:prstGeom>
          <a:solidFill>
            <a:srgbClr val="132A4F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755648" y="429768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962656" y="4297680"/>
            <a:ext cx="1097280" cy="329184"/>
          </a:xfrm>
          <a:prstGeom prst="roundRect">
            <a:avLst>
              <a:gd name="adj" fmla="val 50000"/>
            </a:avLst>
          </a:prstGeom>
          <a:solidFill>
            <a:srgbClr val="132A4F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962656" y="429768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169664" y="4297680"/>
            <a:ext cx="1097280" cy="329184"/>
          </a:xfrm>
          <a:prstGeom prst="roundRect">
            <a:avLst>
              <a:gd name="adj" fmla="val 50000"/>
            </a:avLst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169664" y="429768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1089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STORY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Fragmented Operations to Intelligent Orchestration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4023360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A1A33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865376"/>
            <a:ext cx="475488" cy="475488"/>
          </a:xfrm>
          <a:prstGeom prst="ellipse">
            <a:avLst/>
          </a:prstGeom>
          <a:solidFill>
            <a:srgbClr val="0A1A3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1984248"/>
            <a:ext cx="237744" cy="2377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80160" y="1728216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1280160" y="1947672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logistics operations and limited parcel visibility across partners.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663440" y="1600200"/>
            <a:ext cx="4023360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A1A33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46320" y="1865376"/>
            <a:ext cx="475488" cy="475488"/>
          </a:xfrm>
          <a:prstGeom prst="ellipse">
            <a:avLst/>
          </a:prstGeom>
          <a:solidFill>
            <a:srgbClr val="0A1A3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5192" y="1984248"/>
            <a:ext cx="237744" cy="23774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486400" y="1728216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</a:t>
            </a:r>
            <a:endParaRPr lang="en-US" sz="1050" dirty="0"/>
          </a:p>
        </p:txBody>
      </p:sp>
      <p:sp>
        <p:nvSpPr>
          <p:cNvPr id="13" name="Text 9"/>
          <p:cNvSpPr txBox="1"/>
          <p:nvPr/>
        </p:nvSpPr>
        <p:spPr>
          <a:xfrm>
            <a:off x="5486400" y="1947672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orchestration layer connecting the complete parcel lifecycle end-to-end.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57200" y="2697480"/>
            <a:ext cx="4023360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A1A33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0080" y="2962656"/>
            <a:ext cx="475488" cy="475488"/>
          </a:xfrm>
          <a:prstGeom prst="ellipse">
            <a:avLst/>
          </a:prstGeom>
          <a:solidFill>
            <a:srgbClr val="0A1A3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3081528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280160" y="2825496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INTELLIGENCE</a:t>
            </a:r>
            <a:endParaRPr lang="en-US" sz="1050" dirty="0"/>
          </a:p>
        </p:txBody>
      </p:sp>
      <p:sp>
        <p:nvSpPr>
          <p:cNvPr id="18" name="Text 13"/>
          <p:cNvSpPr txBox="1"/>
          <p:nvPr/>
        </p:nvSpPr>
        <p:spPr>
          <a:xfrm>
            <a:off x="1280160" y="3044952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→ ETA → AI delay prediction → proactive operational action.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4663440" y="2697480"/>
            <a:ext cx="4023360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A1A33">
                <a:alpha val="14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846320" y="2962656"/>
            <a:ext cx="475488" cy="475488"/>
          </a:xfrm>
          <a:prstGeom prst="ellipse">
            <a:avLst/>
          </a:prstGeom>
          <a:solidFill>
            <a:srgbClr val="0A1A33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5192" y="3081528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486400" y="2825496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OUTCOME</a:t>
            </a:r>
            <a:endParaRPr lang="en-US" sz="1050" dirty="0"/>
          </a:p>
        </p:txBody>
      </p:sp>
      <p:sp>
        <p:nvSpPr>
          <p:cNvPr id="23" name="Text 17"/>
          <p:cNvSpPr txBox="1"/>
          <p:nvPr/>
        </p:nvSpPr>
        <p:spPr>
          <a:xfrm>
            <a:off x="5486400" y="3044952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connected customer journey with better operational coordination and measurable results.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457200" y="38404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LOGIFLOWS OPERATING LOOP</a:t>
            </a:r>
            <a:endParaRPr lang="en-US" sz="1050" dirty="0"/>
          </a:p>
        </p:txBody>
      </p:sp>
      <p:sp>
        <p:nvSpPr>
          <p:cNvPr id="25" name="Text 19"/>
          <p:cNvSpPr/>
          <p:nvPr/>
        </p:nvSpPr>
        <p:spPr>
          <a:xfrm>
            <a:off x="457200" y="4114800"/>
            <a:ext cx="1783080" cy="566928"/>
          </a:xfrm>
          <a:prstGeom prst="chevron">
            <a:avLst/>
          </a:prstGeom>
          <a:solidFill>
            <a:srgbClr val="0A1A3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2057400" y="4114800"/>
            <a:ext cx="1783080" cy="566928"/>
          </a:xfrm>
          <a:prstGeom prst="chevron">
            <a:avLst/>
          </a:prstGeom>
          <a:solidFill>
            <a:srgbClr val="0A1A3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3657600" y="4114800"/>
            <a:ext cx="1783080" cy="566928"/>
          </a:xfrm>
          <a:prstGeom prst="chevron">
            <a:avLst/>
          </a:prstGeom>
          <a:solidFill>
            <a:srgbClr val="0A1A3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5257800" y="4114800"/>
            <a:ext cx="1783080" cy="566928"/>
          </a:xfrm>
          <a:prstGeom prst="chevron">
            <a:avLst/>
          </a:prstGeom>
          <a:solidFill>
            <a:srgbClr val="0A1A3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6858000" y="4114800"/>
            <a:ext cx="1783080" cy="566928"/>
          </a:xfrm>
          <a:prstGeom prst="chevron">
            <a:avLst/>
          </a:prstGeom>
          <a:solidFill>
            <a:srgbClr val="FFB02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</a:t>
            </a:r>
            <a:endParaRPr lang="en-US" sz="1300" dirty="0"/>
          </a:p>
        </p:txBody>
      </p:sp>
      <p:sp>
        <p:nvSpPr>
          <p:cNvPr id="30" name="Text 24"/>
          <p:cNvSpPr txBox="1"/>
          <p:nvPr/>
        </p:nvSpPr>
        <p:spPr>
          <a:xfrm>
            <a:off x="457200" y="48463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LogiFlows  |  Intelligent Logistics Coordination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160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oblem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0"/>
            <a:ext cx="310896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035040" y="3749040"/>
            <a:ext cx="3108960" cy="1394460"/>
          </a:xfrm>
          <a:prstGeom prst="rect">
            <a:avLst/>
          </a:prstGeom>
          <a:solidFill>
            <a:srgbClr val="0A1A33">
              <a:alpha val="92000"/>
            </a:srgbClr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6263640" y="388620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“The parcel has a journey — but the systems do not always hold that journey together.”</a:t>
            </a:r>
            <a:endParaRPr lang="en-US" sz="135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31089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5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 Problem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457200" y="1280160"/>
            <a:ext cx="5303520" cy="1060704"/>
          </a:xfrm>
          <a:prstGeom prst="roundRect">
            <a:avLst>
              <a:gd name="adj" fmla="val 7759"/>
            </a:avLst>
          </a:prstGeom>
          <a:solidFill>
            <a:srgbClr val="132A4F"/>
          </a:solidFill>
          <a:ln w="9525">
            <a:solidFill>
              <a:srgbClr val="27477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1426464"/>
            <a:ext cx="438912" cy="438912"/>
          </a:xfrm>
          <a:prstGeom prst="ellipse">
            <a:avLst/>
          </a:prstGeom>
          <a:solidFill>
            <a:srgbClr val="FFB02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536192"/>
            <a:ext cx="219456" cy="21945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40080" y="19202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2011680" y="1389888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6ED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coordination of branches, employees and vehicles</a:t>
            </a:r>
            <a:endParaRPr lang="en-US" sz="11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6ED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workflows with no shared coordination layer</a:t>
            </a:r>
            <a:endParaRPr lang="en-US" sz="11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6ED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and capacity decisions made without live data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57200" y="2450592"/>
            <a:ext cx="5303520" cy="1060704"/>
          </a:xfrm>
          <a:prstGeom prst="roundRect">
            <a:avLst>
              <a:gd name="adj" fmla="val 7759"/>
            </a:avLst>
          </a:prstGeom>
          <a:solidFill>
            <a:srgbClr val="132A4F"/>
          </a:solidFill>
          <a:ln w="9525">
            <a:solidFill>
              <a:srgbClr val="27477F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40080" y="2596896"/>
            <a:ext cx="438912" cy="438912"/>
          </a:xfrm>
          <a:prstGeom prst="ellipse">
            <a:avLst/>
          </a:prstGeom>
          <a:solidFill>
            <a:srgbClr val="FFB020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2706624"/>
            <a:ext cx="219456" cy="21945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40080" y="309067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Experience</a:t>
            </a:r>
            <a:endParaRPr lang="en-US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2011680" y="256032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6ED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Unclear parcel status; disconnected, delayed notifications</a:t>
            </a:r>
            <a:endParaRPr lang="en-US" sz="11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6ED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journey view across partners</a:t>
            </a:r>
            <a:endParaRPr lang="en-US" sz="11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6ED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proactive communication on delays or exceptions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457200" y="3621024"/>
            <a:ext cx="5303520" cy="1060704"/>
          </a:xfrm>
          <a:prstGeom prst="roundRect">
            <a:avLst>
              <a:gd name="adj" fmla="val 7759"/>
            </a:avLst>
          </a:prstGeom>
          <a:solidFill>
            <a:srgbClr val="132A4F"/>
          </a:solidFill>
          <a:ln w="9525">
            <a:solidFill>
              <a:srgbClr val="27477F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640080" y="3767328"/>
            <a:ext cx="438912" cy="438912"/>
          </a:xfrm>
          <a:prstGeom prst="ellipse">
            <a:avLst/>
          </a:prstGeom>
          <a:solidFill>
            <a:srgbClr val="FFB020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3877056"/>
            <a:ext cx="219456" cy="219456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640080" y="4261104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200" dirty="0"/>
          </a:p>
        </p:txBody>
      </p:sp>
      <p:sp>
        <p:nvSpPr>
          <p:cNvPr id="21" name="Text 15"/>
          <p:cNvSpPr txBox="1"/>
          <p:nvPr/>
        </p:nvSpPr>
        <p:spPr>
          <a:xfrm>
            <a:off x="2011680" y="3730752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6ED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shared parcel identity across courier partners</a:t>
            </a:r>
            <a:endParaRPr lang="en-US" sz="11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6ED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handoffs with manual exception handling</a:t>
            </a:r>
            <a:endParaRPr lang="en-US" sz="11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6ED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optimization from uncoordinated data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0" y="4846320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4C2D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1089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COMPARISON  |  1 OF 2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System vs Proposed Solution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05740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108960"/>
                <a:gridCol w="237744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Existing System / Problem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556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LogiFlows Does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 Solved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Parcel information is spread across different stages.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A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Uses one Tracking ID for the complete journey.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connected parcel journey.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Employee assignment can be manual.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A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Assigns employees using availability, location and workload.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 manual coordination.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may not know the current parcel location.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A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Uses QR scanning + employee/vehicle GPS for active tracking.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Better real-time visibility.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ETA may not change when delivery conditions change.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A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Continuously updates the Dynamic ETA.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More useful delivery estimates.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Delays are often handled after they happen.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A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Uses AI/ML to predict delay risk.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Earlier warning about possible delays.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1280160"/>
            <a:ext cx="3657600" cy="621792"/>
          </a:xfrm>
          <a:prstGeom prst="roundRect">
            <a:avLst>
              <a:gd name="adj" fmla="val 13235"/>
            </a:avLst>
          </a:prstGeom>
          <a:solidFill>
            <a:srgbClr val="E2E8F0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40080" y="1335024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5361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· Fragmented · Static · Reactive</a:t>
            </a:r>
            <a:endParaRPr lang="en-US" sz="13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15968" y="1463040"/>
            <a:ext cx="256032" cy="256032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572000" y="1280160"/>
            <a:ext cx="4114800" cy="621792"/>
          </a:xfrm>
          <a:prstGeom prst="roundRect">
            <a:avLst>
              <a:gd name="adj" fmla="val 13235"/>
            </a:avLst>
          </a:prstGeom>
          <a:solidFill>
            <a:srgbClr val="0A1A33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4754880" y="1335024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LOGIFLOWS</a:t>
            </a:r>
            <a:endParaRPr lang="en-US" sz="1000" dirty="0"/>
          </a:p>
        </p:txBody>
      </p:sp>
      <p:sp>
        <p:nvSpPr>
          <p:cNvPr id="11" name="Text 7"/>
          <p:cNvSpPr txBox="1"/>
          <p:nvPr/>
        </p:nvSpPr>
        <p:spPr>
          <a:xfrm>
            <a:off x="4754880" y="15361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· Real-Time · Predictive · Proactive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457200" y="48463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LogiFlows  |  Intelligent Logistics Coordination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160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1089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COMPARISON  |  2 OF 2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System vs Proposed Solution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108960"/>
                <a:gridCol w="237744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Existing System / Problem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556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LogiFlows Does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 Solved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Planning routes for multiple deliveries is difficult.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A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Uses route optimization based on route, destination and requirements.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Better route planning.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 numbers of parcels are difficult to coordinate.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A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Groups and prioritizes parcels based on destination and capacity.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Better handling of high parcel volumes.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Employee rejection or vehicle problems cause delays.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A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Supports reassignment and updated planning.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Faster response to operational problems.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Customer, employee and branch updates are disconnected.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A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Sends relevant status updates and notifications.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Better communication.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Different courier partners may operate separately.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A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Connects multiple partners through one platform.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Connected multi-partner operation.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224528"/>
            <a:ext cx="8229600" cy="512064"/>
          </a:xfrm>
          <a:prstGeom prst="roundRect">
            <a:avLst>
              <a:gd name="adj" fmla="val 16071"/>
            </a:avLst>
          </a:prstGeom>
          <a:solidFill>
            <a:srgbClr val="0A1A33"/>
          </a:solidFill>
          <a:ln/>
        </p:spPr>
      </p:sp>
      <p:sp>
        <p:nvSpPr>
          <p:cNvPr id="6" name="Shape 3"/>
          <p:cNvSpPr/>
          <p:nvPr/>
        </p:nvSpPr>
        <p:spPr>
          <a:xfrm>
            <a:off x="640080" y="4288536"/>
            <a:ext cx="384048" cy="384048"/>
          </a:xfrm>
          <a:prstGeom prst="ellipse">
            <a:avLst/>
          </a:prstGeom>
          <a:solidFill>
            <a:srgbClr val="FFB02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" y="4384548"/>
            <a:ext cx="192024" cy="19202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234440" y="4224528"/>
            <a:ext cx="7315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LogiFlows connects the important stages of parcel delivery into one intelligent workflow.</a:t>
            </a:r>
            <a:endParaRPr lang="en-US" sz="1350" dirty="0"/>
          </a:p>
        </p:txBody>
      </p:sp>
      <p:sp>
        <p:nvSpPr>
          <p:cNvPr id="9" name="Text 5"/>
          <p:cNvSpPr txBox="1"/>
          <p:nvPr/>
        </p:nvSpPr>
        <p:spPr>
          <a:xfrm>
            <a:off x="457200" y="48463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LogiFlows  |  Intelligent Logistics Coordination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160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1089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Parcel. One Identity. One Timeline.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4300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LogiFlows is a </a:t>
            </a:r>
            <a:pPr indent="0" marL="0">
              <a:buNone/>
            </a:pPr>
            <a:r>
              <a:rPr lang="en-US" sz="120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logistics orchestration layer</a:t>
            </a:r>
            <a:pPr indent="0" marL="0">
              <a:buNone/>
            </a:pPr>
            <a:r>
              <a:rPr lang="en-US" sz="12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connecting independent courier partners through a unified parcel identity. Partners retain control of their branches, employees, and vehicles — while LogiFlows coordinates the journey and handoffs.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606040" y="2084832"/>
            <a:ext cx="0" cy="1143000"/>
          </a:xfrm>
          <a:prstGeom prst="line">
            <a:avLst/>
          </a:prstGeom>
          <a:noFill/>
          <a:ln w="19050">
            <a:solidFill>
              <a:srgbClr val="27477F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1097280" y="3227832"/>
            <a:ext cx="1508760" cy="0"/>
          </a:xfrm>
          <a:prstGeom prst="line">
            <a:avLst/>
          </a:prstGeom>
          <a:noFill/>
          <a:ln w="19050">
            <a:solidFill>
              <a:srgbClr val="27477F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2606040" y="3227832"/>
            <a:ext cx="1508760" cy="0"/>
          </a:xfrm>
          <a:prstGeom prst="line">
            <a:avLst/>
          </a:prstGeom>
          <a:noFill/>
          <a:ln w="19050">
            <a:solidFill>
              <a:srgbClr val="27477F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 flipH="1">
            <a:off x="1508760" y="3227832"/>
            <a:ext cx="1097280" cy="1097280"/>
          </a:xfrm>
          <a:prstGeom prst="line">
            <a:avLst/>
          </a:prstGeom>
          <a:noFill/>
          <a:ln w="19050">
            <a:solidFill>
              <a:srgbClr val="27477F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2606040" y="3227832"/>
            <a:ext cx="1097280" cy="1097280"/>
          </a:xfrm>
          <a:prstGeom prst="line">
            <a:avLst/>
          </a:prstGeom>
          <a:noFill/>
          <a:ln w="19050">
            <a:solidFill>
              <a:srgbClr val="27477F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1892808" y="2514600"/>
            <a:ext cx="1426464" cy="1426464"/>
          </a:xfrm>
          <a:prstGeom prst="ellipse">
            <a:avLst/>
          </a:prstGeom>
          <a:solidFill>
            <a:srgbClr val="0A1A33"/>
          </a:solidFill>
          <a:ln w="31750">
            <a:solidFill>
              <a:srgbClr val="FFB02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984248" y="2679192"/>
            <a:ext cx="12435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LogiFlows</a:t>
            </a:r>
            <a:endParaRPr lang="en-US" sz="120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Parcel ID</a:t>
            </a:r>
            <a:endParaRPr lang="en-US" sz="12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B4C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permanent tracking identity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947672" y="1792224"/>
            <a:ext cx="1316736" cy="585216"/>
          </a:xfrm>
          <a:prstGeom prst="roundRect">
            <a:avLst>
              <a:gd name="adj" fmla="val 14063"/>
            </a:avLst>
          </a:prstGeom>
          <a:solidFill>
            <a:srgbClr val="FFFFFF"/>
          </a:solidFill>
          <a:ln w="15875">
            <a:solidFill>
              <a:srgbClr val="27477F"/>
            </a:solidFill>
            <a:prstDash val="solid"/>
          </a:ln>
          <a:effectLst>
            <a:outerShdw sx="100000" sy="100000" kx="0" ky="0" algn="bl" rotWithShape="0" blurRad="101600" dist="25400" dir="5400000">
              <a:srgbClr val="0A1A33">
                <a:alpha val="14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1947672" y="1792224"/>
            <a:ext cx="131673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 and tracks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38912" y="2935224"/>
            <a:ext cx="1316736" cy="585216"/>
          </a:xfrm>
          <a:prstGeom prst="roundRect">
            <a:avLst>
              <a:gd name="adj" fmla="val 14063"/>
            </a:avLst>
          </a:prstGeom>
          <a:solidFill>
            <a:srgbClr val="FFFFFF"/>
          </a:solidFill>
          <a:ln w="15875">
            <a:solidFill>
              <a:srgbClr val="27477F"/>
            </a:solidFill>
            <a:prstDash val="solid"/>
          </a:ln>
          <a:effectLst>
            <a:outerShdw sx="100000" sy="100000" kx="0" ky="0" algn="bl" rotWithShape="0" blurRad="101600" dist="25400" dir="5400000">
              <a:srgbClr val="0A1A33">
                <a:alpha val="14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438912" y="2935224"/>
            <a:ext cx="131673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A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pickup leg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456432" y="2935224"/>
            <a:ext cx="1316736" cy="585216"/>
          </a:xfrm>
          <a:prstGeom prst="roundRect">
            <a:avLst>
              <a:gd name="adj" fmla="val 14063"/>
            </a:avLst>
          </a:prstGeom>
          <a:solidFill>
            <a:srgbClr val="FFFFFF"/>
          </a:solidFill>
          <a:ln w="15875">
            <a:solidFill>
              <a:srgbClr val="27477F"/>
            </a:solidFill>
            <a:prstDash val="solid"/>
          </a:ln>
          <a:effectLst>
            <a:outerShdw sx="100000" sy="100000" kx="0" ky="0" algn="bl" rotWithShape="0" blurRad="101600" dist="25400" dir="5400000">
              <a:srgbClr val="0A1A33">
                <a:alpha val="14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3456432" y="2935224"/>
            <a:ext cx="131673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B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leg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50392" y="4032504"/>
            <a:ext cx="1316736" cy="585216"/>
          </a:xfrm>
          <a:prstGeom prst="roundRect">
            <a:avLst>
              <a:gd name="adj" fmla="val 14063"/>
            </a:avLst>
          </a:prstGeom>
          <a:solidFill>
            <a:srgbClr val="FFFFFF"/>
          </a:solidFill>
          <a:ln w="15875">
            <a:solidFill>
              <a:srgbClr val="27477F"/>
            </a:solidFill>
            <a:prstDash val="solid"/>
          </a:ln>
          <a:effectLst>
            <a:outerShdw sx="100000" sy="100000" kx="0" ky="0" algn="bl" rotWithShape="0" blurRad="101600" dist="25400" dir="5400000">
              <a:srgbClr val="0A1A33">
                <a:alpha val="14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850392" y="4032504"/>
            <a:ext cx="131673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C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last-mile leg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044952" y="4032504"/>
            <a:ext cx="1316736" cy="585216"/>
          </a:xfrm>
          <a:prstGeom prst="roundRect">
            <a:avLst>
              <a:gd name="adj" fmla="val 14063"/>
            </a:avLst>
          </a:prstGeom>
          <a:solidFill>
            <a:srgbClr val="FFFFFF"/>
          </a:solidFill>
          <a:ln w="15875">
            <a:solidFill>
              <a:srgbClr val="27477F"/>
            </a:solidFill>
            <a:prstDash val="solid"/>
          </a:ln>
          <a:effectLst>
            <a:outerShdw sx="100000" sy="100000" kx="0" ky="0" algn="bl" rotWithShape="0" blurRad="101600" dist="25400" dir="5400000">
              <a:srgbClr val="0A1A33">
                <a:alpha val="14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3044952" y="4032504"/>
            <a:ext cx="131673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Receiver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delivery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120640" y="1783080"/>
            <a:ext cx="3566160" cy="2926080"/>
          </a:xfrm>
          <a:prstGeom prst="roundRect">
            <a:avLst>
              <a:gd name="adj" fmla="val 2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A1A33">
                <a:alpha val="14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5349240" y="19202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Makes It Different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349240" y="2350008"/>
            <a:ext cx="237744" cy="237744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8676" y="2409444"/>
            <a:ext cx="118872" cy="118872"/>
          </a:xfrm>
          <a:prstGeom prst="rect">
            <a:avLst/>
          </a:prstGeom>
        </p:spPr>
      </p:pic>
      <p:sp>
        <p:nvSpPr>
          <p:cNvPr id="26" name="Text 23"/>
          <p:cNvSpPr txBox="1"/>
          <p:nvPr/>
        </p:nvSpPr>
        <p:spPr>
          <a:xfrm>
            <a:off x="5715000" y="230428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permanent Tracking ID and QR code for the entire journey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5349240" y="2752344"/>
            <a:ext cx="237744" cy="237744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8676" y="2811780"/>
            <a:ext cx="118872" cy="118872"/>
          </a:xfrm>
          <a:prstGeom prst="rect">
            <a:avLst/>
          </a:prstGeom>
        </p:spPr>
      </p:pic>
      <p:sp>
        <p:nvSpPr>
          <p:cNvPr id="29" name="Text 25"/>
          <p:cNvSpPr txBox="1"/>
          <p:nvPr/>
        </p:nvSpPr>
        <p:spPr>
          <a:xfrm>
            <a:off x="5715000" y="2706624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Multi-partner coordination without sacrificing operational control</a:t>
            </a:r>
            <a:endParaRPr lang="en-US" sz="1100" dirty="0"/>
          </a:p>
        </p:txBody>
      </p:sp>
      <p:sp>
        <p:nvSpPr>
          <p:cNvPr id="30" name="Shape 26"/>
          <p:cNvSpPr/>
          <p:nvPr/>
        </p:nvSpPr>
        <p:spPr>
          <a:xfrm>
            <a:off x="5349240" y="3154680"/>
            <a:ext cx="237744" cy="237744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8676" y="3214116"/>
            <a:ext cx="118872" cy="118872"/>
          </a:xfrm>
          <a:prstGeom prst="rect">
            <a:avLst/>
          </a:prstGeom>
        </p:spPr>
      </p:pic>
      <p:sp>
        <p:nvSpPr>
          <p:cNvPr id="32" name="Text 27"/>
          <p:cNvSpPr txBox="1"/>
          <p:nvPr/>
        </p:nvSpPr>
        <p:spPr>
          <a:xfrm>
            <a:off x="5715000" y="31089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employee assignment and parcel prioritization</a:t>
            </a:r>
            <a:endParaRPr lang="en-US" sz="1100" dirty="0"/>
          </a:p>
        </p:txBody>
      </p:sp>
      <p:sp>
        <p:nvSpPr>
          <p:cNvPr id="33" name="Shape 28"/>
          <p:cNvSpPr/>
          <p:nvPr/>
        </p:nvSpPr>
        <p:spPr>
          <a:xfrm>
            <a:off x="5349240" y="3557016"/>
            <a:ext cx="237744" cy="237744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8676" y="3616452"/>
            <a:ext cx="118872" cy="118872"/>
          </a:xfrm>
          <a:prstGeom prst="rect">
            <a:avLst/>
          </a:prstGeom>
        </p:spPr>
      </p:pic>
      <p:sp>
        <p:nvSpPr>
          <p:cNvPr id="35" name="Text 29"/>
          <p:cNvSpPr txBox="1"/>
          <p:nvPr/>
        </p:nvSpPr>
        <p:spPr>
          <a:xfrm>
            <a:off x="5715000" y="351129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optimization, dynamic ETA, and AI delay prediction</a:t>
            </a:r>
            <a:endParaRPr lang="en-US" sz="1100" dirty="0"/>
          </a:p>
        </p:txBody>
      </p:sp>
      <p:sp>
        <p:nvSpPr>
          <p:cNvPr id="36" name="Shape 30"/>
          <p:cNvSpPr/>
          <p:nvPr/>
        </p:nvSpPr>
        <p:spPr>
          <a:xfrm>
            <a:off x="5349240" y="3959352"/>
            <a:ext cx="237744" cy="237744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08676" y="4018788"/>
            <a:ext cx="118872" cy="118872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5715000" y="391363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operational action and automated notifications</a:t>
            </a:r>
            <a:endParaRPr lang="en-US" sz="1100" dirty="0"/>
          </a:p>
        </p:txBody>
      </p:sp>
      <p:sp>
        <p:nvSpPr>
          <p:cNvPr id="39" name="Shape 32"/>
          <p:cNvSpPr/>
          <p:nvPr/>
        </p:nvSpPr>
        <p:spPr>
          <a:xfrm>
            <a:off x="5349240" y="4361688"/>
            <a:ext cx="237744" cy="237744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4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08676" y="4421124"/>
            <a:ext cx="118872" cy="118872"/>
          </a:xfrm>
          <a:prstGeom prst="rect">
            <a:avLst/>
          </a:prstGeom>
        </p:spPr>
      </p:pic>
      <p:sp>
        <p:nvSpPr>
          <p:cNvPr id="41" name="Text 33"/>
          <p:cNvSpPr txBox="1"/>
          <p:nvPr/>
        </p:nvSpPr>
        <p:spPr>
          <a:xfrm>
            <a:off x="5715000" y="431596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delivery history with proof of delivery</a:t>
            </a:r>
            <a:endParaRPr lang="en-US" sz="1100" dirty="0"/>
          </a:p>
        </p:txBody>
      </p:sp>
      <p:sp>
        <p:nvSpPr>
          <p:cNvPr id="42" name="Text 34"/>
          <p:cNvSpPr txBox="1"/>
          <p:nvPr/>
        </p:nvSpPr>
        <p:spPr>
          <a:xfrm>
            <a:off x="457200" y="48463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LogiFlows  |  Intelligent Logistics Coordination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160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1089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PARCEL JOURNEY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Complete End-to-End Parcel Journey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45029" y="2240280"/>
            <a:ext cx="7053943" cy="0"/>
          </a:xfrm>
          <a:prstGeom prst="line">
            <a:avLst/>
          </a:prstGeom>
          <a:noFill/>
          <a:ln w="25400">
            <a:solidFill>
              <a:srgbClr val="FFB0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79269" y="1371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51837" y="1847088"/>
            <a:ext cx="786384" cy="786384"/>
          </a:xfrm>
          <a:prstGeom prst="ellipse">
            <a:avLst/>
          </a:prstGeom>
          <a:solidFill>
            <a:srgbClr val="132A4F"/>
          </a:solidFill>
          <a:ln w="25400">
            <a:solidFill>
              <a:srgbClr val="FFB02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1293" y="2066544"/>
            <a:ext cx="347472" cy="34747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78101" y="2743200"/>
            <a:ext cx="1133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496389" y="301752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4C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books; Tracking ID and QR are generated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1854926" y="1371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1827494" y="1847088"/>
            <a:ext cx="786384" cy="786384"/>
          </a:xfrm>
          <a:prstGeom prst="ellipse">
            <a:avLst/>
          </a:prstGeom>
          <a:solidFill>
            <a:srgbClr val="132A4F"/>
          </a:solidFill>
          <a:ln w="25400">
            <a:solidFill>
              <a:srgbClr val="FFB020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6950" y="2066544"/>
            <a:ext cx="347472" cy="34747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653758" y="2743200"/>
            <a:ext cx="1133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Pickup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1672046" y="301752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4C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scans the QR and takes custody</a:t>
            </a:r>
            <a:endParaRPr lang="en-US" sz="1050" dirty="0"/>
          </a:p>
        </p:txBody>
      </p:sp>
      <p:sp>
        <p:nvSpPr>
          <p:cNvPr id="15" name="Text 11"/>
          <p:cNvSpPr txBox="1"/>
          <p:nvPr/>
        </p:nvSpPr>
        <p:spPr>
          <a:xfrm>
            <a:off x="3030583" y="1371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3003151" y="1847088"/>
            <a:ext cx="786384" cy="786384"/>
          </a:xfrm>
          <a:prstGeom prst="ellipse">
            <a:avLst/>
          </a:prstGeom>
          <a:solidFill>
            <a:srgbClr val="132A4F"/>
          </a:solidFill>
          <a:ln w="25400">
            <a:solidFill>
              <a:srgbClr val="FFB020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2607" y="2066544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2829415" y="2743200"/>
            <a:ext cx="1133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 Hub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2847703" y="301752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4C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verifies the parcel and batches shipments</a:t>
            </a:r>
            <a:endParaRPr lang="en-US" sz="1050" dirty="0"/>
          </a:p>
        </p:txBody>
      </p:sp>
      <p:sp>
        <p:nvSpPr>
          <p:cNvPr id="20" name="Text 15"/>
          <p:cNvSpPr txBox="1"/>
          <p:nvPr/>
        </p:nvSpPr>
        <p:spPr>
          <a:xfrm>
            <a:off x="4206240" y="1371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178808" y="1847088"/>
            <a:ext cx="786384" cy="786384"/>
          </a:xfrm>
          <a:prstGeom prst="ellipse">
            <a:avLst/>
          </a:prstGeom>
          <a:solidFill>
            <a:srgbClr val="132A4F"/>
          </a:solidFill>
          <a:ln w="25400">
            <a:solidFill>
              <a:srgbClr val="FFB020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8264" y="2066544"/>
            <a:ext cx="347472" cy="347472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4005072" y="2743200"/>
            <a:ext cx="1133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Transit</a:t>
            </a:r>
            <a:endParaRPr lang="en-US" sz="1300" dirty="0"/>
          </a:p>
        </p:txBody>
      </p:sp>
      <p:sp>
        <p:nvSpPr>
          <p:cNvPr id="24" name="Text 18"/>
          <p:cNvSpPr txBox="1"/>
          <p:nvPr/>
        </p:nvSpPr>
        <p:spPr>
          <a:xfrm>
            <a:off x="4023360" y="301752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4C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GPS session with dynamic ETA updates</a:t>
            </a:r>
            <a:endParaRPr lang="en-US" sz="1050" dirty="0"/>
          </a:p>
        </p:txBody>
      </p:sp>
      <p:sp>
        <p:nvSpPr>
          <p:cNvPr id="25" name="Text 19"/>
          <p:cNvSpPr txBox="1"/>
          <p:nvPr/>
        </p:nvSpPr>
        <p:spPr>
          <a:xfrm>
            <a:off x="5381897" y="1371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5354465" y="1847088"/>
            <a:ext cx="786384" cy="786384"/>
          </a:xfrm>
          <a:prstGeom prst="ellipse">
            <a:avLst/>
          </a:prstGeom>
          <a:solidFill>
            <a:srgbClr val="132A4F"/>
          </a:solidFill>
          <a:ln w="25400">
            <a:solidFill>
              <a:srgbClr val="FFB020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3921" y="2066544"/>
            <a:ext cx="347472" cy="347472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5180729" y="2743200"/>
            <a:ext cx="1133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Dest. Hub</a:t>
            </a:r>
            <a:endParaRPr lang="en-US" sz="1300" dirty="0"/>
          </a:p>
        </p:txBody>
      </p:sp>
      <p:sp>
        <p:nvSpPr>
          <p:cNvPr id="29" name="Text 22"/>
          <p:cNvSpPr txBox="1"/>
          <p:nvPr/>
        </p:nvSpPr>
        <p:spPr>
          <a:xfrm>
            <a:off x="5199017" y="301752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4C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Handover to the destination branch</a:t>
            </a:r>
            <a:endParaRPr lang="en-US" sz="1050" dirty="0"/>
          </a:p>
        </p:txBody>
      </p:sp>
      <p:sp>
        <p:nvSpPr>
          <p:cNvPr id="30" name="Text 23"/>
          <p:cNvSpPr txBox="1"/>
          <p:nvPr/>
        </p:nvSpPr>
        <p:spPr>
          <a:xfrm>
            <a:off x="6557554" y="1371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1" name="Shape 24"/>
          <p:cNvSpPr/>
          <p:nvPr/>
        </p:nvSpPr>
        <p:spPr>
          <a:xfrm>
            <a:off x="6530122" y="1847088"/>
            <a:ext cx="786384" cy="786384"/>
          </a:xfrm>
          <a:prstGeom prst="ellipse">
            <a:avLst/>
          </a:prstGeom>
          <a:solidFill>
            <a:srgbClr val="132A4F"/>
          </a:solidFill>
          <a:ln w="25400">
            <a:solidFill>
              <a:srgbClr val="FFB020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9578" y="2066544"/>
            <a:ext cx="347472" cy="347472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6356386" y="2743200"/>
            <a:ext cx="1133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Mile</a:t>
            </a:r>
            <a:endParaRPr lang="en-US" sz="1300" dirty="0"/>
          </a:p>
        </p:txBody>
      </p:sp>
      <p:sp>
        <p:nvSpPr>
          <p:cNvPr id="34" name="Text 26"/>
          <p:cNvSpPr txBox="1"/>
          <p:nvPr/>
        </p:nvSpPr>
        <p:spPr>
          <a:xfrm>
            <a:off x="6374674" y="301752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4C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employee navigates the final route</a:t>
            </a:r>
            <a:endParaRPr lang="en-US" sz="1050" dirty="0"/>
          </a:p>
        </p:txBody>
      </p:sp>
      <p:sp>
        <p:nvSpPr>
          <p:cNvPr id="35" name="Text 27"/>
          <p:cNvSpPr txBox="1"/>
          <p:nvPr/>
        </p:nvSpPr>
        <p:spPr>
          <a:xfrm>
            <a:off x="7733211" y="1371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36" name="Shape 28"/>
          <p:cNvSpPr/>
          <p:nvPr/>
        </p:nvSpPr>
        <p:spPr>
          <a:xfrm>
            <a:off x="7705779" y="1847088"/>
            <a:ext cx="786384" cy="786384"/>
          </a:xfrm>
          <a:prstGeom prst="ellipse">
            <a:avLst/>
          </a:prstGeom>
          <a:solidFill>
            <a:srgbClr val="FFB020"/>
          </a:solidFill>
          <a:ln w="25400">
            <a:solidFill>
              <a:srgbClr val="FFB020"/>
            </a:solidFill>
            <a:prstDash val="solid"/>
          </a:ln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25235" y="2066544"/>
            <a:ext cx="347472" cy="347472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7532043" y="2743200"/>
            <a:ext cx="1133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</a:t>
            </a:r>
            <a:endParaRPr lang="en-US" sz="1300" dirty="0"/>
          </a:p>
        </p:txBody>
      </p:sp>
      <p:sp>
        <p:nvSpPr>
          <p:cNvPr id="39" name="Text 30"/>
          <p:cNvSpPr txBox="1"/>
          <p:nvPr/>
        </p:nvSpPr>
        <p:spPr>
          <a:xfrm>
            <a:off x="7550331" y="301752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4C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OTP, signature or proof of delivery confirms receipt</a:t>
            </a:r>
            <a:endParaRPr lang="en-US" sz="1050" dirty="0"/>
          </a:p>
        </p:txBody>
      </p:sp>
      <p:sp>
        <p:nvSpPr>
          <p:cNvPr id="40" name="Shape 31"/>
          <p:cNvSpPr/>
          <p:nvPr/>
        </p:nvSpPr>
        <p:spPr>
          <a:xfrm>
            <a:off x="457200" y="3931920"/>
            <a:ext cx="8229600" cy="777240"/>
          </a:xfrm>
          <a:prstGeom prst="roundRect">
            <a:avLst>
              <a:gd name="adj" fmla="val 10588"/>
            </a:avLst>
          </a:prstGeom>
          <a:solidFill>
            <a:srgbClr val="132A4F"/>
          </a:solidFill>
          <a:ln w="9525">
            <a:solidFill>
              <a:srgbClr val="27477F"/>
            </a:solidFill>
            <a:prstDash val="solid"/>
          </a:ln>
        </p:spPr>
      </p:sp>
      <p:sp>
        <p:nvSpPr>
          <p:cNvPr id="41" name="Shape 32"/>
          <p:cNvSpPr/>
          <p:nvPr/>
        </p:nvSpPr>
        <p:spPr>
          <a:xfrm>
            <a:off x="658368" y="4114800"/>
            <a:ext cx="420624" cy="420624"/>
          </a:xfrm>
          <a:prstGeom prst="ellipse">
            <a:avLst/>
          </a:prstGeom>
          <a:solidFill>
            <a:srgbClr val="FFB020"/>
          </a:solidFill>
          <a:ln/>
        </p:spPr>
      </p:sp>
      <p:pic>
        <p:nvPicPr>
          <p:cNvPr id="4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3524" y="4219956"/>
            <a:ext cx="210312" cy="210312"/>
          </a:xfrm>
          <a:prstGeom prst="rect">
            <a:avLst/>
          </a:prstGeom>
        </p:spPr>
      </p:pic>
      <p:sp>
        <p:nvSpPr>
          <p:cNvPr id="43" name="Text 33"/>
          <p:cNvSpPr txBox="1"/>
          <p:nvPr/>
        </p:nvSpPr>
        <p:spPr>
          <a:xfrm>
            <a:off x="1280160" y="3931920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event — status update, tracking event, assignment change, notification — is recorded against the </a:t>
            </a:r>
            <a:pPr indent="0" marL="0">
              <a:buNone/>
            </a:pPr>
            <a:r>
              <a:rPr lang="en-US" sz="1250" b="1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parcel ID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creating a complete, auditable delivery history from booking to proof of delivery.</a:t>
            </a:r>
            <a:endParaRPr lang="en-US" sz="1250" dirty="0"/>
          </a:p>
        </p:txBody>
      </p:sp>
      <p:sp>
        <p:nvSpPr>
          <p:cNvPr id="44" name="Text 34"/>
          <p:cNvSpPr txBox="1"/>
          <p:nvPr/>
        </p:nvSpPr>
        <p:spPr>
          <a:xfrm>
            <a:off x="457200" y="48463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B4C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LogiFlows  |  Intelligent Logistics Coordination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4C2D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1089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ROLES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Role-Based Operating Model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624328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A1A33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508760"/>
            <a:ext cx="457200" cy="457200"/>
          </a:xfrm>
          <a:prstGeom prst="ellipse">
            <a:avLst/>
          </a:prstGeom>
          <a:solidFill>
            <a:srgbClr val="0A1A3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1623060"/>
            <a:ext cx="228600" cy="2286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34440" y="1508760"/>
            <a:ext cx="1709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Sender / Customer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075688"/>
            <a:ext cx="22585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parcels, track in real time, and receive important updates automatically.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259836" y="1325880"/>
            <a:ext cx="2624328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A1A33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42716" y="1508760"/>
            <a:ext cx="457200" cy="457200"/>
          </a:xfrm>
          <a:prstGeom prst="ellipse">
            <a:avLst/>
          </a:prstGeom>
          <a:solidFill>
            <a:srgbClr val="0A1A3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7016" y="1623060"/>
            <a:ext cx="228600" cy="2286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037076" y="1508760"/>
            <a:ext cx="1709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Pickup / Delivery Employee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3442716" y="2075688"/>
            <a:ext cx="22585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or reject assignments, scan QR codes, navigate routes, and capture proof of delivery.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062472" y="1325880"/>
            <a:ext cx="2624328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A1A33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45352" y="1508760"/>
            <a:ext cx="457200" cy="457200"/>
          </a:xfrm>
          <a:prstGeom prst="ellipse">
            <a:avLst/>
          </a:prstGeom>
          <a:solidFill>
            <a:srgbClr val="0A1A3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9652" y="1623060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839712" y="1508760"/>
            <a:ext cx="1709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/ Operations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6245352" y="2075688"/>
            <a:ext cx="22585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parcels, batch shipments, assign vehicles, and manage exceptions in real time.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457200" y="3063240"/>
            <a:ext cx="2624328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A1A33">
                <a:alpha val="14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0080" y="3246120"/>
            <a:ext cx="457200" cy="457200"/>
          </a:xfrm>
          <a:prstGeom prst="ellipse">
            <a:avLst/>
          </a:prstGeom>
          <a:solidFill>
            <a:srgbClr val="0A1A33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" y="3360420"/>
            <a:ext cx="228600" cy="22860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234440" y="3246120"/>
            <a:ext cx="1709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Admin</a:t>
            </a:r>
            <a:endParaRPr 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640080" y="3813048"/>
            <a:ext cx="22585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branches, employees, vehicles, and parcels with full audit and override capability.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3259836" y="3063240"/>
            <a:ext cx="2624328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A1A33">
                <a:alpha val="14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442716" y="3246120"/>
            <a:ext cx="457200" cy="457200"/>
          </a:xfrm>
          <a:prstGeom prst="ellipse">
            <a:avLst/>
          </a:prstGeom>
          <a:solidFill>
            <a:srgbClr val="0A1A33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7016" y="3360420"/>
            <a:ext cx="228600" cy="22860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037076" y="3246120"/>
            <a:ext cx="1709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Receiver</a:t>
            </a:r>
            <a:endParaRPr lang="en-US" sz="1300" dirty="0"/>
          </a:p>
        </p:txBody>
      </p:sp>
      <p:sp>
        <p:nvSpPr>
          <p:cNvPr id="28" name="Text 21"/>
          <p:cNvSpPr txBox="1"/>
          <p:nvPr/>
        </p:nvSpPr>
        <p:spPr>
          <a:xfrm>
            <a:off x="3442716" y="3813048"/>
            <a:ext cx="22585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incoming parcels, view updated ETA, and confirm delivery upon receipt.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6062472" y="3063240"/>
            <a:ext cx="2624328" cy="1600200"/>
          </a:xfrm>
          <a:prstGeom prst="roundRect">
            <a:avLst>
              <a:gd name="adj" fmla="val 5143"/>
            </a:avLst>
          </a:prstGeom>
          <a:solidFill>
            <a:srgbClr val="0A1A33"/>
          </a:solidFill>
          <a:ln/>
        </p:spPr>
      </p:sp>
      <p:sp>
        <p:nvSpPr>
          <p:cNvPr id="30" name="Shape 23"/>
          <p:cNvSpPr/>
          <p:nvPr/>
        </p:nvSpPr>
        <p:spPr>
          <a:xfrm>
            <a:off x="6245352" y="3246120"/>
            <a:ext cx="457200" cy="457200"/>
          </a:xfrm>
          <a:prstGeom prst="ellipse">
            <a:avLst/>
          </a:prstGeom>
          <a:solidFill>
            <a:srgbClr val="FFB020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9652" y="3360420"/>
            <a:ext cx="228600" cy="22860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6839712" y="3246120"/>
            <a:ext cx="1709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Parcel Record</a:t>
            </a:r>
            <a:endParaRPr lang="en-US" sz="1300" dirty="0"/>
          </a:p>
        </p:txBody>
      </p:sp>
      <p:sp>
        <p:nvSpPr>
          <p:cNvPr id="33" name="Text 25"/>
          <p:cNvSpPr txBox="1"/>
          <p:nvPr/>
        </p:nvSpPr>
        <p:spPr>
          <a:xfrm>
            <a:off x="6245352" y="3813048"/>
            <a:ext cx="22585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role works from the same live Tracking ID, so everyone sees the same journey.</a:t>
            </a:r>
            <a:endParaRPr lang="en-US" sz="1150" dirty="0"/>
          </a:p>
        </p:txBody>
      </p:sp>
      <p:sp>
        <p:nvSpPr>
          <p:cNvPr id="34" name="Text 26"/>
          <p:cNvSpPr txBox="1"/>
          <p:nvPr/>
        </p:nvSpPr>
        <p:spPr>
          <a:xfrm>
            <a:off x="457200" y="48463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LogiFlows  |  Intelligent Logistics Coordination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160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1089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TRACKING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Identity, Many Custodians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972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4C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parcel keeps one </a:t>
            </a:r>
            <a:pPr indent="0" marL="0">
              <a:buNone/>
            </a:pPr>
            <a:r>
              <a:rPr lang="en-US" sz="1200" b="1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 identity</a:t>
            </a:r>
            <a:pPr indent="0" marL="0">
              <a:buNone/>
            </a:pPr>
            <a:r>
              <a:rPr lang="en-US" sz="1200" dirty="0">
                <a:solidFill>
                  <a:srgbClr val="B4C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while the location source changes with custody. Authorized mobile devices provide movement data — no GPS hardware inside every parcel.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1920240" cy="896112"/>
          </a:xfrm>
          <a:prstGeom prst="roundRect">
            <a:avLst>
              <a:gd name="adj" fmla="val 9184"/>
            </a:avLst>
          </a:prstGeom>
          <a:solidFill>
            <a:srgbClr val="132A4F"/>
          </a:solidFill>
          <a:ln w="9525">
            <a:solidFill>
              <a:srgbClr val="27477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828800"/>
            <a:ext cx="329184" cy="329184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66928" y="1828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87552" y="1810512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QR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2231136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4C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scans parcel to initiate custody.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60320" y="1737360"/>
            <a:ext cx="1920240" cy="896112"/>
          </a:xfrm>
          <a:prstGeom prst="roundRect">
            <a:avLst>
              <a:gd name="adj" fmla="val 9184"/>
            </a:avLst>
          </a:prstGeom>
          <a:solidFill>
            <a:srgbClr val="132A4F"/>
          </a:solidFill>
          <a:ln w="9525">
            <a:solidFill>
              <a:srgbClr val="27477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70048" y="1828800"/>
            <a:ext cx="329184" cy="329184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670048" y="1828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090672" y="1810512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2670048" y="2231136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4C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assignment and parcel state.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1737360"/>
            <a:ext cx="1920240" cy="896112"/>
          </a:xfrm>
          <a:prstGeom prst="roundRect">
            <a:avLst>
              <a:gd name="adj" fmla="val 9184"/>
            </a:avLst>
          </a:prstGeom>
          <a:solidFill>
            <a:srgbClr val="132A4F"/>
          </a:solidFill>
          <a:ln w="9525">
            <a:solidFill>
              <a:srgbClr val="27477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73168" y="1828800"/>
            <a:ext cx="329184" cy="329184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773168" y="1828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193792" y="1810512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Tracking Session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4773168" y="2231136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4C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live tracking session.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766560" y="1737360"/>
            <a:ext cx="1920240" cy="896112"/>
          </a:xfrm>
          <a:prstGeom prst="roundRect">
            <a:avLst>
              <a:gd name="adj" fmla="val 9184"/>
            </a:avLst>
          </a:prstGeom>
          <a:solidFill>
            <a:srgbClr val="132A4F"/>
          </a:solidFill>
          <a:ln w="9525">
            <a:solidFill>
              <a:srgbClr val="27477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76288" y="1828800"/>
            <a:ext cx="329184" cy="329184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876288" y="1828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296912" y="1810512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6876288" y="2231136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4C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latitude, longitude, speed, and accuracy.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2743200"/>
            <a:ext cx="1920240" cy="896112"/>
          </a:xfrm>
          <a:prstGeom prst="roundRect">
            <a:avLst>
              <a:gd name="adj" fmla="val 9184"/>
            </a:avLst>
          </a:prstGeom>
          <a:solidFill>
            <a:srgbClr val="132A4F"/>
          </a:solidFill>
          <a:ln w="9525">
            <a:solidFill>
              <a:srgbClr val="27477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66928" y="2834640"/>
            <a:ext cx="329184" cy="329184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566928" y="28346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987552" y="2816352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566928" y="3236976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4C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Validate, store, and broadcast location data.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560320" y="2743200"/>
            <a:ext cx="1920240" cy="896112"/>
          </a:xfrm>
          <a:prstGeom prst="roundRect">
            <a:avLst>
              <a:gd name="adj" fmla="val 9184"/>
            </a:avLst>
          </a:prstGeom>
          <a:solidFill>
            <a:srgbClr val="132A4F"/>
          </a:solidFill>
          <a:ln w="9525">
            <a:solidFill>
              <a:srgbClr val="27477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670048" y="2834640"/>
            <a:ext cx="329184" cy="329184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2670048" y="28346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3090672" y="2816352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2670048" y="3236976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4C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live, verified, or estimated status.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663440" y="2743200"/>
            <a:ext cx="1920240" cy="896112"/>
          </a:xfrm>
          <a:prstGeom prst="roundRect">
            <a:avLst>
              <a:gd name="adj" fmla="val 9184"/>
            </a:avLst>
          </a:prstGeom>
          <a:solidFill>
            <a:srgbClr val="132A4F"/>
          </a:solidFill>
          <a:ln w="9525">
            <a:solidFill>
              <a:srgbClr val="27477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73168" y="2834640"/>
            <a:ext cx="329184" cy="329184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4773168" y="28346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5193792" y="2816352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Handover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4773168" y="3236976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4C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session and start next custody session.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766560" y="2743200"/>
            <a:ext cx="1920240" cy="896112"/>
          </a:xfrm>
          <a:prstGeom prst="roundRect">
            <a:avLst>
              <a:gd name="adj" fmla="val 9184"/>
            </a:avLst>
          </a:prstGeom>
          <a:solidFill>
            <a:srgbClr val="132A4F"/>
          </a:solidFill>
          <a:ln w="9525">
            <a:solidFill>
              <a:srgbClr val="27477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876288" y="2834640"/>
            <a:ext cx="329184" cy="329184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6876288" y="28346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7296912" y="2816352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</a:t>
            </a:r>
            <a:endParaRPr lang="en-US" sz="1150" dirty="0"/>
          </a:p>
        </p:txBody>
      </p:sp>
      <p:sp>
        <p:nvSpPr>
          <p:cNvPr id="44" name="Text 42"/>
          <p:cNvSpPr txBox="1"/>
          <p:nvPr/>
        </p:nvSpPr>
        <p:spPr>
          <a:xfrm>
            <a:off x="6876288" y="3236976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4C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OTP, signature, or proof of delivery.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57200" y="3767328"/>
            <a:ext cx="1920240" cy="731520"/>
          </a:xfrm>
          <a:prstGeom prst="roundRect">
            <a:avLst>
              <a:gd name="adj" fmla="val 11250"/>
            </a:avLst>
          </a:prstGeom>
          <a:solidFill>
            <a:srgbClr val="132A4F"/>
          </a:solidFill>
          <a:ln w="15875">
            <a:solidFill>
              <a:srgbClr val="22C55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85216" y="3886200"/>
            <a:ext cx="146304" cy="146304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822960" y="38404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200" dirty="0"/>
          </a:p>
        </p:txBody>
      </p:sp>
      <p:sp>
        <p:nvSpPr>
          <p:cNvPr id="48" name="Text 46"/>
          <p:cNvSpPr txBox="1"/>
          <p:nvPr/>
        </p:nvSpPr>
        <p:spPr>
          <a:xfrm>
            <a:off x="585216" y="41148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4C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GPS from active employee or vehicle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2560320" y="3767328"/>
            <a:ext cx="1920240" cy="731520"/>
          </a:xfrm>
          <a:prstGeom prst="roundRect">
            <a:avLst>
              <a:gd name="adj" fmla="val 11250"/>
            </a:avLst>
          </a:prstGeom>
          <a:solidFill>
            <a:srgbClr val="132A4F"/>
          </a:solidFill>
          <a:ln w="15875">
            <a:solidFill>
              <a:srgbClr val="2DD4B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688336" y="3886200"/>
            <a:ext cx="146304" cy="146304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2926080" y="38404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1200" dirty="0"/>
          </a:p>
        </p:txBody>
      </p:sp>
      <p:sp>
        <p:nvSpPr>
          <p:cNvPr id="52" name="Text 50"/>
          <p:cNvSpPr txBox="1"/>
          <p:nvPr/>
        </p:nvSpPr>
        <p:spPr>
          <a:xfrm>
            <a:off x="2688336" y="41148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4C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branch checkpoint confirmation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663440" y="3767328"/>
            <a:ext cx="1920240" cy="731520"/>
          </a:xfrm>
          <a:prstGeom prst="roundRect">
            <a:avLst>
              <a:gd name="adj" fmla="val 11250"/>
            </a:avLst>
          </a:prstGeom>
          <a:solidFill>
            <a:srgbClr val="132A4F"/>
          </a:solidFill>
          <a:ln w="15875">
            <a:solidFill>
              <a:srgbClr val="FFB02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791456" y="3886200"/>
            <a:ext cx="146304" cy="146304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5029200" y="38404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</a:t>
            </a:r>
            <a:endParaRPr lang="en-US" sz="1200" dirty="0"/>
          </a:p>
        </p:txBody>
      </p:sp>
      <p:sp>
        <p:nvSpPr>
          <p:cNvPr id="56" name="Text 54"/>
          <p:cNvSpPr txBox="1"/>
          <p:nvPr/>
        </p:nvSpPr>
        <p:spPr>
          <a:xfrm>
            <a:off x="4791456" y="41148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4C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Route-based position estimate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6766560" y="3767328"/>
            <a:ext cx="1920240" cy="731520"/>
          </a:xfrm>
          <a:prstGeom prst="roundRect">
            <a:avLst>
              <a:gd name="adj" fmla="val 11250"/>
            </a:avLst>
          </a:prstGeom>
          <a:solidFill>
            <a:srgbClr val="132A4F"/>
          </a:solidFill>
          <a:ln w="15875">
            <a:solidFill>
              <a:srgbClr val="94A3B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894576" y="3886200"/>
            <a:ext cx="146304" cy="146304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59" name="Text 57"/>
          <p:cNvSpPr txBox="1"/>
          <p:nvPr/>
        </p:nvSpPr>
        <p:spPr>
          <a:xfrm>
            <a:off x="7132320" y="38404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Known</a:t>
            </a:r>
            <a:endParaRPr lang="en-US" sz="1200" dirty="0"/>
          </a:p>
        </p:txBody>
      </p:sp>
      <p:sp>
        <p:nvSpPr>
          <p:cNvPr id="60" name="Text 58"/>
          <p:cNvSpPr txBox="1"/>
          <p:nvPr/>
        </p:nvSpPr>
        <p:spPr>
          <a:xfrm>
            <a:off x="6894576" y="41148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4C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 or disconnected location</a:t>
            </a:r>
            <a:endParaRPr lang="en-US" sz="1000" dirty="0"/>
          </a:p>
        </p:txBody>
      </p:sp>
      <p:sp>
        <p:nvSpPr>
          <p:cNvPr id="61" name="Text 59"/>
          <p:cNvSpPr txBox="1"/>
          <p:nvPr/>
        </p:nvSpPr>
        <p:spPr>
          <a:xfrm>
            <a:off x="457200" y="460857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show stale GPS as live.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Parcel ID. Multiple tracking sessions. Complete handover history.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4C2D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1089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ETA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 ETA: Not a Static Promise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640080" cy="365760"/>
          </a:xfrm>
          <a:prstGeom prst="roundRect">
            <a:avLst>
              <a:gd name="adj" fmla="val 50000"/>
            </a:avLst>
          </a:prstGeom>
          <a:solidFill>
            <a:srgbClr val="0A1A3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11887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18872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389888" y="1188720"/>
            <a:ext cx="777240" cy="365760"/>
          </a:xfrm>
          <a:prstGeom prst="roundRect">
            <a:avLst>
              <a:gd name="adj" fmla="val 50000"/>
            </a:avLst>
          </a:prstGeom>
          <a:solidFill>
            <a:srgbClr val="0A1A3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389888" y="118872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2212848" y="118872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459736" y="1188720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0A1A3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459736" y="118872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Time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3739896" y="118872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986784" y="118872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0A1A3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986784" y="11887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Model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5221224" y="118872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68112" y="1188720"/>
            <a:ext cx="960120" cy="365760"/>
          </a:xfrm>
          <a:prstGeom prst="roundRect">
            <a:avLst>
              <a:gd name="adj" fmla="val 50000"/>
            </a:avLst>
          </a:prstGeom>
          <a:solidFill>
            <a:srgbClr val="0A1A3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68112" y="118872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473952" y="11887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793992" y="1188720"/>
            <a:ext cx="1280160" cy="365760"/>
          </a:xfrm>
          <a:prstGeom prst="roundRect">
            <a:avLst>
              <a:gd name="adj" fmla="val 50000"/>
            </a:avLst>
          </a:prstGeom>
          <a:solidFill>
            <a:srgbClr val="FFB02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793992" y="11887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ETA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7200" y="1737360"/>
            <a:ext cx="480060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A1A33">
                <a:alpha val="14000"/>
              </a:srgbClr>
            </a:outerShdw>
          </a:effectLst>
        </p:spPr>
      </p:sp>
      <p:graphicFrame>
        <p:nvGraphicFramePr>
          <p:cNvPr id="22" name="Chart 0" descr=""/>
          <p:cNvGraphicFramePr/>
          <p:nvPr/>
        </p:nvGraphicFramePr>
        <p:xfrm>
          <a:off x="548640" y="1783080"/>
          <a:ext cx="4617720" cy="2240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3" name="Text 20"/>
          <p:cNvSpPr txBox="1"/>
          <p:nvPr/>
        </p:nvSpPr>
        <p:spPr>
          <a:xfrm>
            <a:off x="5532120" y="173736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Changes the ETA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5532120" y="2148840"/>
            <a:ext cx="292608" cy="292608"/>
          </a:xfrm>
          <a:prstGeom prst="ellipse">
            <a:avLst/>
          </a:prstGeom>
          <a:solidFill>
            <a:srgbClr val="0A1A33"/>
          </a:solidFill>
          <a:ln/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5272" y="2221992"/>
            <a:ext cx="146304" cy="146304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5943600" y="212140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position and remaining route distance</a:t>
            </a:r>
            <a:endParaRPr lang="en-US" sz="1150" dirty="0"/>
          </a:p>
        </p:txBody>
      </p:sp>
      <p:sp>
        <p:nvSpPr>
          <p:cNvPr id="27" name="Shape 23"/>
          <p:cNvSpPr/>
          <p:nvPr/>
        </p:nvSpPr>
        <p:spPr>
          <a:xfrm>
            <a:off x="5532120" y="2551176"/>
            <a:ext cx="292608" cy="292608"/>
          </a:xfrm>
          <a:prstGeom prst="ellipse">
            <a:avLst/>
          </a:prstGeom>
          <a:solidFill>
            <a:srgbClr val="0A1A33"/>
          </a:solidFill>
          <a:ln/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5272" y="2624328"/>
            <a:ext cx="146304" cy="146304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5943600" y="252374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movement speed vs. planned progress</a:t>
            </a:r>
            <a:endParaRPr lang="en-US" sz="1150" dirty="0"/>
          </a:p>
        </p:txBody>
      </p:sp>
      <p:sp>
        <p:nvSpPr>
          <p:cNvPr id="30" name="Shape 25"/>
          <p:cNvSpPr/>
          <p:nvPr/>
        </p:nvSpPr>
        <p:spPr>
          <a:xfrm>
            <a:off x="5532120" y="2953512"/>
            <a:ext cx="292608" cy="292608"/>
          </a:xfrm>
          <a:prstGeom prst="ellipse">
            <a:avLst/>
          </a:prstGeom>
          <a:solidFill>
            <a:srgbClr val="0A1A33"/>
          </a:solidFill>
          <a:ln/>
        </p:spPr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5272" y="3026664"/>
            <a:ext cx="146304" cy="146304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5943600" y="292608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time at each stop</a:t>
            </a:r>
            <a:endParaRPr lang="en-US" sz="1150" dirty="0"/>
          </a:p>
        </p:txBody>
      </p:sp>
      <p:sp>
        <p:nvSpPr>
          <p:cNvPr id="33" name="Shape 27"/>
          <p:cNvSpPr/>
          <p:nvPr/>
        </p:nvSpPr>
        <p:spPr>
          <a:xfrm>
            <a:off x="5532120" y="3355848"/>
            <a:ext cx="292608" cy="292608"/>
          </a:xfrm>
          <a:prstGeom prst="ellipse">
            <a:avLst/>
          </a:prstGeom>
          <a:solidFill>
            <a:srgbClr val="0A1A33"/>
          </a:solidFill>
          <a:ln/>
        </p:spPr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05272" y="3429000"/>
            <a:ext cx="146304" cy="146304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5943600" y="332841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delay prediction output</a:t>
            </a:r>
            <a:endParaRPr lang="en-US" sz="1150" dirty="0"/>
          </a:p>
        </p:txBody>
      </p:sp>
      <p:sp>
        <p:nvSpPr>
          <p:cNvPr id="36" name="Shape 29"/>
          <p:cNvSpPr/>
          <p:nvPr/>
        </p:nvSpPr>
        <p:spPr>
          <a:xfrm>
            <a:off x="5532120" y="3758184"/>
            <a:ext cx="292608" cy="292608"/>
          </a:xfrm>
          <a:prstGeom prst="ellipse">
            <a:avLst/>
          </a:prstGeom>
          <a:solidFill>
            <a:srgbClr val="0A1A33"/>
          </a:solidFill>
          <a:ln/>
        </p:spPr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05272" y="3831336"/>
            <a:ext cx="146304" cy="146304"/>
          </a:xfrm>
          <a:prstGeom prst="rect">
            <a:avLst/>
          </a:prstGeom>
        </p:spPr>
      </p:pic>
      <p:sp>
        <p:nvSpPr>
          <p:cNvPr id="38" name="Text 30"/>
          <p:cNvSpPr txBox="1"/>
          <p:nvPr/>
        </p:nvSpPr>
        <p:spPr>
          <a:xfrm>
            <a:off x="5943600" y="373075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deadline constraints</a:t>
            </a:r>
            <a:endParaRPr lang="en-US" sz="1150" dirty="0"/>
          </a:p>
        </p:txBody>
      </p:sp>
      <p:sp>
        <p:nvSpPr>
          <p:cNvPr id="39" name="Shape 31"/>
          <p:cNvSpPr/>
          <p:nvPr/>
        </p:nvSpPr>
        <p:spPr>
          <a:xfrm>
            <a:off x="457200" y="4206240"/>
            <a:ext cx="8229600" cy="548640"/>
          </a:xfrm>
          <a:prstGeom prst="roundRect">
            <a:avLst>
              <a:gd name="adj" fmla="val 15000"/>
            </a:avLst>
          </a:prstGeom>
          <a:solidFill>
            <a:srgbClr val="0A1A33"/>
          </a:solidFill>
          <a:ln/>
        </p:spPr>
      </p:sp>
      <p:sp>
        <p:nvSpPr>
          <p:cNvPr id="40" name="Text 32"/>
          <p:cNvSpPr txBox="1"/>
          <p:nvPr/>
        </p:nvSpPr>
        <p:spPr>
          <a:xfrm>
            <a:off x="685800" y="42062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3:20 PM a long stop pushes ETA to 5:38 PM. An operational intervention at 3:25 PM recovers 10 minutes.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ETA ≠ Static Promise.</a:t>
            </a:r>
            <a:endParaRPr lang="en-US" sz="1200" dirty="0"/>
          </a:p>
        </p:txBody>
      </p:sp>
      <p:sp>
        <p:nvSpPr>
          <p:cNvPr id="41" name="Text 33"/>
          <p:cNvSpPr txBox="1"/>
          <p:nvPr/>
        </p:nvSpPr>
        <p:spPr>
          <a:xfrm>
            <a:off x="457200" y="48463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LogiFlows  |  Intelligent Logistics Coordination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160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1089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DELAY PREDICTION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 Before It Happens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4C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combines live and historical signals to estimate delay risk and expected delay minutes — enabling proactive operational decisions before problems escalate.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1097280" cy="1280160"/>
          </a:xfrm>
          <a:prstGeom prst="roundRect">
            <a:avLst>
              <a:gd name="adj" fmla="val 7500"/>
            </a:avLst>
          </a:prstGeom>
          <a:solidFill>
            <a:srgbClr val="132A4F"/>
          </a:solidFill>
          <a:ln w="9525">
            <a:solidFill>
              <a:srgbClr val="27477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83080"/>
            <a:ext cx="274320" cy="274320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83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112264"/>
            <a:ext cx="932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350008"/>
            <a:ext cx="9326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4C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GPS and operational signals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645920" y="1691640"/>
            <a:ext cx="1097280" cy="1280160"/>
          </a:xfrm>
          <a:prstGeom prst="roundRect">
            <a:avLst>
              <a:gd name="adj" fmla="val 7500"/>
            </a:avLst>
          </a:prstGeom>
          <a:solidFill>
            <a:srgbClr val="132A4F"/>
          </a:solidFill>
          <a:ln w="9525">
            <a:solidFill>
              <a:srgbClr val="27477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737360" y="1783080"/>
            <a:ext cx="274320" cy="274320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737360" y="1783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737360" y="2112264"/>
            <a:ext cx="932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1737360" y="2350008"/>
            <a:ext cx="9326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4C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and normalize data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834640" y="1691640"/>
            <a:ext cx="1097280" cy="1280160"/>
          </a:xfrm>
          <a:prstGeom prst="roundRect">
            <a:avLst>
              <a:gd name="adj" fmla="val 7500"/>
            </a:avLst>
          </a:prstGeom>
          <a:solidFill>
            <a:srgbClr val="FFB020"/>
          </a:solidFill>
          <a:ln w="9525">
            <a:solidFill>
              <a:srgbClr val="FFB02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926080" y="1783080"/>
            <a:ext cx="274320" cy="274320"/>
          </a:xfrm>
          <a:prstGeom prst="ellipse">
            <a:avLst/>
          </a:prstGeom>
          <a:solidFill>
            <a:srgbClr val="0A1A3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2926080" y="1783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2926080" y="2112264"/>
            <a:ext cx="932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2926080" y="2350008"/>
            <a:ext cx="9326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risk classification and delay regression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023360" y="1691640"/>
            <a:ext cx="1097280" cy="1280160"/>
          </a:xfrm>
          <a:prstGeom prst="roundRect">
            <a:avLst>
              <a:gd name="adj" fmla="val 7500"/>
            </a:avLst>
          </a:prstGeom>
          <a:solidFill>
            <a:srgbClr val="132A4F"/>
          </a:solidFill>
          <a:ln w="9525">
            <a:solidFill>
              <a:srgbClr val="27477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0" y="1783080"/>
            <a:ext cx="274320" cy="274320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114800" y="1783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4114800" y="2112264"/>
            <a:ext cx="932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4114800" y="2350008"/>
            <a:ext cx="9326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4C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delay minutes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212080" y="1691640"/>
            <a:ext cx="1097280" cy="1280160"/>
          </a:xfrm>
          <a:prstGeom prst="roundRect">
            <a:avLst>
              <a:gd name="adj" fmla="val 7500"/>
            </a:avLst>
          </a:prstGeom>
          <a:solidFill>
            <a:srgbClr val="132A4F"/>
          </a:solidFill>
          <a:ln w="9525">
            <a:solidFill>
              <a:srgbClr val="27477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303520" y="1783080"/>
            <a:ext cx="274320" cy="274320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5303520" y="1783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5303520" y="2112264"/>
            <a:ext cx="932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ETA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5303520" y="2350008"/>
            <a:ext cx="9326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4C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recalculate journey timeline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400800" y="1691640"/>
            <a:ext cx="1097280" cy="1280160"/>
          </a:xfrm>
          <a:prstGeom prst="roundRect">
            <a:avLst>
              <a:gd name="adj" fmla="val 7500"/>
            </a:avLst>
          </a:prstGeom>
          <a:solidFill>
            <a:srgbClr val="132A4F"/>
          </a:solidFill>
          <a:ln w="9525">
            <a:solidFill>
              <a:srgbClr val="27477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92240" y="1783080"/>
            <a:ext cx="274320" cy="274320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492240" y="1783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6492240" y="2112264"/>
            <a:ext cx="932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6492240" y="2350008"/>
            <a:ext cx="9326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4C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reroute, reassign, or continue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589520" y="1691640"/>
            <a:ext cx="1097280" cy="1280160"/>
          </a:xfrm>
          <a:prstGeom prst="roundRect">
            <a:avLst>
              <a:gd name="adj" fmla="val 7500"/>
            </a:avLst>
          </a:prstGeom>
          <a:solidFill>
            <a:srgbClr val="132A4F"/>
          </a:solidFill>
          <a:ln w="9525">
            <a:solidFill>
              <a:srgbClr val="27477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680960" y="1783080"/>
            <a:ext cx="274320" cy="274320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7680960" y="1783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7680960" y="2112264"/>
            <a:ext cx="932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7680960" y="2350008"/>
            <a:ext cx="9326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4C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outcome for model improvement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457200" y="31089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SIGNAL GROUPS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57200" y="3346704"/>
            <a:ext cx="1920240" cy="868680"/>
          </a:xfrm>
          <a:prstGeom prst="roundRect">
            <a:avLst>
              <a:gd name="adj" fmla="val 9474"/>
            </a:avLst>
          </a:prstGeom>
          <a:solidFill>
            <a:srgbClr val="132A4F"/>
          </a:solidFill>
          <a:ln w="9525">
            <a:solidFill>
              <a:srgbClr val="27477F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85216" y="3419856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Movement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585216" y="3657600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4C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distance, current speed, progress vs. plan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560320" y="3346704"/>
            <a:ext cx="1920240" cy="868680"/>
          </a:xfrm>
          <a:prstGeom prst="roundRect">
            <a:avLst>
              <a:gd name="adj" fmla="val 9474"/>
            </a:avLst>
          </a:prstGeom>
          <a:solidFill>
            <a:srgbClr val="132A4F"/>
          </a:solidFill>
          <a:ln w="9525">
            <a:solidFill>
              <a:srgbClr val="27477F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2688336" y="3419856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2688336" y="3657600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4C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workload, stops remaining, resource availability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663440" y="3346704"/>
            <a:ext cx="1920240" cy="868680"/>
          </a:xfrm>
          <a:prstGeom prst="roundRect">
            <a:avLst>
              <a:gd name="adj" fmla="val 9474"/>
            </a:avLst>
          </a:prstGeom>
          <a:solidFill>
            <a:srgbClr val="132A4F"/>
          </a:solidFill>
          <a:ln w="9525">
            <a:solidFill>
              <a:srgbClr val="27477F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4791456" y="3419856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</a:t>
            </a:r>
            <a:endParaRPr lang="en-US" sz="1200" dirty="0"/>
          </a:p>
        </p:txBody>
      </p:sp>
      <p:sp>
        <p:nvSpPr>
          <p:cNvPr id="49" name="Text 47"/>
          <p:cNvSpPr txBox="1"/>
          <p:nvPr/>
        </p:nvSpPr>
        <p:spPr>
          <a:xfrm>
            <a:off x="4791456" y="3657600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4C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duration patterns, past performance, time-of-day trends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766560" y="3346704"/>
            <a:ext cx="1920240" cy="868680"/>
          </a:xfrm>
          <a:prstGeom prst="roundRect">
            <a:avLst>
              <a:gd name="adj" fmla="val 9474"/>
            </a:avLst>
          </a:prstGeom>
          <a:solidFill>
            <a:srgbClr val="132A4F"/>
          </a:solidFill>
          <a:ln w="9525">
            <a:solidFill>
              <a:srgbClr val="27477F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6894576" y="3419856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200" dirty="0"/>
          </a:p>
        </p:txBody>
      </p:sp>
      <p:sp>
        <p:nvSpPr>
          <p:cNvPr id="52" name="Text 50"/>
          <p:cNvSpPr txBox="1"/>
          <p:nvPr/>
        </p:nvSpPr>
        <p:spPr>
          <a:xfrm>
            <a:off x="6894576" y="3657600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4C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type, delivery deadline, route deviation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57200" y="4315968"/>
            <a:ext cx="1828800" cy="502920"/>
          </a:xfrm>
          <a:prstGeom prst="roundRect">
            <a:avLst>
              <a:gd name="adj" fmla="val 18182"/>
            </a:avLst>
          </a:prstGeom>
          <a:solidFill>
            <a:srgbClr val="15803D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566928" y="431596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Risk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normal operation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2377440" y="4315968"/>
            <a:ext cx="1828800" cy="502920"/>
          </a:xfrm>
          <a:prstGeom prst="roundRect">
            <a:avLst>
              <a:gd name="adj" fmla="val 18182"/>
            </a:avLst>
          </a:prstGeom>
          <a:solidFill>
            <a:srgbClr val="FFB020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2487168" y="431596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Risk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and prepare fallback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4297680" y="4315968"/>
            <a:ext cx="1828800" cy="502920"/>
          </a:xfrm>
          <a:prstGeom prst="roundRect">
            <a:avLst>
              <a:gd name="adj" fmla="val 18182"/>
            </a:avLst>
          </a:prstGeom>
          <a:solidFill>
            <a:srgbClr val="B91C1C"/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4407408" y="431596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Reroute, reassign, or notify</a:t>
            </a:r>
            <a:endParaRPr lang="en-US" sz="1200" dirty="0"/>
          </a:p>
        </p:txBody>
      </p:sp>
      <p:sp>
        <p:nvSpPr>
          <p:cNvPr id="59" name="Text 57"/>
          <p:cNvSpPr txBox="1"/>
          <p:nvPr/>
        </p:nvSpPr>
        <p:spPr>
          <a:xfrm>
            <a:off x="6355080" y="431596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supports operations — it does not replace human decisions.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4C2D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1089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&amp; VALUE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Multi-Partner Network and Business Value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430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courier company retains operational control. LogiFlows orchestrates handoffs through one shared parcel identity — no fragmented tracking, no manual coordination gaps.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1554480" cy="214884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A1A33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21792" y="2011680"/>
            <a:ext cx="475488" cy="475488"/>
          </a:xfrm>
          <a:prstGeom prst="ellipse">
            <a:avLst/>
          </a:prstGeom>
          <a:solidFill>
            <a:srgbClr val="0A1A3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2130552"/>
            <a:ext cx="237744" cy="23774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21792" y="260604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21792" y="3063240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tracking experience, better visibility, relevant updates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125980" y="1828800"/>
            <a:ext cx="1554480" cy="214884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A1A33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290572" y="2011680"/>
            <a:ext cx="475488" cy="475488"/>
          </a:xfrm>
          <a:prstGeom prst="ellipse">
            <a:avLst/>
          </a:prstGeom>
          <a:solidFill>
            <a:srgbClr val="0A1A33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9444" y="2130552"/>
            <a:ext cx="237744" cy="23774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290572" y="260604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Courier Partners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2290572" y="3063240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reach, automated operations, better coordination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3794760" y="1828800"/>
            <a:ext cx="1554480" cy="214884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A1A33">
                <a:alpha val="14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959352" y="2011680"/>
            <a:ext cx="475488" cy="475488"/>
          </a:xfrm>
          <a:prstGeom prst="ellipse">
            <a:avLst/>
          </a:prstGeom>
          <a:solidFill>
            <a:srgbClr val="0A1A33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8224" y="2130552"/>
            <a:ext cx="237744" cy="23774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3959352" y="260604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3959352" y="3063240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assignments, mapped routes, digital POD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5463540" y="1828800"/>
            <a:ext cx="1554480" cy="214884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A1A33">
                <a:alpha val="14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5628132" y="2011680"/>
            <a:ext cx="475488" cy="475488"/>
          </a:xfrm>
          <a:prstGeom prst="ellipse">
            <a:avLst/>
          </a:prstGeom>
          <a:solidFill>
            <a:srgbClr val="0A1A33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7004" y="2130552"/>
            <a:ext cx="237744" cy="237744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5628132" y="260604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/ Admins</a:t>
            </a:r>
            <a:endParaRPr lang="en-US" sz="1300" dirty="0"/>
          </a:p>
        </p:txBody>
      </p:sp>
      <p:sp>
        <p:nvSpPr>
          <p:cNvPr id="24" name="Text 18"/>
          <p:cNvSpPr txBox="1"/>
          <p:nvPr/>
        </p:nvSpPr>
        <p:spPr>
          <a:xfrm>
            <a:off x="5628132" y="3063240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control, exception handling, audit visibility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7132320" y="1828800"/>
            <a:ext cx="1554480" cy="2148840"/>
          </a:xfrm>
          <a:prstGeom prst="roundRect">
            <a:avLst>
              <a:gd name="adj" fmla="val 5294"/>
            </a:avLst>
          </a:prstGeom>
          <a:solidFill>
            <a:srgbClr val="0A1A33"/>
          </a:solidFill>
          <a:ln/>
          <a:effectLst>
            <a:outerShdw sx="100000" sy="100000" kx="0" ky="0" algn="bl" rotWithShape="0" blurRad="101600" dist="25400" dir="5400000">
              <a:srgbClr val="0A1A33">
                <a:alpha val="14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7296912" y="2011680"/>
            <a:ext cx="475488" cy="475488"/>
          </a:xfrm>
          <a:prstGeom prst="ellipse">
            <a:avLst/>
          </a:prstGeom>
          <a:solidFill>
            <a:srgbClr val="FFB020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15784" y="2130552"/>
            <a:ext cx="237744" cy="237744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7296912" y="260604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300" dirty="0"/>
          </a:p>
        </p:txBody>
      </p:sp>
      <p:sp>
        <p:nvSpPr>
          <p:cNvPr id="29" name="Text 22"/>
          <p:cNvSpPr txBox="1"/>
          <p:nvPr/>
        </p:nvSpPr>
        <p:spPr>
          <a:xfrm>
            <a:off x="7296912" y="3063240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Service-fee opportunity, partner network effects, operational insights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457200" y="4160520"/>
            <a:ext cx="8229600" cy="566928"/>
          </a:xfrm>
          <a:prstGeom prst="roundRect">
            <a:avLst>
              <a:gd name="adj" fmla="val 14516"/>
            </a:avLst>
          </a:prstGeom>
          <a:solidFill>
            <a:srgbClr val="FFB020"/>
          </a:solidFill>
          <a:ln/>
        </p:spPr>
      </p:sp>
      <p:sp>
        <p:nvSpPr>
          <p:cNvPr id="31" name="Text 24"/>
          <p:cNvSpPr txBox="1"/>
          <p:nvPr/>
        </p:nvSpPr>
        <p:spPr>
          <a:xfrm>
            <a:off x="685800" y="4160520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connected logistics network. One parcel journey.  </a:t>
            </a:r>
            <a:pPr algn="ctr" indent="0" marL="0">
              <a:buNone/>
            </a:pPr>
            <a:r>
              <a:rPr lang="en-US" sz="1300" b="1" spc="100" kern="0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• CALCULATE • PREDICT • ACT</a:t>
            </a:r>
            <a:endParaRPr lang="en-US" sz="1300" dirty="0"/>
          </a:p>
        </p:txBody>
      </p:sp>
      <p:sp>
        <p:nvSpPr>
          <p:cNvPr id="32" name="Text 25"/>
          <p:cNvSpPr txBox="1"/>
          <p:nvPr/>
        </p:nvSpPr>
        <p:spPr>
          <a:xfrm>
            <a:off x="457200" y="48463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LogiFlows  |  Intelligent Logistics Coordination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160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1089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BUDGET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Estimated Project Cost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607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budget for developing and demonstrating LogiFlows. All figures are approximate.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1920240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A1A33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6928" y="1618488"/>
            <a:ext cx="256032" cy="256032"/>
          </a:xfrm>
          <a:prstGeom prst="ellipse">
            <a:avLst/>
          </a:prstGeom>
          <a:solidFill>
            <a:srgbClr val="0A1A3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66928" y="16184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160020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Software &amp; Tools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19659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₹0 – ₹1,000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2276856"/>
            <a:ext cx="17190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stack: Python, React, VS Code, Git, PostgreSQL, Docker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60320" y="1508760"/>
            <a:ext cx="1920240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A1A33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70048" y="1618488"/>
            <a:ext cx="256032" cy="256032"/>
          </a:xfrm>
          <a:prstGeom prst="ellipse">
            <a:avLst/>
          </a:prstGeom>
          <a:solidFill>
            <a:srgbClr val="0A1A3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670048" y="16184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2999232" y="160020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Database &amp; Hosting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2670048" y="19659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₹0 – ₹2,000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2670048" y="2276856"/>
            <a:ext cx="17190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tiers for development: Neon/PostgreSQL, app hosting, storage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1508760"/>
            <a:ext cx="1920240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A1A33">
                <a:alpha val="14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73168" y="1618488"/>
            <a:ext cx="256032" cy="256032"/>
          </a:xfrm>
          <a:prstGeom prst="ellipse">
            <a:avLst/>
          </a:prstGeom>
          <a:solidFill>
            <a:srgbClr val="0A1A3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773168" y="16184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5102352" y="160020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&amp; Routing Services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4773168" y="19659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₹0 – ₹2,000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773168" y="2276856"/>
            <a:ext cx="17190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OpenStreetMap, OpenRouteService; depends on API usage and limits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766560" y="1508760"/>
            <a:ext cx="1920240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A1A33">
                <a:alpha val="14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876288" y="1618488"/>
            <a:ext cx="256032" cy="256032"/>
          </a:xfrm>
          <a:prstGeom prst="ellipse">
            <a:avLst/>
          </a:prstGeom>
          <a:solidFill>
            <a:srgbClr val="0A1A33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876288" y="16184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7205472" y="160020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Machine Learning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6876288" y="19659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₹0 – ₹1,000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6876288" y="2276856"/>
            <a:ext cx="17190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Scikit-learn for delay prediction and ETA intelligence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2926080"/>
            <a:ext cx="1920240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A1A33">
                <a:alpha val="14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66928" y="3035808"/>
            <a:ext cx="256032" cy="256032"/>
          </a:xfrm>
          <a:prstGeom prst="ellipse">
            <a:avLst/>
          </a:prstGeom>
          <a:solidFill>
            <a:srgbClr val="0A1A33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566928" y="30358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896112" y="301752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&amp; Email Services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566928" y="33832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₹0 – ₹1,000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566928" y="3694176"/>
            <a:ext cx="17190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Free/student tiers for delivery updates and delay alerts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560320" y="2926080"/>
            <a:ext cx="1920240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A1A33">
                <a:alpha val="14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670048" y="3035808"/>
            <a:ext cx="256032" cy="256032"/>
          </a:xfrm>
          <a:prstGeom prst="ellipse">
            <a:avLst/>
          </a:prstGeom>
          <a:solidFill>
            <a:srgbClr val="0A1A33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2670048" y="30358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2999232" y="301752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Deployment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2670048" y="33832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₹500 – ₹1,500</a:t>
            </a:r>
            <a:endParaRPr lang="en-US" sz="1500" dirty="0"/>
          </a:p>
        </p:txBody>
      </p:sp>
      <p:sp>
        <p:nvSpPr>
          <p:cNvPr id="40" name="Text 38"/>
          <p:cNvSpPr txBox="1"/>
          <p:nvPr/>
        </p:nvSpPr>
        <p:spPr>
          <a:xfrm>
            <a:off x="2670048" y="3694176"/>
            <a:ext cx="17190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Domain, testing devices and accessories, demonstration setup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663440" y="2926080"/>
            <a:ext cx="1920240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A1A33">
                <a:alpha val="14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773168" y="3035808"/>
            <a:ext cx="256032" cy="256032"/>
          </a:xfrm>
          <a:prstGeom prst="ellipse">
            <a:avLst/>
          </a:prstGeom>
          <a:solidFill>
            <a:srgbClr val="0A1A33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4773168" y="30358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5102352" y="301752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Hardware / Demo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4773168" y="33832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₹1,000 – ₹3,000</a:t>
            </a:r>
            <a:endParaRPr lang="en-US" sz="1500" dirty="0"/>
          </a:p>
        </p:txBody>
      </p:sp>
      <p:sp>
        <p:nvSpPr>
          <p:cNvPr id="46" name="Text 44"/>
          <p:cNvSpPr txBox="1"/>
          <p:nvPr/>
        </p:nvSpPr>
        <p:spPr>
          <a:xfrm>
            <a:off x="4773168" y="3694176"/>
            <a:ext cx="17190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test device, QR printing, optional GPS accessories, demo materials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766560" y="2926080"/>
            <a:ext cx="1920240" cy="1325880"/>
          </a:xfrm>
          <a:prstGeom prst="roundRect">
            <a:avLst>
              <a:gd name="adj" fmla="val 6207"/>
            </a:avLst>
          </a:prstGeom>
          <a:solidFill>
            <a:srgbClr val="0A1A33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6903720" y="303580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TOTAL</a:t>
            </a:r>
            <a:endParaRPr lang="en-US" sz="1000" dirty="0"/>
          </a:p>
        </p:txBody>
      </p:sp>
      <p:sp>
        <p:nvSpPr>
          <p:cNvPr id="49" name="Text 47"/>
          <p:cNvSpPr txBox="1"/>
          <p:nvPr/>
        </p:nvSpPr>
        <p:spPr>
          <a:xfrm>
            <a:off x="6903720" y="329184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₹1,500 –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₹11,500</a:t>
            </a:r>
            <a:endParaRPr lang="en-US" sz="2400" dirty="0"/>
          </a:p>
        </p:txBody>
      </p:sp>
      <p:sp>
        <p:nvSpPr>
          <p:cNvPr id="50" name="Text 48"/>
          <p:cNvSpPr txBox="1"/>
          <p:nvPr/>
        </p:nvSpPr>
        <p:spPr>
          <a:xfrm>
            <a:off x="457200" y="440740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KEEP THE PROJECT AFFORDABLE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57200" y="4636008"/>
            <a:ext cx="201168" cy="201168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5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463" y="4681271"/>
            <a:ext cx="110642" cy="110642"/>
          </a:xfrm>
          <a:prstGeom prst="rect">
            <a:avLst/>
          </a:prstGeom>
        </p:spPr>
      </p:pic>
      <p:sp>
        <p:nvSpPr>
          <p:cNvPr id="53" name="Text 50"/>
          <p:cNvSpPr txBox="1"/>
          <p:nvPr/>
        </p:nvSpPr>
        <p:spPr>
          <a:xfrm>
            <a:off x="731520" y="4617720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technologies</a:t>
            </a:r>
            <a:endParaRPr lang="en-US" sz="1050" dirty="0"/>
          </a:p>
        </p:txBody>
      </p:sp>
      <p:sp>
        <p:nvSpPr>
          <p:cNvPr id="54" name="Shape 51"/>
          <p:cNvSpPr/>
          <p:nvPr/>
        </p:nvSpPr>
        <p:spPr>
          <a:xfrm>
            <a:off x="2560320" y="4636008"/>
            <a:ext cx="201168" cy="201168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5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5583" y="4681271"/>
            <a:ext cx="110642" cy="110642"/>
          </a:xfrm>
          <a:prstGeom prst="rect">
            <a:avLst/>
          </a:prstGeom>
        </p:spPr>
      </p:pic>
      <p:sp>
        <p:nvSpPr>
          <p:cNvPr id="56" name="Text 52"/>
          <p:cNvSpPr txBox="1"/>
          <p:nvPr/>
        </p:nvSpPr>
        <p:spPr>
          <a:xfrm>
            <a:off x="2834640" y="4617720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Free/student cloud tiers</a:t>
            </a:r>
            <a:endParaRPr lang="en-US" sz="1050" dirty="0"/>
          </a:p>
        </p:txBody>
      </p:sp>
      <p:sp>
        <p:nvSpPr>
          <p:cNvPr id="57" name="Shape 53"/>
          <p:cNvSpPr/>
          <p:nvPr/>
        </p:nvSpPr>
        <p:spPr>
          <a:xfrm>
            <a:off x="4663440" y="4636008"/>
            <a:ext cx="201168" cy="201168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5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8703" y="4681271"/>
            <a:ext cx="110642" cy="110642"/>
          </a:xfrm>
          <a:prstGeom prst="rect">
            <a:avLst/>
          </a:prstGeom>
        </p:spPr>
      </p:pic>
      <p:sp>
        <p:nvSpPr>
          <p:cNvPr id="59" name="Text 54"/>
          <p:cNvSpPr txBox="1"/>
          <p:nvPr/>
        </p:nvSpPr>
        <p:spPr>
          <a:xfrm>
            <a:off x="4937760" y="4617720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Smartphone-based GPS</a:t>
            </a:r>
            <a:endParaRPr lang="en-US" sz="1050" dirty="0"/>
          </a:p>
        </p:txBody>
      </p:sp>
      <p:sp>
        <p:nvSpPr>
          <p:cNvPr id="60" name="Shape 55"/>
          <p:cNvSpPr/>
          <p:nvPr/>
        </p:nvSpPr>
        <p:spPr>
          <a:xfrm>
            <a:off x="6766560" y="4636008"/>
            <a:ext cx="201168" cy="201168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6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1823" y="4681271"/>
            <a:ext cx="110642" cy="110642"/>
          </a:xfrm>
          <a:prstGeom prst="rect">
            <a:avLst/>
          </a:prstGeom>
        </p:spPr>
      </p:pic>
      <p:sp>
        <p:nvSpPr>
          <p:cNvPr id="62" name="Text 56"/>
          <p:cNvSpPr txBox="1"/>
          <p:nvPr/>
        </p:nvSpPr>
        <p:spPr>
          <a:xfrm>
            <a:off x="7040880" y="4617720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ML with Scikit-learn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160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1089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Advantages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607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benefits of the proposed solution.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1920240" cy="1536192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A1A33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645920"/>
            <a:ext cx="384048" cy="384048"/>
          </a:xfrm>
          <a:prstGeom prst="ellipse">
            <a:avLst/>
          </a:prstGeom>
          <a:solidFill>
            <a:srgbClr val="0A1A3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" y="1741932"/>
            <a:ext cx="192024" cy="19202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078992" y="1627632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Parcel Journey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2148840"/>
            <a:ext cx="166420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permanent Tracking ID links booking, pickup, hubs, transport, last mile and proof of delivery.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560320" y="1508760"/>
            <a:ext cx="1920240" cy="1536192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A1A33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697480" y="1645920"/>
            <a:ext cx="384048" cy="384048"/>
          </a:xfrm>
          <a:prstGeom prst="ellipse">
            <a:avLst/>
          </a:prstGeom>
          <a:solidFill>
            <a:srgbClr val="0A1A33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3492" y="1741932"/>
            <a:ext cx="192024" cy="19202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182112" y="1627632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Visibility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2697480" y="2148840"/>
            <a:ext cx="166420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and driver smartphone GPS gives live movement during active custody.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4663440" y="1508760"/>
            <a:ext cx="1920240" cy="1536192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A1A33">
                <a:alpha val="14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800600" y="1645920"/>
            <a:ext cx="384048" cy="384048"/>
          </a:xfrm>
          <a:prstGeom prst="ellipse">
            <a:avLst/>
          </a:prstGeom>
          <a:solidFill>
            <a:srgbClr val="0A1A33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6612" y="1741932"/>
            <a:ext cx="192024" cy="19202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285232" y="1627632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ETA</a:t>
            </a:r>
            <a:endParaRPr lang="en-US" sz="1150" dirty="0"/>
          </a:p>
        </p:txBody>
      </p:sp>
      <p:sp>
        <p:nvSpPr>
          <p:cNvPr id="19" name="Text 14"/>
          <p:cNvSpPr txBox="1"/>
          <p:nvPr/>
        </p:nvSpPr>
        <p:spPr>
          <a:xfrm>
            <a:off x="4800600" y="2148840"/>
            <a:ext cx="166420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Recalculated continuously from location, route progress, service time and predicted delay.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6766560" y="1508760"/>
            <a:ext cx="1920240" cy="1536192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A1A33">
                <a:alpha val="14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903720" y="1645920"/>
            <a:ext cx="384048" cy="384048"/>
          </a:xfrm>
          <a:prstGeom prst="ellipse">
            <a:avLst/>
          </a:prstGeom>
          <a:solidFill>
            <a:srgbClr val="0A1A33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9732" y="1741932"/>
            <a:ext cx="192024" cy="192024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388352" y="1627632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Delay Management</a:t>
            </a:r>
            <a:endParaRPr lang="en-US" sz="1150" dirty="0"/>
          </a:p>
        </p:txBody>
      </p:sp>
      <p:sp>
        <p:nvSpPr>
          <p:cNvPr id="24" name="Text 18"/>
          <p:cNvSpPr txBox="1"/>
          <p:nvPr/>
        </p:nvSpPr>
        <p:spPr>
          <a:xfrm>
            <a:off x="6903720" y="2148840"/>
            <a:ext cx="166420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delay-risk prediction flags problems before they escalate.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457200" y="3154680"/>
            <a:ext cx="1920240" cy="1536192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A1A33">
                <a:alpha val="14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594360" y="3291840"/>
            <a:ext cx="384048" cy="384048"/>
          </a:xfrm>
          <a:prstGeom prst="ellipse">
            <a:avLst/>
          </a:prstGeom>
          <a:solidFill>
            <a:srgbClr val="0A1A33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372" y="3387852"/>
            <a:ext cx="192024" cy="192024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1078992" y="3273552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Assignment</a:t>
            </a:r>
            <a:endParaRPr lang="en-US" sz="1150" dirty="0"/>
          </a:p>
        </p:txBody>
      </p:sp>
      <p:sp>
        <p:nvSpPr>
          <p:cNvPr id="29" name="Text 22"/>
          <p:cNvSpPr txBox="1"/>
          <p:nvPr/>
        </p:nvSpPr>
        <p:spPr>
          <a:xfrm>
            <a:off x="594360" y="3794760"/>
            <a:ext cx="166420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and vehicles matched by availability, workload, location and requirements.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2560320" y="3154680"/>
            <a:ext cx="1920240" cy="1536192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A1A33">
                <a:alpha val="14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2697480" y="3291840"/>
            <a:ext cx="384048" cy="384048"/>
          </a:xfrm>
          <a:prstGeom prst="ellipse">
            <a:avLst/>
          </a:prstGeom>
          <a:solidFill>
            <a:srgbClr val="0A1A33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93492" y="3387852"/>
            <a:ext cx="192024" cy="192024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3182112" y="3273552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Multi-Partner Coordination</a:t>
            </a:r>
            <a:endParaRPr lang="en-US" sz="1150" dirty="0"/>
          </a:p>
        </p:txBody>
      </p:sp>
      <p:sp>
        <p:nvSpPr>
          <p:cNvPr id="34" name="Text 26"/>
          <p:cNvSpPr txBox="1"/>
          <p:nvPr/>
        </p:nvSpPr>
        <p:spPr>
          <a:xfrm>
            <a:off x="2697480" y="3794760"/>
            <a:ext cx="166420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couriers handle different stages; the customer sees one journey.</a:t>
            </a:r>
            <a:endParaRPr lang="en-US" sz="1050" dirty="0"/>
          </a:p>
        </p:txBody>
      </p:sp>
      <p:sp>
        <p:nvSpPr>
          <p:cNvPr id="35" name="Shape 27"/>
          <p:cNvSpPr/>
          <p:nvPr/>
        </p:nvSpPr>
        <p:spPr>
          <a:xfrm>
            <a:off x="4663440" y="3154680"/>
            <a:ext cx="1920240" cy="1536192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A1A33">
                <a:alpha val="14000"/>
              </a:srgbClr>
            </a:outerShdw>
          </a:effectLst>
        </p:spPr>
      </p:sp>
      <p:sp>
        <p:nvSpPr>
          <p:cNvPr id="36" name="Shape 28"/>
          <p:cNvSpPr/>
          <p:nvPr/>
        </p:nvSpPr>
        <p:spPr>
          <a:xfrm>
            <a:off x="4800600" y="3291840"/>
            <a:ext cx="384048" cy="384048"/>
          </a:xfrm>
          <a:prstGeom prst="ellipse">
            <a:avLst/>
          </a:prstGeom>
          <a:solidFill>
            <a:srgbClr val="0A1A33"/>
          </a:solidFill>
          <a:ln/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6612" y="3387852"/>
            <a:ext cx="192024" cy="192024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5285232" y="3273552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Hardware Need</a:t>
            </a:r>
            <a:endParaRPr lang="en-US" sz="1150" dirty="0"/>
          </a:p>
        </p:txBody>
      </p:sp>
      <p:sp>
        <p:nvSpPr>
          <p:cNvPr id="39" name="Text 30"/>
          <p:cNvSpPr txBox="1"/>
          <p:nvPr/>
        </p:nvSpPr>
        <p:spPr>
          <a:xfrm>
            <a:off x="4800600" y="3794760"/>
            <a:ext cx="166420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GPS hardware required inside every parcel.</a:t>
            </a:r>
            <a:endParaRPr lang="en-US" sz="1050" dirty="0"/>
          </a:p>
        </p:txBody>
      </p:sp>
      <p:sp>
        <p:nvSpPr>
          <p:cNvPr id="40" name="Shape 31"/>
          <p:cNvSpPr/>
          <p:nvPr/>
        </p:nvSpPr>
        <p:spPr>
          <a:xfrm>
            <a:off x="6766560" y="3154680"/>
            <a:ext cx="1920240" cy="1536192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A1A33">
                <a:alpha val="14000"/>
              </a:srgbClr>
            </a:outerShdw>
          </a:effectLst>
        </p:spPr>
      </p:sp>
      <p:sp>
        <p:nvSpPr>
          <p:cNvPr id="41" name="Shape 32"/>
          <p:cNvSpPr/>
          <p:nvPr/>
        </p:nvSpPr>
        <p:spPr>
          <a:xfrm>
            <a:off x="6903720" y="3291840"/>
            <a:ext cx="384048" cy="384048"/>
          </a:xfrm>
          <a:prstGeom prst="ellipse">
            <a:avLst/>
          </a:prstGeom>
          <a:solidFill>
            <a:srgbClr val="0A1A33"/>
          </a:solidFill>
          <a:ln/>
        </p:spPr>
      </p:sp>
      <p:pic>
        <p:nvPicPr>
          <p:cNvPr id="4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99732" y="3387852"/>
            <a:ext cx="192024" cy="192024"/>
          </a:xfrm>
          <a:prstGeom prst="rect">
            <a:avLst/>
          </a:prstGeom>
        </p:spPr>
      </p:pic>
      <p:sp>
        <p:nvSpPr>
          <p:cNvPr id="43" name="Text 33"/>
          <p:cNvSpPr txBox="1"/>
          <p:nvPr/>
        </p:nvSpPr>
        <p:spPr>
          <a:xfrm>
            <a:off x="7388352" y="3273552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Digital History</a:t>
            </a:r>
            <a:endParaRPr lang="en-US" sz="1150" dirty="0"/>
          </a:p>
        </p:txBody>
      </p:sp>
      <p:sp>
        <p:nvSpPr>
          <p:cNvPr id="44" name="Text 34"/>
          <p:cNvSpPr txBox="1"/>
          <p:nvPr/>
        </p:nvSpPr>
        <p:spPr>
          <a:xfrm>
            <a:off x="6903720" y="3794760"/>
            <a:ext cx="166420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scans, handovers and delivery confirmation form an auditable timeline.</a:t>
            </a:r>
            <a:endParaRPr lang="en-US" sz="1050" dirty="0"/>
          </a:p>
        </p:txBody>
      </p:sp>
      <p:sp>
        <p:nvSpPr>
          <p:cNvPr id="45" name="Text 35"/>
          <p:cNvSpPr txBox="1"/>
          <p:nvPr/>
        </p:nvSpPr>
        <p:spPr>
          <a:xfrm>
            <a:off x="457200" y="48463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LogiFlows  |  Intelligent Logistics Coordination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160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1089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Limitations &amp; Future Scope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606040" cy="804672"/>
          </a:xfrm>
          <a:prstGeom prst="roundRect">
            <a:avLst>
              <a:gd name="adj" fmla="val 102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A1A33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76072" y="1527048"/>
            <a:ext cx="310896" cy="310896"/>
          </a:xfrm>
          <a:prstGeom prst="ellipse">
            <a:avLst/>
          </a:prstGeom>
          <a:solidFill>
            <a:srgbClr val="FDE7C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" y="1604772"/>
            <a:ext cx="155448" cy="15544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87552" y="137160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GPS Dependence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987552" y="159105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depends on GPS availability, accuracy and battery.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154680" y="1280160"/>
            <a:ext cx="2606040" cy="804672"/>
          </a:xfrm>
          <a:prstGeom prst="roundRect">
            <a:avLst>
              <a:gd name="adj" fmla="val 102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A1A33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73552" y="1527048"/>
            <a:ext cx="310896" cy="310896"/>
          </a:xfrm>
          <a:prstGeom prst="ellipse">
            <a:avLst/>
          </a:prstGeom>
          <a:solidFill>
            <a:srgbClr val="FDE7C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1276" y="1604772"/>
            <a:ext cx="155448" cy="15544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685032" y="137160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Connectivity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3685032" y="159105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updates need a network; offline data syncs later.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57200" y="2157984"/>
            <a:ext cx="2606040" cy="804672"/>
          </a:xfrm>
          <a:prstGeom prst="roundRect">
            <a:avLst>
              <a:gd name="adj" fmla="val 102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A1A33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76072" y="2404872"/>
            <a:ext cx="310896" cy="310896"/>
          </a:xfrm>
          <a:prstGeom prst="ellipse">
            <a:avLst/>
          </a:prstGeom>
          <a:solidFill>
            <a:srgbClr val="FDE7C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" y="2482596"/>
            <a:ext cx="155448" cy="15544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87552" y="224942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API Dependency</a:t>
            </a:r>
            <a:endParaRPr lang="en-US" sz="1100" dirty="0"/>
          </a:p>
        </p:txBody>
      </p:sp>
      <p:sp>
        <p:nvSpPr>
          <p:cNvPr id="18" name="Text 13"/>
          <p:cNvSpPr txBox="1"/>
          <p:nvPr/>
        </p:nvSpPr>
        <p:spPr>
          <a:xfrm>
            <a:off x="987552" y="24688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map APIs bring limits, outages or usage costs.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3154680" y="2157984"/>
            <a:ext cx="2606040" cy="804672"/>
          </a:xfrm>
          <a:prstGeom prst="roundRect">
            <a:avLst>
              <a:gd name="adj" fmla="val 102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A1A33">
                <a:alpha val="14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3273552" y="2404872"/>
            <a:ext cx="310896" cy="310896"/>
          </a:xfrm>
          <a:prstGeom prst="ellipse">
            <a:avLst/>
          </a:prstGeom>
          <a:solidFill>
            <a:srgbClr val="FDE7C2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1276" y="2482596"/>
            <a:ext cx="155448" cy="15544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3685032" y="224942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Data Requirement</a:t>
            </a:r>
            <a:endParaRPr lang="en-US" sz="1100" dirty="0"/>
          </a:p>
        </p:txBody>
      </p:sp>
      <p:sp>
        <p:nvSpPr>
          <p:cNvPr id="23" name="Text 17"/>
          <p:cNvSpPr txBox="1"/>
          <p:nvPr/>
        </p:nvSpPr>
        <p:spPr>
          <a:xfrm>
            <a:off x="3685032" y="24688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 improve as historical data grows.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457200" y="3035808"/>
            <a:ext cx="2606040" cy="804672"/>
          </a:xfrm>
          <a:prstGeom prst="roundRect">
            <a:avLst>
              <a:gd name="adj" fmla="val 102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A1A33">
                <a:alpha val="14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576072" y="3282696"/>
            <a:ext cx="310896" cy="310896"/>
          </a:xfrm>
          <a:prstGeom prst="ellipse">
            <a:avLst/>
          </a:prstGeom>
          <a:solidFill>
            <a:srgbClr val="FDE7C2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796" y="3360420"/>
            <a:ext cx="155448" cy="155448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987552" y="312724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Integration</a:t>
            </a:r>
            <a:endParaRPr lang="en-US" sz="1100" dirty="0"/>
          </a:p>
        </p:txBody>
      </p:sp>
      <p:sp>
        <p:nvSpPr>
          <p:cNvPr id="28" name="Text 21"/>
          <p:cNvSpPr txBox="1"/>
          <p:nvPr/>
        </p:nvSpPr>
        <p:spPr>
          <a:xfrm>
            <a:off x="987552" y="334670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courier systems make onboarding more complex.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3154680" y="3035808"/>
            <a:ext cx="2606040" cy="804672"/>
          </a:xfrm>
          <a:prstGeom prst="roundRect">
            <a:avLst>
              <a:gd name="adj" fmla="val 102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A1A33">
                <a:alpha val="14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3273552" y="3282696"/>
            <a:ext cx="310896" cy="310896"/>
          </a:xfrm>
          <a:prstGeom prst="ellipse">
            <a:avLst/>
          </a:prstGeom>
          <a:solidFill>
            <a:srgbClr val="FDE7C2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51276" y="3360420"/>
            <a:ext cx="155448" cy="155448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3685032" y="312724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Exceptions</a:t>
            </a:r>
            <a:endParaRPr lang="en-US" sz="1100" dirty="0"/>
          </a:p>
        </p:txBody>
      </p:sp>
      <p:sp>
        <p:nvSpPr>
          <p:cNvPr id="33" name="Text 25"/>
          <p:cNvSpPr txBox="1"/>
          <p:nvPr/>
        </p:nvSpPr>
        <p:spPr>
          <a:xfrm>
            <a:off x="3685032" y="334670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Breakdowns, rejections or bad addresses still need humans.</a:t>
            </a:r>
            <a:endParaRPr lang="en-US" sz="1000" dirty="0"/>
          </a:p>
        </p:txBody>
      </p:sp>
      <p:sp>
        <p:nvSpPr>
          <p:cNvPr id="34" name="Shape 26"/>
          <p:cNvSpPr/>
          <p:nvPr/>
        </p:nvSpPr>
        <p:spPr>
          <a:xfrm>
            <a:off x="457200" y="3913632"/>
            <a:ext cx="2606040" cy="804672"/>
          </a:xfrm>
          <a:prstGeom prst="roundRect">
            <a:avLst>
              <a:gd name="adj" fmla="val 102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A1A33">
                <a:alpha val="14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576072" y="4160520"/>
            <a:ext cx="310896" cy="310896"/>
          </a:xfrm>
          <a:prstGeom prst="ellipse">
            <a:avLst/>
          </a:prstGeom>
          <a:solidFill>
            <a:srgbClr val="FDE7C2"/>
          </a:solidFill>
          <a:ln/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796" y="4238244"/>
            <a:ext cx="155448" cy="155448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987552" y="400507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&amp; Security</a:t>
            </a:r>
            <a:endParaRPr lang="en-US" sz="1100" dirty="0"/>
          </a:p>
        </p:txBody>
      </p:sp>
      <p:sp>
        <p:nvSpPr>
          <p:cNvPr id="38" name="Text 29"/>
          <p:cNvSpPr txBox="1"/>
          <p:nvPr/>
        </p:nvSpPr>
        <p:spPr>
          <a:xfrm>
            <a:off x="987552" y="422452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limited to authorized users and active custody.</a:t>
            </a:r>
            <a:endParaRPr lang="en-US" sz="1000" dirty="0"/>
          </a:p>
        </p:txBody>
      </p:sp>
      <p:sp>
        <p:nvSpPr>
          <p:cNvPr id="39" name="Shape 30"/>
          <p:cNvSpPr/>
          <p:nvPr/>
        </p:nvSpPr>
        <p:spPr>
          <a:xfrm>
            <a:off x="3154680" y="3913632"/>
            <a:ext cx="2606040" cy="804672"/>
          </a:xfrm>
          <a:prstGeom prst="roundRect">
            <a:avLst>
              <a:gd name="adj" fmla="val 102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A1A33">
                <a:alpha val="14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3273552" y="4160520"/>
            <a:ext cx="310896" cy="310896"/>
          </a:xfrm>
          <a:prstGeom prst="ellipse">
            <a:avLst/>
          </a:prstGeom>
          <a:solidFill>
            <a:srgbClr val="FDE7C2"/>
          </a:solidFill>
          <a:ln/>
        </p:spPr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51276" y="4238244"/>
            <a:ext cx="155448" cy="155448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3685032" y="400507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 Cost</a:t>
            </a:r>
            <a:endParaRPr lang="en-US" sz="1100" dirty="0"/>
          </a:p>
        </p:txBody>
      </p:sp>
      <p:sp>
        <p:nvSpPr>
          <p:cNvPr id="43" name="Text 33"/>
          <p:cNvSpPr txBox="1"/>
          <p:nvPr/>
        </p:nvSpPr>
        <p:spPr>
          <a:xfrm>
            <a:off x="3685032" y="422452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parcels, GPS updates and partners raise infrastructure cost.</a:t>
            </a:r>
            <a:endParaRPr lang="en-US" sz="1000" dirty="0"/>
          </a:p>
        </p:txBody>
      </p:sp>
      <p:sp>
        <p:nvSpPr>
          <p:cNvPr id="44" name="Shape 34"/>
          <p:cNvSpPr/>
          <p:nvPr/>
        </p:nvSpPr>
        <p:spPr>
          <a:xfrm>
            <a:off x="5943600" y="1280160"/>
            <a:ext cx="2743200" cy="3438144"/>
          </a:xfrm>
          <a:prstGeom prst="roundRect">
            <a:avLst>
              <a:gd name="adj" fmla="val 3000"/>
            </a:avLst>
          </a:prstGeom>
          <a:solidFill>
            <a:srgbClr val="0A1A33"/>
          </a:solidFill>
          <a:ln/>
        </p:spPr>
      </p:sp>
      <p:sp>
        <p:nvSpPr>
          <p:cNvPr id="45" name="Shape 35"/>
          <p:cNvSpPr/>
          <p:nvPr/>
        </p:nvSpPr>
        <p:spPr>
          <a:xfrm>
            <a:off x="6126480" y="1444752"/>
            <a:ext cx="365760" cy="365760"/>
          </a:xfrm>
          <a:prstGeom prst="ellipse">
            <a:avLst/>
          </a:prstGeom>
          <a:solidFill>
            <a:srgbClr val="FFB020"/>
          </a:solidFill>
          <a:ln/>
        </p:spPr>
      </p:sp>
      <p:pic>
        <p:nvPicPr>
          <p:cNvPr id="4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17920" y="1536192"/>
            <a:ext cx="182880" cy="182880"/>
          </a:xfrm>
          <a:prstGeom prst="rect">
            <a:avLst/>
          </a:prstGeom>
        </p:spPr>
      </p:pic>
      <p:sp>
        <p:nvSpPr>
          <p:cNvPr id="47" name="Text 36"/>
          <p:cNvSpPr txBox="1"/>
          <p:nvPr/>
        </p:nvSpPr>
        <p:spPr>
          <a:xfrm>
            <a:off x="6583680" y="144475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200" dirty="0"/>
          </a:p>
        </p:txBody>
      </p:sp>
      <p:sp>
        <p:nvSpPr>
          <p:cNvPr id="48" name="Text 37"/>
          <p:cNvSpPr txBox="1"/>
          <p:nvPr/>
        </p:nvSpPr>
        <p:spPr>
          <a:xfrm>
            <a:off x="6126480" y="1965960"/>
            <a:ext cx="2423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delay prediction with larger datasets</a:t>
            </a:r>
            <a:endParaRPr lang="en-US" sz="11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advanced route optimization</a:t>
            </a:r>
            <a:endParaRPr lang="en-US" sz="11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 mobile tracking</a:t>
            </a:r>
            <a:endParaRPr lang="en-US" sz="11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routing provider options</a:t>
            </a:r>
            <a:endParaRPr lang="en-US" sz="11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anomaly detection</a:t>
            </a:r>
            <a:endParaRPr lang="en-US" sz="11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partner API integration</a:t>
            </a:r>
            <a:endParaRPr lang="en-US" sz="11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analytics and forecasting</a:t>
            </a:r>
            <a:endParaRPr lang="en-US" sz="1150" dirty="0"/>
          </a:p>
        </p:txBody>
      </p:sp>
      <p:sp>
        <p:nvSpPr>
          <p:cNvPr id="49" name="Text 38"/>
          <p:cNvSpPr txBox="1"/>
          <p:nvPr/>
        </p:nvSpPr>
        <p:spPr>
          <a:xfrm>
            <a:off x="6126480" y="393192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i="1" dirty="0">
                <a:solidFill>
                  <a:srgbClr val="B4C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visibility, predictive intelligence and coordination — kept practical for incremental development.</a:t>
            </a:r>
            <a:endParaRPr lang="en-US" sz="1050" dirty="0"/>
          </a:p>
        </p:txBody>
      </p:sp>
      <p:sp>
        <p:nvSpPr>
          <p:cNvPr id="50" name="Text 39"/>
          <p:cNvSpPr txBox="1"/>
          <p:nvPr/>
        </p:nvSpPr>
        <p:spPr>
          <a:xfrm>
            <a:off x="457200" y="48463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LogiFlows  |  Intelligent Logistics Coordination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160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1089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FOUNDATION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Recent IEEE Research Behind LogiFlows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607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work supporting the core technologies of the platform.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1920240" cy="32918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A1A33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591056"/>
            <a:ext cx="365760" cy="365760"/>
          </a:xfrm>
          <a:prstGeom prst="ellipse">
            <a:avLst/>
          </a:prstGeom>
          <a:solidFill>
            <a:srgbClr val="6D28D9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82496"/>
            <a:ext cx="182880" cy="1828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051560" y="1591056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2048256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Time Prediction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2468880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ICDE 2023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2798064"/>
            <a:ext cx="166420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Time Prediction Using Large-Scale Graph Structure Learning Based on Quantile Regression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594360" y="349300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10.1109/ICDE55515.2023.00261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548640" y="3913632"/>
            <a:ext cx="1737360" cy="768096"/>
          </a:xfrm>
          <a:prstGeom prst="roundRect">
            <a:avLst>
              <a:gd name="adj" fmla="val 7143"/>
            </a:avLst>
          </a:prstGeom>
          <a:solidFill>
            <a:srgbClr val="E8EEF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21792" y="3913632"/>
            <a:ext cx="159105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ETA and AI prediction layer: ML-based delivery-time prediction from spatial, temporal and contextual data.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2560320" y="1463040"/>
            <a:ext cx="1920240" cy="32918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A1A33">
                <a:alpha val="14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2697480" y="1591056"/>
            <a:ext cx="365760" cy="36576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8920" y="1682496"/>
            <a:ext cx="182880" cy="18288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3154680" y="1591056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</a:t>
            </a:r>
            <a:endParaRPr lang="en-US" sz="1000" dirty="0"/>
          </a:p>
        </p:txBody>
      </p:sp>
      <p:sp>
        <p:nvSpPr>
          <p:cNvPr id="19" name="Text 15"/>
          <p:cNvSpPr txBox="1"/>
          <p:nvPr/>
        </p:nvSpPr>
        <p:spPr>
          <a:xfrm>
            <a:off x="2697480" y="2048256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Parcel Tracking</a:t>
            </a:r>
            <a:endParaRPr lang="en-US" sz="1250" dirty="0"/>
          </a:p>
        </p:txBody>
      </p:sp>
      <p:sp>
        <p:nvSpPr>
          <p:cNvPr id="20" name="Text 16"/>
          <p:cNvSpPr txBox="1"/>
          <p:nvPr/>
        </p:nvSpPr>
        <p:spPr>
          <a:xfrm>
            <a:off x="2697480" y="2468880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IITCEE 2025</a:t>
            </a:r>
            <a:endParaRPr lang="en-US" sz="1000" dirty="0"/>
          </a:p>
        </p:txBody>
      </p:sp>
      <p:sp>
        <p:nvSpPr>
          <p:cNvPr id="21" name="Text 17"/>
          <p:cNvSpPr txBox="1"/>
          <p:nvPr/>
        </p:nvSpPr>
        <p:spPr>
          <a:xfrm>
            <a:off x="2697480" y="2798064"/>
            <a:ext cx="166420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Global Parcel Tracking System in the Supply Chain Using RFID and GPS</a:t>
            </a:r>
            <a:endParaRPr lang="en-US" sz="950" dirty="0"/>
          </a:p>
        </p:txBody>
      </p:sp>
      <p:sp>
        <p:nvSpPr>
          <p:cNvPr id="22" name="Text 18"/>
          <p:cNvSpPr txBox="1"/>
          <p:nvPr/>
        </p:nvSpPr>
        <p:spPr>
          <a:xfrm>
            <a:off x="2697480" y="349300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10.1109/IITCEE64140.2025.10915357</a:t>
            </a:r>
            <a:endParaRPr lang="en-US" sz="850" dirty="0"/>
          </a:p>
        </p:txBody>
      </p:sp>
      <p:sp>
        <p:nvSpPr>
          <p:cNvPr id="23" name="Shape 19"/>
          <p:cNvSpPr/>
          <p:nvPr/>
        </p:nvSpPr>
        <p:spPr>
          <a:xfrm>
            <a:off x="2651760" y="3913632"/>
            <a:ext cx="1737360" cy="768096"/>
          </a:xfrm>
          <a:prstGeom prst="roundRect">
            <a:avLst>
              <a:gd name="adj" fmla="val 7143"/>
            </a:avLst>
          </a:prstGeom>
          <a:solidFill>
            <a:srgbClr val="E8EEF8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2724912" y="3913632"/>
            <a:ext cx="159105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tracking foundation: location technologies such as GPS and RFID.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4663440" y="1463040"/>
            <a:ext cx="1920240" cy="32918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A1A33">
                <a:alpha val="14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4800600" y="1591056"/>
            <a:ext cx="365760" cy="365760"/>
          </a:xfrm>
          <a:prstGeom prst="ellipse">
            <a:avLst/>
          </a:prstGeom>
          <a:solidFill>
            <a:srgbClr val="1D4ED8"/>
          </a:solidFill>
          <a:ln/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682496"/>
            <a:ext cx="182880" cy="182880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5257800" y="1591056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</a:t>
            </a:r>
            <a:endParaRPr lang="en-US" sz="1000" dirty="0"/>
          </a:p>
        </p:txBody>
      </p:sp>
      <p:sp>
        <p:nvSpPr>
          <p:cNvPr id="29" name="Text 24"/>
          <p:cNvSpPr txBox="1"/>
          <p:nvPr/>
        </p:nvSpPr>
        <p:spPr>
          <a:xfrm>
            <a:off x="4800600" y="2048256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Optimization</a:t>
            </a:r>
            <a:endParaRPr lang="en-US" sz="1250" dirty="0"/>
          </a:p>
        </p:txBody>
      </p:sp>
      <p:sp>
        <p:nvSpPr>
          <p:cNvPr id="30" name="Text 25"/>
          <p:cNvSpPr txBox="1"/>
          <p:nvPr/>
        </p:nvSpPr>
        <p:spPr>
          <a:xfrm>
            <a:off x="4800600" y="2468880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Trans. Knowledge and Data Eng., 2023</a:t>
            </a:r>
            <a:endParaRPr lang="en-US" sz="1000" dirty="0"/>
          </a:p>
        </p:txBody>
      </p:sp>
      <p:sp>
        <p:nvSpPr>
          <p:cNvPr id="31" name="Text 26"/>
          <p:cNvSpPr txBox="1"/>
          <p:nvPr/>
        </p:nvSpPr>
        <p:spPr>
          <a:xfrm>
            <a:off x="4800600" y="2798064"/>
            <a:ext cx="166420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Empowering A* Algorithm With Neuralized Variational Heuristics for Fastest Route Recommendation</a:t>
            </a:r>
            <a:endParaRPr lang="en-US" sz="950" dirty="0"/>
          </a:p>
        </p:txBody>
      </p:sp>
      <p:sp>
        <p:nvSpPr>
          <p:cNvPr id="32" name="Shape 27"/>
          <p:cNvSpPr/>
          <p:nvPr/>
        </p:nvSpPr>
        <p:spPr>
          <a:xfrm>
            <a:off x="4754880" y="3913632"/>
            <a:ext cx="1737360" cy="768096"/>
          </a:xfrm>
          <a:prstGeom prst="roundRect">
            <a:avLst>
              <a:gd name="adj" fmla="val 7143"/>
            </a:avLst>
          </a:prstGeom>
          <a:solidFill>
            <a:srgbClr val="E8EEF8"/>
          </a:solidFill>
          <a:ln/>
        </p:spPr>
      </p:sp>
      <p:sp>
        <p:nvSpPr>
          <p:cNvPr id="33" name="Text 28"/>
          <p:cNvSpPr txBox="1"/>
          <p:nvPr/>
        </p:nvSpPr>
        <p:spPr>
          <a:xfrm>
            <a:off x="4828032" y="3913632"/>
            <a:ext cx="159105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optimization and travel-time layer: travel-time-aware route recommendation.</a:t>
            </a:r>
            <a:endParaRPr lang="en-US" sz="950" dirty="0"/>
          </a:p>
        </p:txBody>
      </p:sp>
      <p:sp>
        <p:nvSpPr>
          <p:cNvPr id="34" name="Shape 29"/>
          <p:cNvSpPr/>
          <p:nvPr/>
        </p:nvSpPr>
        <p:spPr>
          <a:xfrm>
            <a:off x="6766560" y="1463040"/>
            <a:ext cx="1920240" cy="32918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A1A33">
                <a:alpha val="14000"/>
              </a:srgbClr>
            </a:outerShdw>
          </a:effectLst>
        </p:spPr>
      </p:sp>
      <p:sp>
        <p:nvSpPr>
          <p:cNvPr id="35" name="Shape 30"/>
          <p:cNvSpPr/>
          <p:nvPr/>
        </p:nvSpPr>
        <p:spPr>
          <a:xfrm>
            <a:off x="6903720" y="1591056"/>
            <a:ext cx="365760" cy="365760"/>
          </a:xfrm>
          <a:prstGeom prst="ellipse">
            <a:avLst/>
          </a:prstGeom>
          <a:solidFill>
            <a:srgbClr val="B45309"/>
          </a:solidFill>
          <a:ln/>
        </p:spPr>
      </p:sp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5160" y="1682496"/>
            <a:ext cx="182880" cy="182880"/>
          </a:xfrm>
          <a:prstGeom prst="rect">
            <a:avLst/>
          </a:prstGeom>
        </p:spPr>
      </p:pic>
      <p:sp>
        <p:nvSpPr>
          <p:cNvPr id="37" name="Text 31"/>
          <p:cNvSpPr txBox="1"/>
          <p:nvPr/>
        </p:nvSpPr>
        <p:spPr>
          <a:xfrm>
            <a:off x="7360920" y="1591056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SUPPORT</a:t>
            </a:r>
            <a:endParaRPr lang="en-US" sz="1000" dirty="0"/>
          </a:p>
        </p:txBody>
      </p:sp>
      <p:sp>
        <p:nvSpPr>
          <p:cNvPr id="38" name="Text 32"/>
          <p:cNvSpPr txBox="1"/>
          <p:nvPr/>
        </p:nvSpPr>
        <p:spPr>
          <a:xfrm>
            <a:off x="6903720" y="2048256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Decision Support</a:t>
            </a:r>
            <a:endParaRPr lang="en-US" sz="1250" dirty="0"/>
          </a:p>
        </p:txBody>
      </p:sp>
      <p:sp>
        <p:nvSpPr>
          <p:cNvPr id="39" name="Text 33"/>
          <p:cNvSpPr txBox="1"/>
          <p:nvPr/>
        </p:nvSpPr>
        <p:spPr>
          <a:xfrm>
            <a:off x="6903720" y="2468880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ICAIIC 2023</a:t>
            </a:r>
            <a:endParaRPr lang="en-US" sz="1000" dirty="0"/>
          </a:p>
        </p:txBody>
      </p:sp>
      <p:sp>
        <p:nvSpPr>
          <p:cNvPr id="40" name="Text 34"/>
          <p:cNvSpPr txBox="1"/>
          <p:nvPr/>
        </p:nvSpPr>
        <p:spPr>
          <a:xfrm>
            <a:off x="6903720" y="2798064"/>
            <a:ext cx="166420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Blockchain-based Decision Support System for E-commerce Order Prediction</a:t>
            </a:r>
            <a:endParaRPr lang="en-US" sz="950" dirty="0"/>
          </a:p>
        </p:txBody>
      </p:sp>
      <p:sp>
        <p:nvSpPr>
          <p:cNvPr id="41" name="Text 35"/>
          <p:cNvSpPr txBox="1"/>
          <p:nvPr/>
        </p:nvSpPr>
        <p:spPr>
          <a:xfrm>
            <a:off x="6903720" y="349300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10.1109/ICAIIC57133.2023.10067036</a:t>
            </a:r>
            <a:endParaRPr lang="en-US" sz="850" dirty="0"/>
          </a:p>
        </p:txBody>
      </p:sp>
      <p:sp>
        <p:nvSpPr>
          <p:cNvPr id="42" name="Shape 36"/>
          <p:cNvSpPr/>
          <p:nvPr/>
        </p:nvSpPr>
        <p:spPr>
          <a:xfrm>
            <a:off x="6858000" y="3913632"/>
            <a:ext cx="1737360" cy="768096"/>
          </a:xfrm>
          <a:prstGeom prst="roundRect">
            <a:avLst>
              <a:gd name="adj" fmla="val 7143"/>
            </a:avLst>
          </a:prstGeom>
          <a:solidFill>
            <a:srgbClr val="E8EEF8"/>
          </a:solidFill>
          <a:ln/>
        </p:spPr>
      </p:sp>
      <p:sp>
        <p:nvSpPr>
          <p:cNvPr id="43" name="Text 37"/>
          <p:cNvSpPr txBox="1"/>
          <p:nvPr/>
        </p:nvSpPr>
        <p:spPr>
          <a:xfrm>
            <a:off x="6931152" y="3913632"/>
            <a:ext cx="159105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operational decision layer: intelligent decision support in logistics.</a:t>
            </a:r>
            <a:endParaRPr lang="en-US" sz="950" dirty="0"/>
          </a:p>
        </p:txBody>
      </p:sp>
      <p:sp>
        <p:nvSpPr>
          <p:cNvPr id="44" name="Text 38"/>
          <p:cNvSpPr txBox="1"/>
          <p:nvPr/>
        </p:nvSpPr>
        <p:spPr>
          <a:xfrm>
            <a:off x="457200" y="48463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LogiFlows  |  Intelligent Logistics Coordination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160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1089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CONTRIBUTION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Research to One Integrated Workflow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377440" cy="1051560"/>
          </a:xfrm>
          <a:prstGeom prst="roundRect">
            <a:avLst>
              <a:gd name="adj" fmla="val 7826"/>
            </a:avLst>
          </a:prstGeom>
          <a:solidFill>
            <a:srgbClr val="132A4F"/>
          </a:solidFill>
          <a:ln w="9525">
            <a:solidFill>
              <a:srgbClr val="27477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4173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Foundation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1810512"/>
            <a:ext cx="2057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4C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Tracking, routing, ETA prediction and decision support are well established.</a:t>
            </a:r>
            <a:endParaRPr lang="en-US" sz="10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80944" y="1719072"/>
            <a:ext cx="256032" cy="25603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383280" y="1325880"/>
            <a:ext cx="2377440" cy="1051560"/>
          </a:xfrm>
          <a:prstGeom prst="roundRect">
            <a:avLst>
              <a:gd name="adj" fmla="val 7826"/>
            </a:avLst>
          </a:prstGeom>
          <a:solidFill>
            <a:srgbClr val="FFB020"/>
          </a:solidFill>
          <a:ln w="9525">
            <a:solidFill>
              <a:srgbClr val="FFB02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547872" y="14173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Integration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3547872" y="1810512"/>
            <a:ext cx="2057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LogiFlows unifies these capabilities into one connected parcel lifecycle.</a:t>
            </a:r>
            <a:endParaRPr lang="en-US" sz="10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7024" y="1719072"/>
            <a:ext cx="256032" cy="256032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309360" y="1325880"/>
            <a:ext cx="2377440" cy="1051560"/>
          </a:xfrm>
          <a:prstGeom prst="roundRect">
            <a:avLst>
              <a:gd name="adj" fmla="val 7826"/>
            </a:avLst>
          </a:prstGeom>
          <a:solidFill>
            <a:srgbClr val="132A4F"/>
          </a:solidFill>
          <a:ln w="9525">
            <a:solidFill>
              <a:srgbClr val="27477F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473952" y="14173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Logistics Workflow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6473952" y="1810512"/>
            <a:ext cx="2057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4C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end-to-end, multi-partner orchestration platform.</a:t>
            </a:r>
            <a:endParaRPr lang="en-US" sz="1050" dirty="0"/>
          </a:p>
        </p:txBody>
      </p:sp>
      <p:sp>
        <p:nvSpPr>
          <p:cNvPr id="15" name="Text 11"/>
          <p:cNvSpPr txBox="1"/>
          <p:nvPr/>
        </p:nvSpPr>
        <p:spPr>
          <a:xfrm>
            <a:off x="457200" y="267004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CAPABILITIES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457200" y="2926080"/>
            <a:ext cx="1920240" cy="502920"/>
          </a:xfrm>
          <a:prstGeom prst="roundRect">
            <a:avLst>
              <a:gd name="adj" fmla="val 16364"/>
            </a:avLst>
          </a:prstGeom>
          <a:solidFill>
            <a:srgbClr val="132A4F"/>
          </a:solidFill>
          <a:ln w="9525">
            <a:solidFill>
              <a:srgbClr val="27477F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66928" y="3054096"/>
            <a:ext cx="246888" cy="246888"/>
          </a:xfrm>
          <a:prstGeom prst="ellipse">
            <a:avLst/>
          </a:prstGeom>
          <a:solidFill>
            <a:srgbClr val="FFB020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3115818"/>
            <a:ext cx="123444" cy="12344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96112" y="2926080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PARCEL ID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2560320" y="2926080"/>
            <a:ext cx="1920240" cy="502920"/>
          </a:xfrm>
          <a:prstGeom prst="roundRect">
            <a:avLst>
              <a:gd name="adj" fmla="val 16364"/>
            </a:avLst>
          </a:prstGeom>
          <a:solidFill>
            <a:srgbClr val="132A4F"/>
          </a:solidFill>
          <a:ln w="9525">
            <a:solidFill>
              <a:srgbClr val="27477F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2670048" y="3054096"/>
            <a:ext cx="246888" cy="246888"/>
          </a:xfrm>
          <a:prstGeom prst="ellipse">
            <a:avLst/>
          </a:prstGeom>
          <a:solidFill>
            <a:srgbClr val="FFB020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31770" y="3115818"/>
            <a:ext cx="123444" cy="123444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2999232" y="2926080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CUSTODY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4663440" y="2926080"/>
            <a:ext cx="1920240" cy="502920"/>
          </a:xfrm>
          <a:prstGeom prst="roundRect">
            <a:avLst>
              <a:gd name="adj" fmla="val 16364"/>
            </a:avLst>
          </a:prstGeom>
          <a:solidFill>
            <a:srgbClr val="132A4F"/>
          </a:solidFill>
          <a:ln w="9525">
            <a:solidFill>
              <a:srgbClr val="27477F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773168" y="3054096"/>
            <a:ext cx="246888" cy="246888"/>
          </a:xfrm>
          <a:prstGeom prst="ellipse">
            <a:avLst/>
          </a:prstGeom>
          <a:solidFill>
            <a:srgbClr val="FFB020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34890" y="3115818"/>
            <a:ext cx="123444" cy="123444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102352" y="2926080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SMARTPHONE-BASED ACTIVE TRACKING</a:t>
            </a:r>
            <a:endParaRPr lang="en-US" sz="1000" dirty="0"/>
          </a:p>
        </p:txBody>
      </p:sp>
      <p:sp>
        <p:nvSpPr>
          <p:cNvPr id="28" name="Shape 21"/>
          <p:cNvSpPr/>
          <p:nvPr/>
        </p:nvSpPr>
        <p:spPr>
          <a:xfrm>
            <a:off x="6766560" y="2926080"/>
            <a:ext cx="1920240" cy="502920"/>
          </a:xfrm>
          <a:prstGeom prst="roundRect">
            <a:avLst>
              <a:gd name="adj" fmla="val 16364"/>
            </a:avLst>
          </a:prstGeom>
          <a:solidFill>
            <a:srgbClr val="132A4F"/>
          </a:solidFill>
          <a:ln w="9525">
            <a:solidFill>
              <a:srgbClr val="27477F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6876288" y="3054096"/>
            <a:ext cx="246888" cy="246888"/>
          </a:xfrm>
          <a:prstGeom prst="ellipse">
            <a:avLst/>
          </a:prstGeom>
          <a:solidFill>
            <a:srgbClr val="FFB020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38010" y="3115818"/>
            <a:ext cx="123444" cy="123444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7205472" y="2926080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ETA</a:t>
            </a:r>
            <a:endParaRPr lang="en-US" sz="1000" dirty="0"/>
          </a:p>
        </p:txBody>
      </p:sp>
      <p:sp>
        <p:nvSpPr>
          <p:cNvPr id="32" name="Shape 24"/>
          <p:cNvSpPr/>
          <p:nvPr/>
        </p:nvSpPr>
        <p:spPr>
          <a:xfrm>
            <a:off x="457200" y="3520440"/>
            <a:ext cx="2624328" cy="502920"/>
          </a:xfrm>
          <a:prstGeom prst="roundRect">
            <a:avLst>
              <a:gd name="adj" fmla="val 16364"/>
            </a:avLst>
          </a:prstGeom>
          <a:solidFill>
            <a:srgbClr val="132A4F"/>
          </a:solidFill>
          <a:ln w="9525">
            <a:solidFill>
              <a:srgbClr val="27477F"/>
            </a:solidFill>
            <a:prstDash val="solid"/>
          </a:ln>
        </p:spPr>
      </p:sp>
      <p:sp>
        <p:nvSpPr>
          <p:cNvPr id="33" name="Shape 25"/>
          <p:cNvSpPr/>
          <p:nvPr/>
        </p:nvSpPr>
        <p:spPr>
          <a:xfrm>
            <a:off x="566928" y="3648456"/>
            <a:ext cx="246888" cy="246888"/>
          </a:xfrm>
          <a:prstGeom prst="ellipse">
            <a:avLst/>
          </a:prstGeom>
          <a:solidFill>
            <a:srgbClr val="FFB020"/>
          </a:solidFill>
          <a:ln/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" y="3710178"/>
            <a:ext cx="123444" cy="123444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896112" y="3520440"/>
            <a:ext cx="20939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DELAY-RISK PREDICTION</a:t>
            </a:r>
            <a:endParaRPr lang="en-US" sz="1000" dirty="0"/>
          </a:p>
        </p:txBody>
      </p:sp>
      <p:sp>
        <p:nvSpPr>
          <p:cNvPr id="36" name="Shape 27"/>
          <p:cNvSpPr/>
          <p:nvPr/>
        </p:nvSpPr>
        <p:spPr>
          <a:xfrm>
            <a:off x="3259836" y="3520440"/>
            <a:ext cx="2624328" cy="502920"/>
          </a:xfrm>
          <a:prstGeom prst="roundRect">
            <a:avLst>
              <a:gd name="adj" fmla="val 16364"/>
            </a:avLst>
          </a:prstGeom>
          <a:solidFill>
            <a:srgbClr val="132A4F"/>
          </a:solidFill>
          <a:ln w="9525">
            <a:solidFill>
              <a:srgbClr val="27477F"/>
            </a:solidFill>
            <a:prstDash val="solid"/>
          </a:ln>
        </p:spPr>
      </p:sp>
      <p:sp>
        <p:nvSpPr>
          <p:cNvPr id="37" name="Shape 28"/>
          <p:cNvSpPr/>
          <p:nvPr/>
        </p:nvSpPr>
        <p:spPr>
          <a:xfrm>
            <a:off x="3369564" y="3648456"/>
            <a:ext cx="246888" cy="246888"/>
          </a:xfrm>
          <a:prstGeom prst="ellipse">
            <a:avLst/>
          </a:prstGeom>
          <a:solidFill>
            <a:srgbClr val="FFB020"/>
          </a:solidFill>
          <a:ln/>
        </p:spPr>
      </p:sp>
      <p:pic>
        <p:nvPicPr>
          <p:cNvPr id="3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31286" y="3710178"/>
            <a:ext cx="123444" cy="123444"/>
          </a:xfrm>
          <a:prstGeom prst="rect">
            <a:avLst/>
          </a:prstGeom>
        </p:spPr>
      </p:pic>
      <p:sp>
        <p:nvSpPr>
          <p:cNvPr id="39" name="Text 29"/>
          <p:cNvSpPr txBox="1"/>
          <p:nvPr/>
        </p:nvSpPr>
        <p:spPr>
          <a:xfrm>
            <a:off x="3698748" y="3520440"/>
            <a:ext cx="20939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OPERATIONAL ACTION</a:t>
            </a:r>
            <a:endParaRPr lang="en-US" sz="1000" dirty="0"/>
          </a:p>
        </p:txBody>
      </p:sp>
      <p:sp>
        <p:nvSpPr>
          <p:cNvPr id="40" name="Shape 30"/>
          <p:cNvSpPr/>
          <p:nvPr/>
        </p:nvSpPr>
        <p:spPr>
          <a:xfrm>
            <a:off x="6062472" y="3520440"/>
            <a:ext cx="2624328" cy="502920"/>
          </a:xfrm>
          <a:prstGeom prst="roundRect">
            <a:avLst>
              <a:gd name="adj" fmla="val 16364"/>
            </a:avLst>
          </a:prstGeom>
          <a:solidFill>
            <a:srgbClr val="132A4F"/>
          </a:solidFill>
          <a:ln w="9525">
            <a:solidFill>
              <a:srgbClr val="27477F"/>
            </a:solidFill>
            <a:prstDash val="solid"/>
          </a:ln>
        </p:spPr>
      </p:sp>
      <p:sp>
        <p:nvSpPr>
          <p:cNvPr id="41" name="Shape 31"/>
          <p:cNvSpPr/>
          <p:nvPr/>
        </p:nvSpPr>
        <p:spPr>
          <a:xfrm>
            <a:off x="6172200" y="3648456"/>
            <a:ext cx="246888" cy="246888"/>
          </a:xfrm>
          <a:prstGeom prst="ellipse">
            <a:avLst/>
          </a:prstGeom>
          <a:solidFill>
            <a:srgbClr val="FFB020"/>
          </a:solidFill>
          <a:ln/>
        </p:spPr>
      </p:sp>
      <p:pic>
        <p:nvPicPr>
          <p:cNvPr id="4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33922" y="3710178"/>
            <a:ext cx="123444" cy="123444"/>
          </a:xfrm>
          <a:prstGeom prst="rect">
            <a:avLst/>
          </a:prstGeom>
        </p:spPr>
      </p:pic>
      <p:sp>
        <p:nvSpPr>
          <p:cNvPr id="43" name="Text 32"/>
          <p:cNvSpPr txBox="1"/>
          <p:nvPr/>
        </p:nvSpPr>
        <p:spPr>
          <a:xfrm>
            <a:off x="6501384" y="3520440"/>
            <a:ext cx="20939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MULTI-PARTNER COORDINATION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457200" y="4160520"/>
            <a:ext cx="8229600" cy="594360"/>
          </a:xfrm>
          <a:prstGeom prst="roundRect">
            <a:avLst>
              <a:gd name="adj" fmla="val 13846"/>
            </a:avLst>
          </a:prstGeom>
          <a:solidFill>
            <a:srgbClr val="FFB020"/>
          </a:solidFill>
          <a:ln/>
        </p:spPr>
      </p:sp>
      <p:sp>
        <p:nvSpPr>
          <p:cNvPr id="45" name="Text 34"/>
          <p:cNvSpPr txBox="1"/>
          <p:nvPr/>
        </p:nvSpPr>
        <p:spPr>
          <a:xfrm>
            <a:off x="685800" y="41605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contribution is the integration of these capabilities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A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a unified multi-partner logistics orchestration workflow.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4C2D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LogiFlows</dc:title>
  <dc:subject>PptxGenJS Presentation</dc:subject>
  <dc:creator>LogiFlows</dc:creator>
  <cp:lastModifiedBy>LogiFlows</cp:lastModifiedBy>
  <cp:revision>1</cp:revision>
  <dcterms:created xsi:type="dcterms:W3CDTF">2026-09-19T15:13:30Z</dcterms:created>
  <dcterms:modified xsi:type="dcterms:W3CDTF">2026-09-19T15:13:30Z</dcterms:modified>
</cp:coreProperties>
</file>